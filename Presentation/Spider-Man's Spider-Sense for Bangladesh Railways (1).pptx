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Quattrocento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F37263-6612-4586-9E0A-0122FEB7C8C2}">
  <a:tblStyle styleId="{93F37263-6612-4586-9E0A-0122FEB7C8C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QuattrocentoSans-regular.fntdata"/><Relationship Id="rId21" Type="http://schemas.openxmlformats.org/officeDocument/2006/relationships/slide" Target="slides/slide15.xml"/><Relationship Id="rId24" Type="http://schemas.openxmlformats.org/officeDocument/2006/relationships/font" Target="fonts/QuattrocentoSans-italic.fntdata"/><Relationship Id="rId23" Type="http://schemas.openxmlformats.org/officeDocument/2006/relationships/font" Target="fonts/Quattrocento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Quattrocento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7.png"/><Relationship Id="rId13" Type="http://schemas.openxmlformats.org/officeDocument/2006/relationships/image" Target="../media/image14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43.png"/><Relationship Id="rId8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32.png"/><Relationship Id="rId1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9" Type="http://schemas.openxmlformats.org/officeDocument/2006/relationships/image" Target="../media/image30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4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45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36.png"/><Relationship Id="rId9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png"/><Relationship Id="rId10" Type="http://schemas.openxmlformats.org/officeDocument/2006/relationships/image" Target="../media/image56.png"/><Relationship Id="rId13" Type="http://schemas.openxmlformats.org/officeDocument/2006/relationships/image" Target="../media/image47.pn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Relationship Id="rId9" Type="http://schemas.openxmlformats.org/officeDocument/2006/relationships/image" Target="../media/image42.png"/><Relationship Id="rId15" Type="http://schemas.openxmlformats.org/officeDocument/2006/relationships/image" Target="../media/image77.png"/><Relationship Id="rId14" Type="http://schemas.openxmlformats.org/officeDocument/2006/relationships/image" Target="../media/image62.png"/><Relationship Id="rId17" Type="http://schemas.openxmlformats.org/officeDocument/2006/relationships/image" Target="../media/image63.png"/><Relationship Id="rId16" Type="http://schemas.openxmlformats.org/officeDocument/2006/relationships/image" Target="../media/image48.png"/><Relationship Id="rId5" Type="http://schemas.openxmlformats.org/officeDocument/2006/relationships/image" Target="../media/image33.png"/><Relationship Id="rId6" Type="http://schemas.openxmlformats.org/officeDocument/2006/relationships/image" Target="../media/image50.png"/><Relationship Id="rId7" Type="http://schemas.openxmlformats.org/officeDocument/2006/relationships/image" Target="../media/image38.png"/><Relationship Id="rId8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8.png"/><Relationship Id="rId10" Type="http://schemas.openxmlformats.org/officeDocument/2006/relationships/image" Target="../media/image57.png"/><Relationship Id="rId13" Type="http://schemas.openxmlformats.org/officeDocument/2006/relationships/image" Target="../media/image72.png"/><Relationship Id="rId1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67.png"/><Relationship Id="rId9" Type="http://schemas.openxmlformats.org/officeDocument/2006/relationships/image" Target="../media/image84.png"/><Relationship Id="rId14" Type="http://schemas.openxmlformats.org/officeDocument/2006/relationships/image" Target="../media/image59.png"/><Relationship Id="rId5" Type="http://schemas.openxmlformats.org/officeDocument/2006/relationships/image" Target="../media/image68.png"/><Relationship Id="rId6" Type="http://schemas.openxmlformats.org/officeDocument/2006/relationships/image" Target="../media/image64.png"/><Relationship Id="rId7" Type="http://schemas.openxmlformats.org/officeDocument/2006/relationships/image" Target="../media/image55.png"/><Relationship Id="rId8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62.png"/><Relationship Id="rId11" Type="http://schemas.openxmlformats.org/officeDocument/2006/relationships/image" Target="../media/image81.png"/><Relationship Id="rId22" Type="http://schemas.openxmlformats.org/officeDocument/2006/relationships/image" Target="../media/image105.png"/><Relationship Id="rId10" Type="http://schemas.openxmlformats.org/officeDocument/2006/relationships/image" Target="../media/image75.png"/><Relationship Id="rId21" Type="http://schemas.openxmlformats.org/officeDocument/2006/relationships/image" Target="../media/image89.png"/><Relationship Id="rId13" Type="http://schemas.openxmlformats.org/officeDocument/2006/relationships/image" Target="../media/image78.png"/><Relationship Id="rId12" Type="http://schemas.openxmlformats.org/officeDocument/2006/relationships/image" Target="../media/image65.png"/><Relationship Id="rId23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60.png"/><Relationship Id="rId9" Type="http://schemas.openxmlformats.org/officeDocument/2006/relationships/image" Target="../media/image76.png"/><Relationship Id="rId15" Type="http://schemas.openxmlformats.org/officeDocument/2006/relationships/image" Target="../media/image66.png"/><Relationship Id="rId14" Type="http://schemas.openxmlformats.org/officeDocument/2006/relationships/image" Target="../media/image99.png"/><Relationship Id="rId17" Type="http://schemas.openxmlformats.org/officeDocument/2006/relationships/image" Target="../media/image49.png"/><Relationship Id="rId16" Type="http://schemas.openxmlformats.org/officeDocument/2006/relationships/image" Target="../media/image74.png"/><Relationship Id="rId5" Type="http://schemas.openxmlformats.org/officeDocument/2006/relationships/image" Target="../media/image61.png"/><Relationship Id="rId19" Type="http://schemas.openxmlformats.org/officeDocument/2006/relationships/image" Target="../media/image73.png"/><Relationship Id="rId6" Type="http://schemas.openxmlformats.org/officeDocument/2006/relationships/image" Target="../media/image71.png"/><Relationship Id="rId18" Type="http://schemas.openxmlformats.org/officeDocument/2006/relationships/image" Target="../media/image70.png"/><Relationship Id="rId7" Type="http://schemas.openxmlformats.org/officeDocument/2006/relationships/image" Target="../media/image79.png"/><Relationship Id="rId8" Type="http://schemas.openxmlformats.org/officeDocument/2006/relationships/image" Target="../media/image86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98.png"/><Relationship Id="rId9" Type="http://schemas.openxmlformats.org/officeDocument/2006/relationships/image" Target="../media/image80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85.png"/><Relationship Id="rId8" Type="http://schemas.openxmlformats.org/officeDocument/2006/relationships/image" Target="../media/image82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90.png"/><Relationship Id="rId10" Type="http://schemas.openxmlformats.org/officeDocument/2006/relationships/image" Target="../media/image91.png"/><Relationship Id="rId13" Type="http://schemas.openxmlformats.org/officeDocument/2006/relationships/image" Target="../media/image93.png"/><Relationship Id="rId1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87.png"/><Relationship Id="rId9" Type="http://schemas.openxmlformats.org/officeDocument/2006/relationships/image" Target="../media/image118.png"/><Relationship Id="rId15" Type="http://schemas.openxmlformats.org/officeDocument/2006/relationships/image" Target="../media/image113.jpg"/><Relationship Id="rId14" Type="http://schemas.openxmlformats.org/officeDocument/2006/relationships/image" Target="../media/image119.jpg"/><Relationship Id="rId5" Type="http://schemas.openxmlformats.org/officeDocument/2006/relationships/image" Target="../media/image111.png"/><Relationship Id="rId6" Type="http://schemas.openxmlformats.org/officeDocument/2006/relationships/image" Target="../media/image88.png"/><Relationship Id="rId7" Type="http://schemas.openxmlformats.org/officeDocument/2006/relationships/image" Target="../media/image116.png"/><Relationship Id="rId8" Type="http://schemas.openxmlformats.org/officeDocument/2006/relationships/image" Target="../media/image102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7.png"/><Relationship Id="rId10" Type="http://schemas.openxmlformats.org/officeDocument/2006/relationships/image" Target="../media/image101.png"/><Relationship Id="rId13" Type="http://schemas.openxmlformats.org/officeDocument/2006/relationships/image" Target="../media/image103.png"/><Relationship Id="rId1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96.png"/><Relationship Id="rId9" Type="http://schemas.openxmlformats.org/officeDocument/2006/relationships/image" Target="../media/image100.png"/><Relationship Id="rId14" Type="http://schemas.openxmlformats.org/officeDocument/2006/relationships/image" Target="../media/image121.png"/><Relationship Id="rId5" Type="http://schemas.openxmlformats.org/officeDocument/2006/relationships/image" Target="../media/image97.png"/><Relationship Id="rId6" Type="http://schemas.openxmlformats.org/officeDocument/2006/relationships/image" Target="../media/image122.png"/><Relationship Id="rId7" Type="http://schemas.openxmlformats.org/officeDocument/2006/relationships/image" Target="../media/image120.png"/><Relationship Id="rId8" Type="http://schemas.openxmlformats.org/officeDocument/2006/relationships/image" Target="../media/image1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09.png"/><Relationship Id="rId5" Type="http://schemas.openxmlformats.org/officeDocument/2006/relationships/image" Target="../media/image1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33400" y="6524625"/>
            <a:ext cx="1112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DIU    </a:t>
            </a:r>
            <a:r>
              <a:rPr lang="en-US" sz="12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CSE 325</a:t>
            </a: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Presentation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08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33400" y="2700337"/>
            <a:ext cx="6816789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Spider-Man's Spider-Sense for Bangladesh Railways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33400" y="3757612"/>
            <a:ext cx="64921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 Smart Sensors &amp; Control Systems Prevent Railway Accidents?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243137"/>
            <a:ext cx="2919412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9012" y="2243137"/>
            <a:ext cx="11715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76787" y="2243137"/>
            <a:ext cx="7810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4281475"/>
            <a:ext cx="27622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09950" y="4281487"/>
            <a:ext cx="13716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95850" y="4281487"/>
            <a:ext cx="19621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7025" y="4386262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52800" y="43862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16225" y="4386262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title="Gemini_Generated_Image_onodskonodskonod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63025" y="1634301"/>
            <a:ext cx="4439826" cy="323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426493"/>
            <a:ext cx="4358580" cy="2690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6225" y="2426500"/>
            <a:ext cx="5922375" cy="26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190625" y="419100"/>
            <a:ext cx="1099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&amp; Course Information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33400" y="6524625"/>
            <a:ext cx="1112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DIU   </a:t>
            </a:r>
            <a:r>
              <a:rPr lang="en-US" sz="12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CSE 325  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Presentation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2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419100"/>
            <a:ext cx="5238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875" y="2901568"/>
            <a:ext cx="12858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771525" y="3285907"/>
            <a:ext cx="407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Mehedi Hasan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71525" y="3657618"/>
            <a:ext cx="388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E12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Lecturer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71525" y="3978632"/>
            <a:ext cx="3882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Department of Computer Science &amp; Engineering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Daffodil International University</a:t>
            </a:r>
            <a:endParaRPr/>
          </a:p>
        </p:txBody>
      </p:sp>
      <p:graphicFrame>
        <p:nvGraphicFramePr>
          <p:cNvPr id="112" name="Google Shape;112;p14"/>
          <p:cNvGraphicFramePr/>
          <p:nvPr/>
        </p:nvGraphicFramePr>
        <p:xfrm>
          <a:off x="5245555" y="24360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{93F37263-6612-4586-9E0A-0122FEB7C8C2}</a:tableStyleId>
              </a:tblPr>
              <a:tblGrid>
                <a:gridCol w="3806350"/>
                <a:gridCol w="2731625"/>
              </a:tblGrid>
              <a:tr h="44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Student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Student 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Tanvir Kabir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232-15-753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Mynuddin Ahmed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232-15-179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Hasan Tarek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232-15-650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Muntasir Chowdhury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232-15-462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Shafin Ahmed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232-15-184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" name="Google Shape;113;p14"/>
          <p:cNvSpPr/>
          <p:nvPr/>
        </p:nvSpPr>
        <p:spPr>
          <a:xfrm>
            <a:off x="5130105" y="3283743"/>
            <a:ext cx="2145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7275760" y="3283743"/>
            <a:ext cx="1376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8651825" y="3283743"/>
            <a:ext cx="29972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5130105" y="3736181"/>
            <a:ext cx="2145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7275760" y="3736181"/>
            <a:ext cx="1376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8651825" y="3736181"/>
            <a:ext cx="29972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5130105" y="4188618"/>
            <a:ext cx="2145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7275760" y="4188618"/>
            <a:ext cx="1376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8651825" y="4188618"/>
            <a:ext cx="29972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5130105" y="4641056"/>
            <a:ext cx="2145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7275760" y="4641056"/>
            <a:ext cx="1376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8651825" y="4641056"/>
            <a:ext cx="29972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5130105" y="5093493"/>
            <a:ext cx="2145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7275760" y="5093493"/>
            <a:ext cx="1376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8651825" y="5093493"/>
            <a:ext cx="29972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1095375" y="419100"/>
            <a:ext cx="110913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Introduction: Bangladesh Railways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533400" y="6524625"/>
            <a:ext cx="11125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Instrumentation and Control</a:t>
            </a: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3</a:t>
            </a:r>
            <a:endParaRPr/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19100"/>
            <a:ext cx="42862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/>
          <p:nvPr/>
        </p:nvSpPr>
        <p:spPr>
          <a:xfrm>
            <a:off x="533400" y="1485900"/>
            <a:ext cx="5448300" cy="528637"/>
          </a:xfrm>
          <a:prstGeom prst="roundRect">
            <a:avLst>
              <a:gd fmla="val 180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962025" y="1631175"/>
            <a:ext cx="51054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Vital lifeline for affordable national transit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533400" y="2128837"/>
            <a:ext cx="5448300" cy="528637"/>
          </a:xfrm>
          <a:prstGeom prst="roundRect">
            <a:avLst>
              <a:gd fmla="val 180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704850" y="2262187"/>
            <a:ext cx="51054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T</a:t>
            </a:r>
            <a:r>
              <a:rPr b="0" i="0" lang="en-US" sz="12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ransports millions of citizens daily across districts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533400" y="2771775"/>
            <a:ext cx="5448300" cy="528637"/>
          </a:xfrm>
          <a:prstGeom prst="roundRect">
            <a:avLst>
              <a:gd fmla="val 180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639300" y="2905125"/>
            <a:ext cx="51054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</a:t>
            </a:r>
            <a:r>
              <a:rPr b="0" i="0" lang="en-US" sz="12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Critical need for modern safety infrastructure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533400" y="3414712"/>
            <a:ext cx="5448300" cy="528637"/>
          </a:xfrm>
          <a:prstGeom prst="roundRect">
            <a:avLst>
              <a:gd fmla="val 180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704850" y="3548062"/>
            <a:ext cx="51054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</a:t>
            </a:r>
            <a:r>
              <a:rPr b="0" i="0" lang="en-US" sz="12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Rising derailments call for automated prevention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533400" y="2005012"/>
            <a:ext cx="5448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533400" y="2647950"/>
            <a:ext cx="5448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533400" y="3290887"/>
            <a:ext cx="5448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533400" y="3933825"/>
            <a:ext cx="5448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8" name="Google Shape;14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1657350"/>
            <a:ext cx="2000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2300287"/>
            <a:ext cx="2000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375" y="2943225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375" y="3586162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 title="Gemini_Generated_Image_onodskonodskonod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99725" y="1436065"/>
            <a:ext cx="5105401" cy="3719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533650"/>
            <a:ext cx="547687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1725" y="2533650"/>
            <a:ext cx="547687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3857625"/>
            <a:ext cx="547687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81725" y="3857625"/>
            <a:ext cx="547687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1123950" y="419100"/>
            <a:ext cx="1106138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Railway Safety Challenges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533400" y="6524625"/>
            <a:ext cx="11125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Identification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4</a:t>
            </a:r>
            <a:endParaRPr/>
          </a:p>
        </p:txBody>
      </p:sp>
      <p:pic>
        <p:nvPicPr>
          <p:cNvPr descr="image.png" id="164" name="Google Shape;16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4191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733425" y="3057525"/>
            <a:ext cx="5076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Micro-cracks, thermal track expansion, and rail displacement going undetected.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381750" y="3057525"/>
            <a:ext cx="5076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Manual inspection delays, driver fatigue, and delayed reaction time during hazards.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733425" y="4381500"/>
            <a:ext cx="5076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Absence of continuous real-time telemetry across thousands of track kilometers.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6381750" y="4381500"/>
            <a:ext cx="5076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Frequent collisions at unauthorized and un-signaled level railway intersections.</a:t>
            </a:r>
            <a:endParaRPr/>
          </a:p>
        </p:txBody>
      </p:sp>
      <p:pic>
        <p:nvPicPr>
          <p:cNvPr descr="image.png" id="169" name="Google Shape;16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3425" y="274320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1114425" y="2733675"/>
            <a:ext cx="13701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 Defects</a:t>
            </a:r>
            <a:endParaRPr/>
          </a:p>
        </p:txBody>
      </p:sp>
      <p:pic>
        <p:nvPicPr>
          <p:cNvPr descr="image.png" id="171" name="Google Shape;17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81750" y="274320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 txBox="1"/>
          <p:nvPr/>
        </p:nvSpPr>
        <p:spPr>
          <a:xfrm>
            <a:off x="6762750" y="2733675"/>
            <a:ext cx="12201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Human Error</a:t>
            </a:r>
            <a:endParaRPr/>
          </a:p>
        </p:txBody>
      </p:sp>
      <p:pic>
        <p:nvPicPr>
          <p:cNvPr descr="image.png" id="173" name="Google Shape;17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33425" y="4067175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1114425" y="4057650"/>
            <a:ext cx="1550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Poor Monitoring</a:t>
            </a:r>
            <a:endParaRPr/>
          </a:p>
        </p:txBody>
      </p:sp>
      <p:pic>
        <p:nvPicPr>
          <p:cNvPr descr="image.png" id="175" name="Google Shape;175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81750" y="4067175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6762750" y="4057650"/>
            <a:ext cx="20902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Unmanned Crossings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852737"/>
            <a:ext cx="544830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2852737"/>
            <a:ext cx="5448300" cy="18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1123950" y="419100"/>
            <a:ext cx="1106138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Fictional Inspiration vs Engineering Reality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533400" y="6524625"/>
            <a:ext cx="11125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Conceptual Metaphor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5</a:t>
            </a:r>
            <a:endParaRPr/>
          </a:p>
        </p:txBody>
      </p:sp>
      <p:pic>
        <p:nvPicPr>
          <p:cNvPr descr="image.png" id="186" name="Google Shape;18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4191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 txBox="1"/>
          <p:nvPr/>
        </p:nvSpPr>
        <p:spPr>
          <a:xfrm>
            <a:off x="733425" y="3376612"/>
            <a:ext cx="504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Autonomous Early Hazard Premonition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6410325" y="3376612"/>
            <a:ext cx="504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Smart Instrumentation Network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847725" y="3052762"/>
            <a:ext cx="29103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Concept: "Spider-Sense"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828675" y="37195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923925" y="3719512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Zero-latency hazard awareness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828675" y="39766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923925" y="3976687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Continuous omnidirectional environmental scanning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828675" y="42338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923925" y="4233862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Instinctive preventive reflex triggering</a:t>
            </a:r>
            <a:endParaRPr/>
          </a:p>
        </p:txBody>
      </p:sp>
      <p:pic>
        <p:nvPicPr>
          <p:cNvPr descr="image.png" id="196" name="Google Shape;19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0325" y="306228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 txBox="1"/>
          <p:nvPr/>
        </p:nvSpPr>
        <p:spPr>
          <a:xfrm>
            <a:off x="6734175" y="3052762"/>
            <a:ext cx="22902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Engineering Translation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6505575" y="37195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6600825" y="3719512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Multi-sensor telemetry along tracks &amp; trains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6505575" y="39766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6600825" y="3976687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Sub-second anomaly detection &amp; edge computing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6505575" y="42338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6600825" y="4233862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Automated signal feedback &amp; braking actuation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533650"/>
            <a:ext cx="547687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1725" y="2533650"/>
            <a:ext cx="547687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3857625"/>
            <a:ext cx="547687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81725" y="3857625"/>
            <a:ext cx="547687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 txBox="1"/>
          <p:nvPr/>
        </p:nvSpPr>
        <p:spPr>
          <a:xfrm>
            <a:off x="1190625" y="419100"/>
            <a:ext cx="1099137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Engineering Pillars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533400" y="6524625"/>
            <a:ext cx="11125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CSE325 Technical Framework</a:t>
            </a: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6</a:t>
            </a:r>
            <a:endParaRPr/>
          </a:p>
        </p:txBody>
      </p:sp>
      <p:pic>
        <p:nvPicPr>
          <p:cNvPr descr="image.png" id="215" name="Google Shape;21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419100"/>
            <a:ext cx="5238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733425" y="3057525"/>
            <a:ext cx="5076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Measuring physical track parameters (stress, temperature, vibration) precisely.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6381750" y="3057525"/>
            <a:ext cx="5076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Transducers equipped with built-in signal conditioning and digital output capabilities.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733425" y="4381500"/>
            <a:ext cx="5076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Instant data transmission to control units using low-latency wireless networks.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6381750" y="4381500"/>
            <a:ext cx="5076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Feedback loops that process sensor inputs to trigger emergency automatic brakes.</a:t>
            </a:r>
            <a:endParaRPr/>
          </a:p>
        </p:txBody>
      </p:sp>
      <p:pic>
        <p:nvPicPr>
          <p:cNvPr descr="image.png" id="220" name="Google Shape;22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3425" y="274320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1057275" y="2733675"/>
            <a:ext cx="153019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Instrumentation</a:t>
            </a:r>
            <a:endParaRPr/>
          </a:p>
        </p:txBody>
      </p:sp>
      <p:pic>
        <p:nvPicPr>
          <p:cNvPr descr="image.png" id="222" name="Google Shape;222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81750" y="274320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 txBox="1"/>
          <p:nvPr/>
        </p:nvSpPr>
        <p:spPr>
          <a:xfrm>
            <a:off x="6705600" y="2733675"/>
            <a:ext cx="142017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Smart Sensors</a:t>
            </a:r>
            <a:endParaRPr/>
          </a:p>
        </p:txBody>
      </p:sp>
      <p:pic>
        <p:nvPicPr>
          <p:cNvPr descr="image.png" id="224" name="Google Shape;22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33425" y="4067175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 txBox="1"/>
          <p:nvPr/>
        </p:nvSpPr>
        <p:spPr>
          <a:xfrm>
            <a:off x="1114425" y="4057650"/>
            <a:ext cx="1990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Telemetry</a:t>
            </a:r>
            <a:endParaRPr/>
          </a:p>
        </p:txBody>
      </p:sp>
      <p:pic>
        <p:nvPicPr>
          <p:cNvPr descr="image.png" id="226" name="Google Shape;226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81750" y="40671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 txBox="1"/>
          <p:nvPr/>
        </p:nvSpPr>
        <p:spPr>
          <a:xfrm>
            <a:off x="6705600" y="4057650"/>
            <a:ext cx="14901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 System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3262312"/>
            <a:ext cx="1639937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0512" y="3262312"/>
            <a:ext cx="1639937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27624" y="3262312"/>
            <a:ext cx="1639937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4736" y="3262312"/>
            <a:ext cx="1639937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21848" y="3262312"/>
            <a:ext cx="1639937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18960" y="3262312"/>
            <a:ext cx="1639937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955325" y="939775"/>
            <a:ext cx="1102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sng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System Architecture</a:t>
            </a:r>
            <a:r>
              <a:rPr b="1" lang="en-US" sz="3300" u="sng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sz="2300" u="sng"/>
          </a:p>
        </p:txBody>
      </p:sp>
      <p:sp>
        <p:nvSpPr>
          <p:cNvPr id="240" name="Google Shape;240;p19"/>
          <p:cNvSpPr txBox="1"/>
          <p:nvPr/>
        </p:nvSpPr>
        <p:spPr>
          <a:xfrm>
            <a:off x="533400" y="6524625"/>
            <a:ext cx="1112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pic>
        <p:nvPicPr>
          <p:cNvPr descr="image.png" id="241" name="Google Shape;241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5314" y="2237597"/>
            <a:ext cx="796100" cy="79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9"/>
          <p:cNvSpPr txBox="1"/>
          <p:nvPr/>
        </p:nvSpPr>
        <p:spPr>
          <a:xfrm>
            <a:off x="671515" y="3457012"/>
            <a:ext cx="15018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25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Railway Track</a:t>
            </a:r>
            <a:endParaRPr sz="2200"/>
          </a:p>
        </p:txBody>
      </p:sp>
      <p:sp>
        <p:nvSpPr>
          <p:cNvPr id="243" name="Google Shape;243;p19"/>
          <p:cNvSpPr txBox="1"/>
          <p:nvPr/>
        </p:nvSpPr>
        <p:spPr>
          <a:xfrm>
            <a:off x="638175" y="3948112"/>
            <a:ext cx="143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Integration</a:t>
            </a:r>
            <a:endParaRPr b="1" sz="1900">
              <a:solidFill>
                <a:schemeClr val="dk1"/>
              </a:solidFill>
            </a:endParaRPr>
          </a:p>
        </p:txBody>
      </p:sp>
      <p:pic>
        <p:nvPicPr>
          <p:cNvPr descr="image.png" id="244" name="Google Shape;244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49537" y="3690937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928439" y="2452953"/>
            <a:ext cx="644050" cy="64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9"/>
          <p:cNvSpPr txBox="1"/>
          <p:nvPr/>
        </p:nvSpPr>
        <p:spPr>
          <a:xfrm>
            <a:off x="2499577" y="3418612"/>
            <a:ext cx="1501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25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Sensors</a:t>
            </a:r>
            <a:endParaRPr b="1" sz="2700"/>
          </a:p>
        </p:txBody>
      </p:sp>
      <p:sp>
        <p:nvSpPr>
          <p:cNvPr id="247" name="Google Shape;247;p19"/>
          <p:cNvSpPr txBox="1"/>
          <p:nvPr/>
        </p:nvSpPr>
        <p:spPr>
          <a:xfrm>
            <a:off x="2535287" y="3948112"/>
            <a:ext cx="143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Data Sensing</a:t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descr="image.png" id="248" name="Google Shape;248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146649" y="3690937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25561" y="2488731"/>
            <a:ext cx="644050" cy="57248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9"/>
          <p:cNvSpPr txBox="1"/>
          <p:nvPr/>
        </p:nvSpPr>
        <p:spPr>
          <a:xfrm>
            <a:off x="4396677" y="3405787"/>
            <a:ext cx="1501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Microcontroller</a:t>
            </a:r>
            <a:endParaRPr sz="2000"/>
          </a:p>
        </p:txBody>
      </p:sp>
      <p:sp>
        <p:nvSpPr>
          <p:cNvPr id="251" name="Google Shape;251;p19"/>
          <p:cNvSpPr txBox="1"/>
          <p:nvPr/>
        </p:nvSpPr>
        <p:spPr>
          <a:xfrm>
            <a:off x="4432399" y="3948112"/>
            <a:ext cx="143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Signal Processing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descr="image.png" id="252" name="Google Shape;252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043761" y="3690937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18468" y="2488731"/>
            <a:ext cx="644050" cy="57248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 txBox="1"/>
          <p:nvPr/>
        </p:nvSpPr>
        <p:spPr>
          <a:xfrm>
            <a:off x="6293801" y="3449362"/>
            <a:ext cx="1501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</a:t>
            </a:r>
            <a:endParaRPr sz="2300"/>
          </a:p>
        </p:txBody>
      </p:sp>
      <p:sp>
        <p:nvSpPr>
          <p:cNvPr id="255" name="Google Shape;255;p19"/>
          <p:cNvSpPr txBox="1"/>
          <p:nvPr/>
        </p:nvSpPr>
        <p:spPr>
          <a:xfrm>
            <a:off x="6329511" y="3948112"/>
            <a:ext cx="143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GSM/IoT Comms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descr="image.png" id="256" name="Google Shape;256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940873" y="3690937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411392" y="2488730"/>
            <a:ext cx="644050" cy="57248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9"/>
          <p:cNvSpPr txBox="1"/>
          <p:nvPr/>
        </p:nvSpPr>
        <p:spPr>
          <a:xfrm>
            <a:off x="8190901" y="3457012"/>
            <a:ext cx="15018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25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 Room</a:t>
            </a:r>
            <a:endParaRPr sz="2200"/>
          </a:p>
        </p:txBody>
      </p:sp>
      <p:sp>
        <p:nvSpPr>
          <p:cNvPr id="259" name="Google Shape;259;p19"/>
          <p:cNvSpPr txBox="1"/>
          <p:nvPr/>
        </p:nvSpPr>
        <p:spPr>
          <a:xfrm>
            <a:off x="8226623" y="3948112"/>
            <a:ext cx="143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Central Monitor</a:t>
            </a:r>
            <a:endParaRPr b="1" sz="2100">
              <a:solidFill>
                <a:schemeClr val="dk1"/>
              </a:solidFill>
            </a:endParaRPr>
          </a:p>
        </p:txBody>
      </p:sp>
      <p:pic>
        <p:nvPicPr>
          <p:cNvPr descr="image.png" id="260" name="Google Shape;260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837985" y="3690937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369268" y="2452953"/>
            <a:ext cx="644050" cy="64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9"/>
          <p:cNvSpPr txBox="1"/>
          <p:nvPr/>
        </p:nvSpPr>
        <p:spPr>
          <a:xfrm>
            <a:off x="10018950" y="3433912"/>
            <a:ext cx="15018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5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 Brake</a:t>
            </a:r>
            <a:endParaRPr sz="2500"/>
          </a:p>
        </p:txBody>
      </p:sp>
      <p:sp>
        <p:nvSpPr>
          <p:cNvPr id="263" name="Google Shape;263;p19"/>
          <p:cNvSpPr txBox="1"/>
          <p:nvPr/>
        </p:nvSpPr>
        <p:spPr>
          <a:xfrm>
            <a:off x="10123735" y="3948112"/>
            <a:ext cx="143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Safety Actuation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87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671762"/>
            <a:ext cx="360670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2500" y="2671762"/>
            <a:ext cx="3606849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1750" y="2671762"/>
            <a:ext cx="360670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3948112"/>
            <a:ext cx="36067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2500" y="3948112"/>
            <a:ext cx="3606849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51750" y="3948112"/>
            <a:ext cx="36067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0"/>
          <p:cNvSpPr txBox="1"/>
          <p:nvPr/>
        </p:nvSpPr>
        <p:spPr>
          <a:xfrm>
            <a:off x="1057275" y="805900"/>
            <a:ext cx="1106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sng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Smart Sensor Suite Selection</a:t>
            </a:r>
            <a:r>
              <a:rPr b="1" lang="en-US" sz="2900" u="sng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sz="1900" u="sng"/>
          </a:p>
        </p:txBody>
      </p:sp>
      <p:sp>
        <p:nvSpPr>
          <p:cNvPr id="276" name="Google Shape;276;p20"/>
          <p:cNvSpPr txBox="1"/>
          <p:nvPr/>
        </p:nvSpPr>
        <p:spPr>
          <a:xfrm>
            <a:off x="533400" y="6524625"/>
            <a:ext cx="1112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733425" y="3195637"/>
            <a:ext cx="32067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Piezoelectric sensors detect track structural deformities.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4492525" y="3195637"/>
            <a:ext cx="32067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Measures obstacle distance &amp; track clearance.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8251775" y="3195637"/>
            <a:ext cx="32067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Monitors rail heat expansion to avert buckling.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733425" y="4471987"/>
            <a:ext cx="3206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computer vision detects track debris &amp; hazards.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4492525" y="4471987"/>
            <a:ext cx="3206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Provides real-time location telemetry &amp; velocity.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8251775" y="4471987"/>
            <a:ext cx="3206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IR &amp; continuity sensors locate micro rail fractures.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descr="image.png" id="283" name="Google Shape;28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3425" y="2881312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0"/>
          <p:cNvSpPr txBox="1"/>
          <p:nvPr/>
        </p:nvSpPr>
        <p:spPr>
          <a:xfrm>
            <a:off x="1097625" y="2816725"/>
            <a:ext cx="148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Vibration</a:t>
            </a:r>
            <a:endParaRPr b="1" sz="2100"/>
          </a:p>
        </p:txBody>
      </p:sp>
      <p:pic>
        <p:nvPicPr>
          <p:cNvPr descr="image.png" id="285" name="Google Shape;285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92525" y="2881312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0"/>
          <p:cNvSpPr txBox="1"/>
          <p:nvPr/>
        </p:nvSpPr>
        <p:spPr>
          <a:xfrm>
            <a:off x="4873525" y="2824525"/>
            <a:ext cx="140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Ultrasonic</a:t>
            </a:r>
            <a:endParaRPr sz="2000"/>
          </a:p>
        </p:txBody>
      </p:sp>
      <p:pic>
        <p:nvPicPr>
          <p:cNvPr descr="image.png" id="287" name="Google Shape;28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51775" y="288131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0"/>
          <p:cNvSpPr txBox="1"/>
          <p:nvPr/>
        </p:nvSpPr>
        <p:spPr>
          <a:xfrm>
            <a:off x="8575625" y="2824525"/>
            <a:ext cx="119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Thermal</a:t>
            </a:r>
            <a:endParaRPr sz="2000"/>
          </a:p>
        </p:txBody>
      </p:sp>
      <p:pic>
        <p:nvPicPr>
          <p:cNvPr descr="image.png" id="289" name="Google Shape;289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33425" y="415766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0"/>
          <p:cNvSpPr txBox="1"/>
          <p:nvPr/>
        </p:nvSpPr>
        <p:spPr>
          <a:xfrm>
            <a:off x="1090925" y="4100875"/>
            <a:ext cx="148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Camera</a:t>
            </a:r>
            <a:endParaRPr sz="2000"/>
          </a:p>
        </p:txBody>
      </p:sp>
      <p:pic>
        <p:nvPicPr>
          <p:cNvPr descr="image.png" id="291" name="Google Shape;291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92525" y="415766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0"/>
          <p:cNvSpPr txBox="1"/>
          <p:nvPr/>
        </p:nvSpPr>
        <p:spPr>
          <a:xfrm>
            <a:off x="4759225" y="4116175"/>
            <a:ext cx="177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GPS Module</a:t>
            </a:r>
            <a:endParaRPr sz="1800"/>
          </a:p>
        </p:txBody>
      </p:sp>
      <p:pic>
        <p:nvPicPr>
          <p:cNvPr descr="image.png" id="293" name="Google Shape;293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251775" y="4157662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0"/>
          <p:cNvSpPr txBox="1"/>
          <p:nvPr/>
        </p:nvSpPr>
        <p:spPr>
          <a:xfrm>
            <a:off x="8461325" y="4116175"/>
            <a:ext cx="201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Crack Detector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3081337"/>
            <a:ext cx="1639937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0512" y="3081337"/>
            <a:ext cx="1639937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7624" y="3081337"/>
            <a:ext cx="1639937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4736" y="3081337"/>
            <a:ext cx="1639937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1848" y="3081337"/>
            <a:ext cx="1639937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18960" y="3081337"/>
            <a:ext cx="1639937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19944" y="32432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117056" y="32432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14168" y="32432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911280" y="32432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808392" y="32432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705504" y="32432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1"/>
          <p:cNvSpPr txBox="1"/>
          <p:nvPr/>
        </p:nvSpPr>
        <p:spPr>
          <a:xfrm>
            <a:off x="1123950" y="419100"/>
            <a:ext cx="1106138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Step-by-Step Working Workflow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533400" y="6524625"/>
            <a:ext cx="11125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Operational Pipeline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9</a:t>
            </a:r>
            <a:endParaRPr/>
          </a:p>
        </p:txBody>
      </p:sp>
      <p:pic>
        <p:nvPicPr>
          <p:cNvPr descr="image.png" id="314" name="Google Shape;314;p2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33400" y="4191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224706" y="3605212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1"/>
          <p:cNvSpPr txBox="1"/>
          <p:nvPr/>
        </p:nvSpPr>
        <p:spPr>
          <a:xfrm>
            <a:off x="602415" y="3910012"/>
            <a:ext cx="15018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Monitoring</a:t>
            </a:r>
            <a:endParaRPr sz="1500"/>
          </a:p>
        </p:txBody>
      </p:sp>
      <p:sp>
        <p:nvSpPr>
          <p:cNvPr id="317" name="Google Shape;317;p21"/>
          <p:cNvSpPr txBox="1"/>
          <p:nvPr/>
        </p:nvSpPr>
        <p:spPr>
          <a:xfrm>
            <a:off x="638175" y="4129087"/>
            <a:ext cx="143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24/7 track scanning</a:t>
            </a:r>
            <a:endParaRPr sz="1500"/>
          </a:p>
        </p:txBody>
      </p:sp>
      <p:pic>
        <p:nvPicPr>
          <p:cNvPr descr="image.png" id="318" name="Google Shape;318;p2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249537" y="3690937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150393" y="360521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1"/>
          <p:cNvSpPr txBox="1"/>
          <p:nvPr/>
        </p:nvSpPr>
        <p:spPr>
          <a:xfrm>
            <a:off x="2499527" y="3910012"/>
            <a:ext cx="15018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Collect</a:t>
            </a:r>
            <a:endParaRPr sz="1500"/>
          </a:p>
        </p:txBody>
      </p:sp>
      <p:sp>
        <p:nvSpPr>
          <p:cNvPr id="321" name="Google Shape;321;p21"/>
          <p:cNvSpPr txBox="1"/>
          <p:nvPr/>
        </p:nvSpPr>
        <p:spPr>
          <a:xfrm>
            <a:off x="2535287" y="4129087"/>
            <a:ext cx="143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sampling</a:t>
            </a:r>
            <a:endParaRPr sz="1500"/>
          </a:p>
        </p:txBody>
      </p:sp>
      <p:pic>
        <p:nvPicPr>
          <p:cNvPr descr="image.png" id="322" name="Google Shape;322;p2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146649" y="3690937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033218" y="36052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1"/>
          <p:cNvSpPr txBox="1"/>
          <p:nvPr/>
        </p:nvSpPr>
        <p:spPr>
          <a:xfrm>
            <a:off x="4396639" y="3910012"/>
            <a:ext cx="15018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Analysis</a:t>
            </a:r>
            <a:endParaRPr sz="1500"/>
          </a:p>
        </p:txBody>
      </p:sp>
      <p:sp>
        <p:nvSpPr>
          <p:cNvPr id="325" name="Google Shape;325;p21"/>
          <p:cNvSpPr txBox="1"/>
          <p:nvPr/>
        </p:nvSpPr>
        <p:spPr>
          <a:xfrm>
            <a:off x="4432399" y="4129087"/>
            <a:ext cx="143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Edge MCU evaluation</a:t>
            </a:r>
            <a:endParaRPr sz="1500"/>
          </a:p>
        </p:txBody>
      </p:sp>
      <p:pic>
        <p:nvPicPr>
          <p:cNvPr descr="image.png" id="326" name="Google Shape;326;p2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043761" y="3690937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930330" y="36052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1"/>
          <p:cNvSpPr txBox="1"/>
          <p:nvPr/>
        </p:nvSpPr>
        <p:spPr>
          <a:xfrm>
            <a:off x="6293751" y="3910012"/>
            <a:ext cx="15018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Hazard Detect</a:t>
            </a:r>
            <a:endParaRPr sz="1500"/>
          </a:p>
        </p:txBody>
      </p:sp>
      <p:sp>
        <p:nvSpPr>
          <p:cNvPr id="329" name="Google Shape;329;p21"/>
          <p:cNvSpPr txBox="1"/>
          <p:nvPr/>
        </p:nvSpPr>
        <p:spPr>
          <a:xfrm>
            <a:off x="6329511" y="4129087"/>
            <a:ext cx="143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Threshold trigger</a:t>
            </a:r>
            <a:endParaRPr sz="1500"/>
          </a:p>
        </p:txBody>
      </p:sp>
      <p:pic>
        <p:nvPicPr>
          <p:cNvPr descr="image.png" id="330" name="Google Shape;330;p2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940873" y="3690937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841730" y="360521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1"/>
          <p:cNvSpPr txBox="1"/>
          <p:nvPr/>
        </p:nvSpPr>
        <p:spPr>
          <a:xfrm>
            <a:off x="8190863" y="3910012"/>
            <a:ext cx="15018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Warning</a:t>
            </a:r>
            <a:endParaRPr sz="1500"/>
          </a:p>
        </p:txBody>
      </p:sp>
      <p:sp>
        <p:nvSpPr>
          <p:cNvPr id="333" name="Google Shape;333;p21"/>
          <p:cNvSpPr txBox="1"/>
          <p:nvPr/>
        </p:nvSpPr>
        <p:spPr>
          <a:xfrm>
            <a:off x="8226623" y="4129087"/>
            <a:ext cx="143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Driver alert signal</a:t>
            </a:r>
            <a:endParaRPr sz="1500"/>
          </a:p>
        </p:txBody>
      </p:sp>
      <p:pic>
        <p:nvPicPr>
          <p:cNvPr descr="image.png" id="334" name="Google Shape;334;p2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837985" y="3690937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0724554" y="36052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1"/>
          <p:cNvSpPr txBox="1"/>
          <p:nvPr/>
        </p:nvSpPr>
        <p:spPr>
          <a:xfrm>
            <a:off x="10087975" y="3910012"/>
            <a:ext cx="15018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Prevention</a:t>
            </a:r>
            <a:endParaRPr sz="1500"/>
          </a:p>
        </p:txBody>
      </p:sp>
      <p:sp>
        <p:nvSpPr>
          <p:cNvPr id="337" name="Google Shape;337;p21"/>
          <p:cNvSpPr txBox="1"/>
          <p:nvPr/>
        </p:nvSpPr>
        <p:spPr>
          <a:xfrm>
            <a:off x="10123735" y="4129087"/>
            <a:ext cx="143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Brake actuation</a:t>
            </a:r>
            <a:endParaRPr sz="1500"/>
          </a:p>
        </p:txBody>
      </p:sp>
      <p:sp>
        <p:nvSpPr>
          <p:cNvPr id="338" name="Google Shape;338;p21"/>
          <p:cNvSpPr txBox="1"/>
          <p:nvPr/>
        </p:nvSpPr>
        <p:spPr>
          <a:xfrm>
            <a:off x="638175" y="1282311"/>
            <a:ext cx="11061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system follows a continuous monitoring-to-prevention cycle, ensuring that hazards are detected and addressed in real time. This automated process minimizes human response time and improves overall railway safety. </a:t>
            </a:r>
            <a:endParaRPr sz="2200">
              <a:solidFill>
                <a:srgbClr val="0F172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445543"/>
            <a:ext cx="5448300" cy="2652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2445543"/>
            <a:ext cx="5448300" cy="2652712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2"/>
          <p:cNvSpPr txBox="1"/>
          <p:nvPr/>
        </p:nvSpPr>
        <p:spPr>
          <a:xfrm>
            <a:off x="1190625" y="419100"/>
            <a:ext cx="1099137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Advantages &amp; Implementation Challenges</a:t>
            </a:r>
            <a:endParaRPr/>
          </a:p>
        </p:txBody>
      </p:sp>
      <p:sp>
        <p:nvSpPr>
          <p:cNvPr id="347" name="Google Shape;347;p22"/>
          <p:cNvSpPr txBox="1"/>
          <p:nvPr/>
        </p:nvSpPr>
        <p:spPr>
          <a:xfrm>
            <a:off x="533400" y="6524625"/>
            <a:ext cx="11125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Feasibility Analysis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10</a:t>
            </a:r>
            <a:endParaRPr/>
          </a:p>
        </p:txBody>
      </p:sp>
      <p:pic>
        <p:nvPicPr>
          <p:cNvPr descr="image.png" id="348" name="Google Shape;34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419100"/>
            <a:ext cx="5238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3425" y="2655093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2"/>
          <p:cNvSpPr txBox="1"/>
          <p:nvPr/>
        </p:nvSpPr>
        <p:spPr>
          <a:xfrm>
            <a:off x="1057275" y="2645568"/>
            <a:ext cx="16102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Advantages</a:t>
            </a:r>
            <a:endParaRPr/>
          </a:p>
        </p:txBody>
      </p:sp>
      <p:sp>
        <p:nvSpPr>
          <p:cNvPr id="351" name="Google Shape;351;p22"/>
          <p:cNvSpPr/>
          <p:nvPr/>
        </p:nvSpPr>
        <p:spPr>
          <a:xfrm>
            <a:off x="733425" y="2969418"/>
            <a:ext cx="5048250" cy="528637"/>
          </a:xfrm>
          <a:prstGeom prst="roundRect">
            <a:avLst>
              <a:gd fmla="val 180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1194464" y="3102768"/>
            <a:ext cx="47052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24/7 autonomous monitoring with zero fatigue</a:t>
            </a:r>
            <a:endParaRPr sz="1500"/>
          </a:p>
        </p:txBody>
      </p:sp>
      <p:sp>
        <p:nvSpPr>
          <p:cNvPr id="353" name="Google Shape;353;p22"/>
          <p:cNvSpPr/>
          <p:nvPr/>
        </p:nvSpPr>
        <p:spPr>
          <a:xfrm>
            <a:off x="733425" y="3612356"/>
            <a:ext cx="5048250" cy="528637"/>
          </a:xfrm>
          <a:prstGeom prst="roundRect">
            <a:avLst>
              <a:gd fmla="val 180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2"/>
          <p:cNvSpPr txBox="1"/>
          <p:nvPr/>
        </p:nvSpPr>
        <p:spPr>
          <a:xfrm>
            <a:off x="1154975" y="3745706"/>
            <a:ext cx="47052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Sub-second alert latency prevents collision</a:t>
            </a:r>
            <a:endParaRPr sz="1500"/>
          </a:p>
        </p:txBody>
      </p:sp>
      <p:sp>
        <p:nvSpPr>
          <p:cNvPr id="355" name="Google Shape;355;p22"/>
          <p:cNvSpPr/>
          <p:nvPr/>
        </p:nvSpPr>
        <p:spPr>
          <a:xfrm>
            <a:off x="733425" y="4255293"/>
            <a:ext cx="5048250" cy="528637"/>
          </a:xfrm>
          <a:prstGeom prst="roundRect">
            <a:avLst>
              <a:gd fmla="val 180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1194464" y="4388643"/>
            <a:ext cx="47052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Predictive maintenance lowers repair costs</a:t>
            </a:r>
            <a:endParaRPr sz="1500"/>
          </a:p>
        </p:txBody>
      </p:sp>
      <p:pic>
        <p:nvPicPr>
          <p:cNvPr descr="image.png" id="357" name="Google Shape;35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0325" y="2655093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2"/>
          <p:cNvSpPr txBox="1"/>
          <p:nvPr/>
        </p:nvSpPr>
        <p:spPr>
          <a:xfrm>
            <a:off x="6734175" y="2645568"/>
            <a:ext cx="26503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Implementation Challenges</a:t>
            </a:r>
            <a:endParaRPr/>
          </a:p>
        </p:txBody>
      </p:sp>
      <p:sp>
        <p:nvSpPr>
          <p:cNvPr id="359" name="Google Shape;359;p22"/>
          <p:cNvSpPr/>
          <p:nvPr/>
        </p:nvSpPr>
        <p:spPr>
          <a:xfrm>
            <a:off x="6410325" y="2969418"/>
            <a:ext cx="5048250" cy="528637"/>
          </a:xfrm>
          <a:prstGeom prst="roundRect">
            <a:avLst>
              <a:gd fmla="val 180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6766059" y="3102768"/>
            <a:ext cx="47052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initial hardware deployment investment</a:t>
            </a:r>
            <a:endParaRPr sz="1500"/>
          </a:p>
        </p:txBody>
      </p:sp>
      <p:sp>
        <p:nvSpPr>
          <p:cNvPr id="361" name="Google Shape;361;p22"/>
          <p:cNvSpPr/>
          <p:nvPr/>
        </p:nvSpPr>
        <p:spPr>
          <a:xfrm>
            <a:off x="6410325" y="3612356"/>
            <a:ext cx="5048250" cy="528637"/>
          </a:xfrm>
          <a:prstGeom prst="roundRect">
            <a:avLst>
              <a:gd fmla="val 180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6792385" y="3745706"/>
            <a:ext cx="47052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Extreme weather exposure on outdoor sensors</a:t>
            </a:r>
            <a:endParaRPr sz="1500"/>
          </a:p>
        </p:txBody>
      </p:sp>
      <p:sp>
        <p:nvSpPr>
          <p:cNvPr id="363" name="Google Shape;363;p22"/>
          <p:cNvSpPr/>
          <p:nvPr/>
        </p:nvSpPr>
        <p:spPr>
          <a:xfrm>
            <a:off x="6410325" y="4255293"/>
            <a:ext cx="5048250" cy="528637"/>
          </a:xfrm>
          <a:prstGeom prst="roundRect">
            <a:avLst>
              <a:gd fmla="val 180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6766059" y="4388643"/>
            <a:ext cx="47052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Remote track network connectivity gaps</a:t>
            </a:r>
            <a:endParaRPr sz="1500"/>
          </a:p>
        </p:txBody>
      </p:sp>
      <p:sp>
        <p:nvSpPr>
          <p:cNvPr id="365" name="Google Shape;365;p22"/>
          <p:cNvSpPr/>
          <p:nvPr/>
        </p:nvSpPr>
        <p:spPr>
          <a:xfrm>
            <a:off x="733425" y="3488531"/>
            <a:ext cx="5048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733425" y="4131468"/>
            <a:ext cx="5048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733425" y="4774406"/>
            <a:ext cx="5048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6410325" y="3488531"/>
            <a:ext cx="5048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6410325" y="4131468"/>
            <a:ext cx="5048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6410325" y="4774406"/>
            <a:ext cx="5048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1" name="Google Shape;37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3157531"/>
            <a:ext cx="1428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3783806"/>
            <a:ext cx="1428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4426743"/>
            <a:ext cx="1428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91300" y="3140868"/>
            <a:ext cx="1238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91300" y="3783806"/>
            <a:ext cx="1238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91300" y="4426743"/>
            <a:ext cx="123825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1" name="Google Shape;3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671762"/>
            <a:ext cx="36067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2500" y="2671762"/>
            <a:ext cx="3606849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1750" y="2671762"/>
            <a:ext cx="36067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3748087"/>
            <a:ext cx="360670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2500" y="3748087"/>
            <a:ext cx="3606849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51750" y="3748087"/>
            <a:ext cx="3606700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3"/>
          <p:cNvSpPr txBox="1"/>
          <p:nvPr/>
        </p:nvSpPr>
        <p:spPr>
          <a:xfrm>
            <a:off x="1085850" y="964875"/>
            <a:ext cx="1109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Broader Infrastructure Applications</a:t>
            </a:r>
            <a:endParaRPr/>
          </a:p>
        </p:txBody>
      </p:sp>
      <p:sp>
        <p:nvSpPr>
          <p:cNvPr id="389" name="Google Shape;389;p23"/>
          <p:cNvSpPr txBox="1"/>
          <p:nvPr/>
        </p:nvSpPr>
        <p:spPr>
          <a:xfrm>
            <a:off x="533400" y="6524625"/>
            <a:ext cx="1112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Applications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</a:t>
            </a: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lide 11     </a:t>
            </a:r>
            <a:endParaRPr/>
          </a:p>
        </p:txBody>
      </p:sp>
      <p:pic>
        <p:nvPicPr>
          <p:cNvPr descr="image.png" id="390" name="Google Shape;390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5313" y="9209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14425" y="3043912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3"/>
          <p:cNvSpPr txBox="1"/>
          <p:nvPr/>
        </p:nvSpPr>
        <p:spPr>
          <a:xfrm>
            <a:off x="1476750" y="2994775"/>
            <a:ext cx="191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Transportations</a:t>
            </a:r>
            <a:endParaRPr sz="2000"/>
          </a:p>
        </p:txBody>
      </p:sp>
      <p:pic>
        <p:nvPicPr>
          <p:cNvPr descr="image.png" id="393" name="Google Shape;393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77363" y="3043899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3"/>
          <p:cNvSpPr txBox="1"/>
          <p:nvPr/>
        </p:nvSpPr>
        <p:spPr>
          <a:xfrm>
            <a:off x="5496375" y="2994775"/>
            <a:ext cx="191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Bridges</a:t>
            </a:r>
            <a:endParaRPr sz="1900"/>
          </a:p>
        </p:txBody>
      </p:sp>
      <p:sp>
        <p:nvSpPr>
          <p:cNvPr id="395" name="Google Shape;395;p23"/>
          <p:cNvSpPr txBox="1"/>
          <p:nvPr/>
        </p:nvSpPr>
        <p:spPr>
          <a:xfrm>
            <a:off x="9516000" y="3016625"/>
            <a:ext cx="121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Agriculture</a:t>
            </a:r>
            <a:endParaRPr/>
          </a:p>
        </p:txBody>
      </p:sp>
      <p:pic>
        <p:nvPicPr>
          <p:cNvPr descr="image.png" id="396" name="Google Shape;396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85850" y="4166737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3"/>
          <p:cNvSpPr txBox="1"/>
          <p:nvPr/>
        </p:nvSpPr>
        <p:spPr>
          <a:xfrm>
            <a:off x="1476750" y="4117600"/>
            <a:ext cx="173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Industrial</a:t>
            </a:r>
            <a:endParaRPr sz="2000"/>
          </a:p>
        </p:txBody>
      </p:sp>
      <p:pic>
        <p:nvPicPr>
          <p:cNvPr descr="image.png" id="398" name="Google Shape;398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091663" y="416673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3"/>
          <p:cNvSpPr txBox="1"/>
          <p:nvPr/>
        </p:nvSpPr>
        <p:spPr>
          <a:xfrm>
            <a:off x="5496375" y="4094500"/>
            <a:ext cx="116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Tunnels</a:t>
            </a:r>
            <a:endParaRPr sz="2000"/>
          </a:p>
        </p:txBody>
      </p:sp>
      <p:sp>
        <p:nvSpPr>
          <p:cNvPr id="400" name="Google Shape;400;p23"/>
          <p:cNvSpPr txBox="1"/>
          <p:nvPr/>
        </p:nvSpPr>
        <p:spPr>
          <a:xfrm>
            <a:off x="9516000" y="4156000"/>
            <a:ext cx="133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Health</a:t>
            </a:r>
            <a:endParaRPr/>
          </a:p>
        </p:txBody>
      </p:sp>
      <p:sp>
        <p:nvSpPr>
          <p:cNvPr id="401" name="Google Shape;401;p23"/>
          <p:cNvSpPr txBox="1"/>
          <p:nvPr/>
        </p:nvSpPr>
        <p:spPr>
          <a:xfrm>
            <a:off x="8893975" y="6432375"/>
            <a:ext cx="577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Presented By Shafin Ahmed (232-15-184)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Vegetable, cabbage icon, Blue vector design is isolated on a white background (Provided by Getty Images)" id="402" name="Google Shape;402;p2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097475" y="3001675"/>
            <a:ext cx="294001" cy="294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eart Pulse Icon (Provided by Getty Images)" id="403" name="Google Shape;403;p2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9068913" y="4112963"/>
            <a:ext cx="317076" cy="31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8" name="Google Shape;4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537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571750"/>
            <a:ext cx="360670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2500" y="2571750"/>
            <a:ext cx="3606849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1750" y="2571750"/>
            <a:ext cx="360670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3848100"/>
            <a:ext cx="360670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2500" y="3848100"/>
            <a:ext cx="3606849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51750" y="3848100"/>
            <a:ext cx="3606700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4"/>
          <p:cNvSpPr txBox="1"/>
          <p:nvPr/>
        </p:nvSpPr>
        <p:spPr>
          <a:xfrm>
            <a:off x="1130700" y="942975"/>
            <a:ext cx="1106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Future Horizons &amp; Emerging Scope</a:t>
            </a:r>
            <a:endParaRPr/>
          </a:p>
        </p:txBody>
      </p:sp>
      <p:sp>
        <p:nvSpPr>
          <p:cNvPr id="416" name="Google Shape;416;p24"/>
          <p:cNvSpPr txBox="1"/>
          <p:nvPr/>
        </p:nvSpPr>
        <p:spPr>
          <a:xfrm>
            <a:off x="533400" y="6524625"/>
            <a:ext cx="11125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Future Work</a:t>
            </a: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12</a:t>
            </a:r>
            <a:endParaRPr/>
          </a:p>
        </p:txBody>
      </p:sp>
      <p:pic>
        <p:nvPicPr>
          <p:cNvPr descr="image.png" id="417" name="Google Shape;417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9429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4"/>
          <p:cNvSpPr txBox="1"/>
          <p:nvPr/>
        </p:nvSpPr>
        <p:spPr>
          <a:xfrm>
            <a:off x="733425" y="3095625"/>
            <a:ext cx="320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419" name="Google Shape;419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86425" y="309855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4"/>
          <p:cNvSpPr txBox="1"/>
          <p:nvPr/>
        </p:nvSpPr>
        <p:spPr>
          <a:xfrm>
            <a:off x="1752800" y="3078975"/>
            <a:ext cx="1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&amp; ML</a:t>
            </a:r>
            <a:endParaRPr/>
          </a:p>
        </p:txBody>
      </p:sp>
      <p:pic>
        <p:nvPicPr>
          <p:cNvPr descr="image.png" id="421" name="Google Shape;421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86525" y="308970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4"/>
          <p:cNvSpPr txBox="1"/>
          <p:nvPr/>
        </p:nvSpPr>
        <p:spPr>
          <a:xfrm>
            <a:off x="5834463" y="3078975"/>
            <a:ext cx="174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IoT </a:t>
            </a:r>
            <a:endParaRPr/>
          </a:p>
        </p:txBody>
      </p:sp>
      <p:pic>
        <p:nvPicPr>
          <p:cNvPr descr="image.png" id="423" name="Google Shape;423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72488" y="3098550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4"/>
          <p:cNvSpPr txBox="1"/>
          <p:nvPr/>
        </p:nvSpPr>
        <p:spPr>
          <a:xfrm>
            <a:off x="9510225" y="3078975"/>
            <a:ext cx="1631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Drones</a:t>
            </a:r>
            <a:endParaRPr/>
          </a:p>
        </p:txBody>
      </p:sp>
      <p:pic>
        <p:nvPicPr>
          <p:cNvPr descr="image.png" id="425" name="Google Shape;425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2138" y="4305300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4"/>
          <p:cNvSpPr txBox="1"/>
          <p:nvPr/>
        </p:nvSpPr>
        <p:spPr>
          <a:xfrm>
            <a:off x="1752800" y="4267200"/>
            <a:ext cx="122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Digital Twins</a:t>
            </a:r>
            <a:endParaRPr/>
          </a:p>
        </p:txBody>
      </p:sp>
      <p:pic>
        <p:nvPicPr>
          <p:cNvPr descr="image.png" id="427" name="Google Shape;427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78975" y="423510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4"/>
          <p:cNvSpPr txBox="1"/>
          <p:nvPr/>
        </p:nvSpPr>
        <p:spPr>
          <a:xfrm>
            <a:off x="5771175" y="4224375"/>
            <a:ext cx="174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 Control</a:t>
            </a:r>
            <a:endParaRPr/>
          </a:p>
        </p:txBody>
      </p:sp>
      <p:pic>
        <p:nvPicPr>
          <p:cNvPr descr="image.png" id="429" name="Google Shape;429;p2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886775" y="427792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4"/>
          <p:cNvSpPr txBox="1"/>
          <p:nvPr/>
        </p:nvSpPr>
        <p:spPr>
          <a:xfrm>
            <a:off x="9443775" y="4267200"/>
            <a:ext cx="1543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Sat-Comms</a:t>
            </a:r>
            <a:endParaRPr/>
          </a:p>
        </p:txBody>
      </p:sp>
      <p:sp>
        <p:nvSpPr>
          <p:cNvPr id="431" name="Google Shape;431;p24"/>
          <p:cNvSpPr txBox="1"/>
          <p:nvPr/>
        </p:nvSpPr>
        <p:spPr>
          <a:xfrm>
            <a:off x="28700" y="6395350"/>
            <a:ext cx="1162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Presented By Shafin Ahmed (232-15-184)</a:t>
            </a:r>
            <a:endParaRPr/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6" name="Google Shape;4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7" name="Google Shape;43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269912"/>
            <a:ext cx="11125200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5"/>
          <p:cNvSpPr txBox="1"/>
          <p:nvPr/>
        </p:nvSpPr>
        <p:spPr>
          <a:xfrm>
            <a:off x="1100700" y="953200"/>
            <a:ext cx="110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Summary &amp; Final Takeaway</a:t>
            </a:r>
            <a:endParaRPr/>
          </a:p>
        </p:txBody>
      </p:sp>
      <p:sp>
        <p:nvSpPr>
          <p:cNvPr id="439" name="Google Shape;439;p25"/>
          <p:cNvSpPr txBox="1"/>
          <p:nvPr/>
        </p:nvSpPr>
        <p:spPr>
          <a:xfrm>
            <a:off x="533400" y="6524625"/>
            <a:ext cx="11125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13</a:t>
            </a:r>
            <a:endParaRPr/>
          </a:p>
        </p:txBody>
      </p:sp>
      <p:pic>
        <p:nvPicPr>
          <p:cNvPr descr="image.png" id="440" name="Google Shape;44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909250"/>
            <a:ext cx="42862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5"/>
          <p:cNvSpPr txBox="1"/>
          <p:nvPr/>
        </p:nvSpPr>
        <p:spPr>
          <a:xfrm>
            <a:off x="465296" y="4481512"/>
            <a:ext cx="112614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Takeaway</a:t>
            </a:r>
            <a:endParaRPr/>
          </a:p>
        </p:txBody>
      </p:sp>
      <p:sp>
        <p:nvSpPr>
          <p:cNvPr id="442" name="Google Shape;442;p25"/>
          <p:cNvSpPr txBox="1"/>
          <p:nvPr/>
        </p:nvSpPr>
        <p:spPr>
          <a:xfrm>
            <a:off x="733425" y="4767262"/>
            <a:ext cx="1072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</a:t>
            </a:r>
            <a:r>
              <a:rPr b="1" i="0" lang="en-US" sz="13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ictional premonition           </a:t>
            </a:r>
            <a:r>
              <a:rPr b="1" lang="en-US" sz="13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</a:t>
            </a:r>
            <a:r>
              <a:rPr b="1" i="0" lang="en-US" sz="13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ife-saving reality </a:t>
            </a:r>
            <a:endParaRPr b="1"/>
          </a:p>
        </p:txBody>
      </p:sp>
      <p:sp>
        <p:nvSpPr>
          <p:cNvPr id="443" name="Google Shape;443;p25"/>
          <p:cNvSpPr/>
          <p:nvPr/>
        </p:nvSpPr>
        <p:spPr>
          <a:xfrm>
            <a:off x="533400" y="2319337"/>
            <a:ext cx="5448300" cy="771525"/>
          </a:xfrm>
          <a:prstGeom prst="roundRect">
            <a:avLst>
              <a:gd fmla="val 123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 txBox="1"/>
          <p:nvPr/>
        </p:nvSpPr>
        <p:spPr>
          <a:xfrm>
            <a:off x="2052675" y="2586475"/>
            <a:ext cx="39291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b="1" lang="en-US" sz="1475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Inspiration: </a:t>
            </a:r>
            <a:r>
              <a:rPr b="0" i="0" lang="en-US" sz="14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"Spider-Sense"</a:t>
            </a:r>
            <a:r>
              <a:rPr b="0" i="0" lang="en-US" sz="13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sz="1500"/>
          </a:p>
        </p:txBody>
      </p:sp>
      <p:sp>
        <p:nvSpPr>
          <p:cNvPr id="445" name="Google Shape;445;p25"/>
          <p:cNvSpPr/>
          <p:nvPr/>
        </p:nvSpPr>
        <p:spPr>
          <a:xfrm>
            <a:off x="533400" y="3205162"/>
            <a:ext cx="5448300" cy="771525"/>
          </a:xfrm>
          <a:prstGeom prst="roundRect">
            <a:avLst>
              <a:gd fmla="val 123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5"/>
          <p:cNvSpPr txBox="1"/>
          <p:nvPr/>
        </p:nvSpPr>
        <p:spPr>
          <a:xfrm>
            <a:off x="2052675" y="3482325"/>
            <a:ext cx="39663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</a:t>
            </a:r>
            <a:r>
              <a:rPr b="1" lang="en-US" sz="1475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</a:t>
            </a:r>
            <a:r>
              <a:rPr b="1" lang="en-US" sz="1475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Benefits</a:t>
            </a:r>
            <a:endParaRPr b="1" sz="1600"/>
          </a:p>
        </p:txBody>
      </p:sp>
      <p:sp>
        <p:nvSpPr>
          <p:cNvPr id="447" name="Google Shape;447;p25"/>
          <p:cNvSpPr/>
          <p:nvPr/>
        </p:nvSpPr>
        <p:spPr>
          <a:xfrm>
            <a:off x="6210300" y="2319337"/>
            <a:ext cx="5448300" cy="771525"/>
          </a:xfrm>
          <a:prstGeom prst="roundRect">
            <a:avLst>
              <a:gd fmla="val 123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 txBox="1"/>
          <p:nvPr/>
        </p:nvSpPr>
        <p:spPr>
          <a:xfrm>
            <a:off x="7738150" y="2586475"/>
            <a:ext cx="4044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</a:t>
            </a:r>
            <a:r>
              <a:rPr b="1" lang="en-US" sz="14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Integrated System</a:t>
            </a:r>
            <a:endParaRPr b="1" sz="145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6210300" y="3205162"/>
            <a:ext cx="5448300" cy="771525"/>
          </a:xfrm>
          <a:prstGeom prst="roundRect">
            <a:avLst>
              <a:gd fmla="val 123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5"/>
          <p:cNvSpPr txBox="1"/>
          <p:nvPr/>
        </p:nvSpPr>
        <p:spPr>
          <a:xfrm>
            <a:off x="8077801" y="3426100"/>
            <a:ext cx="37743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75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Future Vision </a:t>
            </a:r>
            <a:endParaRPr b="1" sz="1600"/>
          </a:p>
        </p:txBody>
      </p:sp>
      <p:sp>
        <p:nvSpPr>
          <p:cNvPr id="451" name="Google Shape;451;p25"/>
          <p:cNvSpPr/>
          <p:nvPr/>
        </p:nvSpPr>
        <p:spPr>
          <a:xfrm>
            <a:off x="533400" y="3081337"/>
            <a:ext cx="5448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/>
          <p:nvPr/>
        </p:nvSpPr>
        <p:spPr>
          <a:xfrm>
            <a:off x="533400" y="3967162"/>
            <a:ext cx="5448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5"/>
          <p:cNvSpPr/>
          <p:nvPr/>
        </p:nvSpPr>
        <p:spPr>
          <a:xfrm>
            <a:off x="6210300" y="3081337"/>
            <a:ext cx="5448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5"/>
          <p:cNvSpPr/>
          <p:nvPr/>
        </p:nvSpPr>
        <p:spPr>
          <a:xfrm>
            <a:off x="6210300" y="3967162"/>
            <a:ext cx="5448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55" name="Google Shape;45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44075" y="2603625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6" name="Google Shape;45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44075" y="3542575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7" name="Google Shape;45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38150" y="2637762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8" name="Google Shape;45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38150" y="3464625"/>
            <a:ext cx="1619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5"/>
          <p:cNvSpPr txBox="1"/>
          <p:nvPr/>
        </p:nvSpPr>
        <p:spPr>
          <a:xfrm>
            <a:off x="0" y="6391925"/>
            <a:ext cx="1165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Presented By Shafin Ahmed (232-15-184)</a:t>
            </a:r>
            <a:endParaRPr/>
          </a:p>
        </p:txBody>
      </p:sp>
      <p:sp>
        <p:nvSpPr>
          <p:cNvPr id="460" name="Google Shape;460;p25"/>
          <p:cNvSpPr/>
          <p:nvPr/>
        </p:nvSpPr>
        <p:spPr>
          <a:xfrm>
            <a:off x="6103600" y="4809100"/>
            <a:ext cx="162000" cy="12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5" name="Google Shape;46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6" name="Google Shape;46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4625" y="4200525"/>
            <a:ext cx="676275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6"/>
          <p:cNvSpPr txBox="1"/>
          <p:nvPr/>
        </p:nvSpPr>
        <p:spPr>
          <a:xfrm>
            <a:off x="533400" y="6524625"/>
            <a:ext cx="11125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Instrumentation and Control Presentation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14</a:t>
            </a:r>
            <a:endParaRPr/>
          </a:p>
        </p:txBody>
      </p:sp>
      <p:pic>
        <p:nvPicPr>
          <p:cNvPr descr="image.png" id="468" name="Google Shape;46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3018" y="2105025"/>
            <a:ext cx="1985962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6"/>
          <p:cNvSpPr txBox="1"/>
          <p:nvPr/>
        </p:nvSpPr>
        <p:spPr>
          <a:xfrm>
            <a:off x="2545556" y="2638425"/>
            <a:ext cx="710088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Questions &amp; Answers</a:t>
            </a:r>
            <a:endParaRPr/>
          </a:p>
        </p:txBody>
      </p:sp>
      <p:sp>
        <p:nvSpPr>
          <p:cNvPr id="470" name="Google Shape;470;p26"/>
          <p:cNvSpPr txBox="1"/>
          <p:nvPr/>
        </p:nvSpPr>
        <p:spPr>
          <a:xfrm>
            <a:off x="2714625" y="3514725"/>
            <a:ext cx="6762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 for Your Attention!</a:t>
            </a:r>
            <a:endParaRPr/>
          </a:p>
        </p:txBody>
      </p:sp>
      <p:sp>
        <p:nvSpPr>
          <p:cNvPr id="471" name="Google Shape;471;p26"/>
          <p:cNvSpPr txBox="1"/>
          <p:nvPr/>
        </p:nvSpPr>
        <p:spPr>
          <a:xfrm>
            <a:off x="3028950" y="4362450"/>
            <a:ext cx="613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Department of Computer Science and Engineering • Daffodil International University</a:t>
            </a:r>
            <a:endParaRPr/>
          </a:p>
        </p:txBody>
      </p:sp>
    </p:spTree>
  </p:cSld>
  <p:clrMapOvr>
    <a:masterClrMapping/>
  </p:clrMapOvr>
  <mc:AlternateContent>
    <mc:Choice Requires="p14">
      <p:transition p14:dur="400">
        <p:push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6" name="Google Shape;47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27"/>
          <p:cNvSpPr txBox="1"/>
          <p:nvPr/>
        </p:nvSpPr>
        <p:spPr>
          <a:xfrm>
            <a:off x="533400" y="419100"/>
            <a:ext cx="11658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Sources</a:t>
            </a:r>
            <a:endParaRPr/>
          </a:p>
        </p:txBody>
      </p:sp>
      <p:sp>
        <p:nvSpPr>
          <p:cNvPr id="478" name="Google Shape;478;p27"/>
          <p:cNvSpPr txBox="1"/>
          <p:nvPr/>
        </p:nvSpPr>
        <p:spPr>
          <a:xfrm>
            <a:off x="3667125" y="3498056"/>
            <a:ext cx="5953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https://share.gemini.google/PF5zOK4SySPp</a:t>
            </a:r>
            <a:endParaRPr/>
          </a:p>
        </p:txBody>
      </p:sp>
      <p:sp>
        <p:nvSpPr>
          <p:cNvPr id="479" name="Google Shape;479;p27"/>
          <p:cNvSpPr txBox="1"/>
          <p:nvPr/>
        </p:nvSpPr>
        <p:spPr>
          <a:xfrm>
            <a:off x="3667125" y="3731418"/>
            <a:ext cx="595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200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gemini.google.com</a:t>
            </a:r>
            <a:endParaRPr/>
          </a:p>
        </p:txBody>
      </p:sp>
      <p:pic>
        <p:nvPicPr>
          <p:cNvPr id="480" name="Google Shape;480;p27" title="Gemini_Generated_Image_onodskonodskono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1024" y="3311750"/>
            <a:ext cx="889900" cy="64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