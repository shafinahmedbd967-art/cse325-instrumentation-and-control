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8"/>
  </p:notesMasterIdLst>
  <p:sldIdLst>
    <p:sldId id="256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5" r:id="rId15"/>
    <p:sldId id="316" r:id="rId16"/>
    <p:sldId id="31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316" dt="2026-02-03T09:24:56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D047-9D67-BF90-BE7F-B40C4C02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7C351-7ED7-F4E6-157C-EFF41B769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BE4B4-8EE1-29F6-4E4C-6A3503F44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188A-8525-BF26-D515-53F8A5FC9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58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1AA0-2F52-37D2-39BC-A79C1E29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FD645-53BF-17BA-1AEA-CD38E4E5B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5FA3A-2436-6812-FE79-A826B919B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63111-61B9-C2E0-297E-136E342FC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27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D728-D0F1-9225-B77A-AF889A87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A65F3-BDFF-B214-7B41-3F33C870E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1E60D-92E1-7AFB-7D52-7745ED9CF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E32AD-B7F9-B3BA-BA6C-C8B21B67A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6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C93A3-0B00-8ECD-A9D7-8FF8923D3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6B3FF-BCD6-E9FE-C582-529FA952E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D719C-448E-EC39-E725-CC9476DF4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74D23-7249-1773-490A-C28A7F7C3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67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696A9-D6D1-2E95-E8A2-B1A9234F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8F8E3-23EC-CA93-B059-C105C20D6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83081-06E2-9597-D71F-D2003C4CA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A694B-4DCC-7C6B-C439-CDB43F119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7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7EFB-10F0-B9B0-BA47-4EF10096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62BF5-1EC7-D696-87C1-472777A0F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CCA17-CBE5-D540-2B1C-D1273940E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7DCC6-7BC1-7D8C-5B19-837E11D976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54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EBDE-EA90-54A6-C035-B2DA028E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75FEA-0560-E3C0-6295-38DEC6F36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1D9BB-56E1-A6DB-928E-1C6C491E9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0712-F284-81B4-5A08-0DD5DD95A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48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689F1-6CE7-DC5D-E167-0E03852CE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1E2AD-901D-E136-5841-E9FD9A171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0BE17-8D24-0CA1-C667-8AB651008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E3330-0301-07A3-2E8C-3DE14C584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3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4B96E-B703-EC8E-467E-2623CA93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B2E69-9F3C-2802-AFAC-D59E4A36C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398CC-D0DE-3CBB-08FC-99A7E243A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C3A13-05F0-3CF0-948C-95EA675E8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67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A673-FB8E-5001-6292-AFFC8EC3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986C0-5C05-F256-801E-F1D6E0DB6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A1446-3F4A-85C3-02F7-720E3BA11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6ED49-D42E-0E6E-0D41-3B75BB8EE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88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2CAC-5C6E-A8A1-A2B7-4EFF6183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5A668-9ED3-AF0B-E9CE-F91CBC48A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3774E-04C6-9C4B-62C6-128877EA3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3A068-4F50-4079-6D92-B0EF619AB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84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E0FF-E2DD-AF69-F2C0-BAA666AE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88877-9523-8D73-6F61-134249118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EA87B-FB2E-37DC-F7AB-5E8F43AE4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9AE6C-EB55-E89A-0B7D-90BF70681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2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-9919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Mehedi Hasan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8930E5-E1D5-5EDA-BFCD-5BFD05AB6B85}"/>
              </a:ext>
            </a:extLst>
          </p:cNvPr>
          <p:cNvSpPr txBox="1"/>
          <p:nvPr/>
        </p:nvSpPr>
        <p:spPr>
          <a:xfrm>
            <a:off x="5128592" y="1556112"/>
            <a:ext cx="6102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Still climbing after knowledge infinite, And always moving as the restless spheres</a:t>
            </a:r>
          </a:p>
          <a:p>
            <a:r>
              <a:rPr lang="en-US" dirty="0">
                <a:solidFill>
                  <a:schemeClr val="bg1"/>
                </a:solidFill>
              </a:rPr>
              <a:t>-Tamburlaine The Great by Christopher Marlowe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E366-0B5C-00B4-6404-37219673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7E745-1CC0-BD52-0F01-6A87A99B6853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 Transfer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7460A-6C0C-D8C2-9E0F-BB695249AF0C}"/>
              </a:ext>
            </a:extLst>
          </p:cNvPr>
          <p:cNvSpPr txBox="1"/>
          <p:nvPr/>
        </p:nvSpPr>
        <p:spPr>
          <a:xfrm>
            <a:off x="320149" y="1367135"/>
            <a:ext cx="11316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transfer function</a:t>
            </a:r>
            <a:r>
              <a:rPr lang="en-US" sz="2000" dirty="0"/>
              <a:t> is a mathematical way to describe how a </a:t>
            </a:r>
            <a:r>
              <a:rPr lang="en-US" sz="2000" b="1" dirty="0"/>
              <a:t>control system</a:t>
            </a:r>
            <a:r>
              <a:rPr lang="en-US" sz="2000" dirty="0"/>
              <a:t> transforms an input into an output.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588EAA-B028-7567-5E7B-BE5551697987}"/>
                  </a:ext>
                </a:extLst>
              </p:cNvPr>
              <p:cNvSpPr txBox="1"/>
              <p:nvPr/>
            </p:nvSpPr>
            <p:spPr>
              <a:xfrm>
                <a:off x="320149" y="2124957"/>
                <a:ext cx="11316680" cy="2887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Definition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In control systems, the </a:t>
                </a:r>
                <a:r>
                  <a:rPr lang="en-US" sz="2000" b="1" dirty="0">
                    <a:latin typeface="+mj-lt"/>
                  </a:rPr>
                  <a:t>transfer function</a:t>
                </a:r>
                <a:r>
                  <a:rPr lang="en-US" sz="2000" dirty="0">
                    <a:latin typeface="+mj-lt"/>
                  </a:rPr>
                  <a:t> is defined 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dirty="0">
                    <a:latin typeface="+mj-lt"/>
                  </a:rPr>
                  <a:t>= </a:t>
                </a:r>
                <a:r>
                  <a:rPr lang="en-US" sz="2000" dirty="0">
                    <a:latin typeface="+mj-lt"/>
                  </a:rPr>
                  <a:t>Laplace transform of the output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dirty="0">
                    <a:latin typeface="+mj-lt"/>
                  </a:rPr>
                  <a:t>= </a:t>
                </a:r>
                <a:r>
                  <a:rPr lang="en-US" sz="2000" dirty="0">
                    <a:latin typeface="+mj-lt"/>
                  </a:rPr>
                  <a:t>Laplace transform of the input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latin typeface="+mj-lt"/>
                  </a:rPr>
                  <a:t>= complex frequency variable</a:t>
                </a:r>
                <a:br>
                  <a:rPr lang="en-US" sz="2000" dirty="0">
                    <a:latin typeface="+mj-lt"/>
                  </a:rPr>
                </a:br>
                <a:r>
                  <a:rPr lang="en-US" sz="2000" dirty="0">
                    <a:latin typeface="+mj-lt"/>
                  </a:rPr>
                  <a:t>(assuming </a:t>
                </a:r>
                <a:r>
                  <a:rPr lang="en-US" sz="2000" b="1" dirty="0">
                    <a:latin typeface="+mj-lt"/>
                  </a:rPr>
                  <a:t>zero initial conditions</a:t>
                </a:r>
                <a:r>
                  <a:rPr lang="en-US" sz="2000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588EAA-B028-7567-5E7B-BE555169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2124957"/>
                <a:ext cx="11316680" cy="2887585"/>
              </a:xfrm>
              <a:prstGeom prst="rect">
                <a:avLst/>
              </a:prstGeom>
              <a:blipFill>
                <a:blip r:embed="rId3"/>
                <a:stretch>
                  <a:fillRect l="-593" t="-1268" b="-2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419F486-3DDF-8A70-4E22-D7E596C6A173}"/>
              </a:ext>
            </a:extLst>
          </p:cNvPr>
          <p:cNvSpPr txBox="1"/>
          <p:nvPr/>
        </p:nvSpPr>
        <p:spPr>
          <a:xfrm>
            <a:off x="5775850" y="356874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Knowledge that you have to remember:</a:t>
            </a:r>
          </a:p>
          <a:p>
            <a:r>
              <a:rPr lang="en-US" dirty="0"/>
              <a:t>Laplace Transform of Differentiation</a:t>
            </a:r>
          </a:p>
          <a:p>
            <a:r>
              <a:rPr lang="en-US" dirty="0"/>
              <a:t>If  L{f(t)} = F(s)</a:t>
            </a:r>
          </a:p>
          <a:p>
            <a:r>
              <a:rPr lang="en-US" dirty="0"/>
              <a:t>First derivative:   L{ </a:t>
            </a:r>
            <a:r>
              <a:rPr lang="en-US" dirty="0" err="1"/>
              <a:t>df</a:t>
            </a:r>
            <a:r>
              <a:rPr lang="en-US" dirty="0"/>
              <a:t>(t)/dt } = </a:t>
            </a:r>
            <a:r>
              <a:rPr lang="en-US" dirty="0" err="1"/>
              <a:t>sF</a:t>
            </a:r>
            <a:r>
              <a:rPr lang="en-US" dirty="0"/>
              <a:t>(s) − f(0)2) </a:t>
            </a:r>
          </a:p>
          <a:p>
            <a:r>
              <a:rPr lang="en-US" dirty="0"/>
              <a:t>Second derivative:  L{ d²f(t)/dt² } = s²F(s) − s f(0) − f’(0)</a:t>
            </a:r>
          </a:p>
          <a:p>
            <a:r>
              <a:rPr lang="en-US" dirty="0"/>
              <a:t> nth derivative:  L{ dⁿf(t)/dtⁿ } = sⁿF(s) − sⁿ⁻¹ f(0) − sⁿ⁻² f'(0) − ... − f⁽ⁿ⁻¹⁾(0)</a:t>
            </a:r>
          </a:p>
          <a:p>
            <a:endParaRPr lang="en-US" dirty="0"/>
          </a:p>
          <a:p>
            <a:r>
              <a:rPr lang="en-US" dirty="0"/>
              <a:t>Under zero initial conditions:   L{ </a:t>
            </a:r>
            <a:r>
              <a:rPr lang="en-US" dirty="0" err="1"/>
              <a:t>df</a:t>
            </a:r>
            <a:r>
              <a:rPr lang="en-US" dirty="0"/>
              <a:t>(t)/dt } = </a:t>
            </a:r>
            <a:r>
              <a:rPr lang="en-US" dirty="0" err="1"/>
              <a:t>sF</a:t>
            </a:r>
            <a:r>
              <a:rPr lang="en-US" dirty="0"/>
              <a:t>(s)   </a:t>
            </a:r>
          </a:p>
          <a:p>
            <a:r>
              <a:rPr lang="en-US" dirty="0"/>
              <a:t>                                                          L{ d²f(t)/dt² } = s²F(s)   </a:t>
            </a:r>
          </a:p>
          <a:p>
            <a:r>
              <a:rPr lang="en-US" dirty="0"/>
              <a:t>                                                          L{ dⁿf(t)/dtⁿ } = sⁿF(s)</a:t>
            </a:r>
          </a:p>
        </p:txBody>
      </p:sp>
    </p:spTree>
    <p:extLst>
      <p:ext uri="{BB962C8B-B14F-4D97-AF65-F5344CB8AC3E}">
        <p14:creationId xmlns:p14="http://schemas.microsoft.com/office/powerpoint/2010/main" val="168945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B02A-820B-214D-674E-F7E22F82F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B6297A-4ADF-EF91-793F-095DA565FE6A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 Transfer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69C00-8054-20C6-5658-E20955F7EE34}"/>
                  </a:ext>
                </a:extLst>
              </p:cNvPr>
              <p:cNvSpPr txBox="1"/>
              <p:nvPr/>
            </p:nvSpPr>
            <p:spPr>
              <a:xfrm>
                <a:off x="320149" y="1367135"/>
                <a:ext cx="11316680" cy="4679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dirty="0">
                    <a:solidFill>
                      <a:srgbClr val="0F1115"/>
                    </a:solidFill>
                  </a:rPr>
                  <a:t>Derivation of the Transfer Function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rgbClr val="0F1115"/>
                    </a:solidFill>
                  </a:rPr>
                  <a:t>A general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err="1">
                    <a:solidFill>
                      <a:srgbClr val="0F1115"/>
                    </a:solidFill>
                  </a:rPr>
                  <a:t>th</a:t>
                </a:r>
                <a:r>
                  <a:rPr lang="en-US" dirty="0">
                    <a:solidFill>
                      <a:srgbClr val="0F1115"/>
                    </a:solidFill>
                  </a:rPr>
                  <a:t>-order linear time-invariant differential equation: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rgbClr val="0F1115"/>
                    </a:solidFill>
                  </a:rPr>
                  <a:t>where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solidFill>
                      <a:srgbClr val="0F1115"/>
                    </a:solidFill>
                  </a:rPr>
                  <a:t> </a:t>
                </a:r>
                <a:r>
                  <a:rPr lang="en-US" dirty="0">
                    <a:solidFill>
                      <a:srgbClr val="0F1115"/>
                    </a:solidFill>
                  </a:rPr>
                  <a:t>is the output,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solidFill>
                      <a:srgbClr val="0F1115"/>
                    </a:solidFill>
                  </a:rPr>
                  <a:t> </a:t>
                </a:r>
                <a:r>
                  <a:rPr lang="en-US" dirty="0">
                    <a:solidFill>
                      <a:srgbClr val="0F1115"/>
                    </a:solidFill>
                  </a:rPr>
                  <a:t>is the input, and the coefficients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rgbClr val="0F1115"/>
                    </a:solidFill>
                  </a:rPr>
                  <a:t> </a:t>
                </a:r>
                <a:r>
                  <a:rPr lang="en-US" dirty="0">
                    <a:solidFill>
                      <a:srgbClr val="0F1115"/>
                    </a:solidFill>
                  </a:rPr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rgbClr val="0F1115"/>
                    </a:solidFill>
                  </a:rPr>
                  <a:t> </a:t>
                </a:r>
                <a:r>
                  <a:rPr lang="en-US" dirty="0">
                    <a:solidFill>
                      <a:srgbClr val="0F1115"/>
                    </a:solidFill>
                  </a:rPr>
                  <a:t>describe the system.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rgbClr val="0F1115"/>
                    </a:solidFill>
                  </a:rPr>
                  <a:t>Taking the Laplace transform of both sides yields: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ar-AE" i="1"/>
                        <m:t>(</m:t>
                      </m:r>
                      <m:r>
                        <m:rPr>
                          <m:nor/>
                        </m:rPr>
                        <a:rPr lang="en-US" i="1"/>
                        <m:t>initial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condition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terms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for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)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initial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condition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terms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for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ar-AE" i="1"/>
                              <m:t>)</m:t>
                            </m:r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rgbClr val="0F1115"/>
                    </a:solidFill>
                  </a:rPr>
                  <a:t>This is an algebraic equation in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rgbClr val="0F1115"/>
                    </a:solidFill>
                  </a:rPr>
                  <a:t>. Assuming </a:t>
                </a:r>
                <a:r>
                  <a:rPr lang="en-US" b="1" dirty="0">
                    <a:solidFill>
                      <a:srgbClr val="0F1115"/>
                    </a:solidFill>
                  </a:rPr>
                  <a:t>all initial conditions are zero</a:t>
                </a:r>
                <a:r>
                  <a:rPr lang="en-US" dirty="0">
                    <a:solidFill>
                      <a:srgbClr val="0F1115"/>
                    </a:solidFill>
                  </a:rPr>
                  <a:t>, Eq. (2.51) simplifies to: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69C00-8054-20C6-5658-E20955F7E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367135"/>
                <a:ext cx="11316680" cy="4679423"/>
              </a:xfrm>
              <a:prstGeom prst="rect">
                <a:avLst/>
              </a:prstGeom>
              <a:blipFill>
                <a:blip r:embed="rId3"/>
                <a:stretch>
                  <a:fillRect l="-485" t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70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A31ED-A313-97C0-F7EF-0D5BAABD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76DE07-DD70-C5A6-32B4-16093AA24A14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 Transfer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4A7132-1DD3-A823-9105-4CF261C51D1E}"/>
                  </a:ext>
                </a:extLst>
              </p:cNvPr>
              <p:cNvSpPr txBox="1"/>
              <p:nvPr/>
            </p:nvSpPr>
            <p:spPr>
              <a:xfrm>
                <a:off x="446313" y="1601958"/>
                <a:ext cx="11425537" cy="2146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Cambria Math" panose="02040503050406030204" pitchFamily="18" charset="0"/>
                  </a:rPr>
                  <a:t>Transfer Function: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sz="2000" b="0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This expression separates the output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,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the input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,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and the system itself, represented by the rational function in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 This ratio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is called the </a:t>
                </a: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transfer function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of the system, defined under </a:t>
                </a: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zero initial conditions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4A7132-1DD3-A823-9105-4CF261C51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13" y="1601958"/>
                <a:ext cx="11425537" cy="2146485"/>
              </a:xfrm>
              <a:prstGeom prst="rect">
                <a:avLst/>
              </a:prstGeom>
              <a:blipFill>
                <a:blip r:embed="rId3"/>
                <a:stretch>
                  <a:fillRect l="-534" t="-1705" r="-640" b="-4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B86CD47-7F72-958F-610B-AE9557C6F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440" y="3508957"/>
            <a:ext cx="5154235" cy="1052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07AABB-C48B-A342-2F88-EDB4331FB0ED}"/>
              </a:ext>
            </a:extLst>
          </p:cNvPr>
          <p:cNvSpPr txBox="1"/>
          <p:nvPr/>
        </p:nvSpPr>
        <p:spPr>
          <a:xfrm>
            <a:off x="654440" y="507137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output, C(s) by using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073837-762D-0747-A3EC-74AA79CC1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304" y="5271431"/>
            <a:ext cx="2441153" cy="8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6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798A-FEFA-A9D9-F962-0FBA2129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954E1C-977B-4A0B-AF72-43726B1AA4F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Important terms and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A80433-2CF5-A18D-A06C-E815D3B80C54}"/>
                  </a:ext>
                </a:extLst>
              </p:cNvPr>
              <p:cNvSpPr txBox="1"/>
              <p:nvPr/>
            </p:nvSpPr>
            <p:spPr>
              <a:xfrm>
                <a:off x="320149" y="1336119"/>
                <a:ext cx="11551700" cy="6313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PROCEDURE</a:t>
                </a:r>
                <a:endParaRPr lang="en-US" sz="2000" dirty="0">
                  <a:solidFill>
                    <a:srgbClr val="0F1115"/>
                  </a:solidFill>
                  <a:latin typeface="+mj-lt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The following steps are involved to obtain the transfer function of the given system.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Step 1: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Write the differential equations for the given system.</a:t>
                </a:r>
                <a:b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</a:b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Step 2: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Take the </a:t>
                </a:r>
                <a:r>
                  <a:rPr lang="en-US" sz="2000" b="0" i="0" dirty="0">
                    <a:solidFill>
                      <a:srgbClr val="FF0000"/>
                    </a:solidFill>
                    <a:effectLst/>
                    <a:latin typeface="+mj-lt"/>
                  </a:rPr>
                  <a:t>Laplace transform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of the equations obtained in Step 1, assuming </a:t>
                </a:r>
                <a:r>
                  <a:rPr lang="en-US" sz="2000" b="0" i="0" dirty="0">
                    <a:solidFill>
                      <a:srgbClr val="FF0000"/>
                    </a:solidFill>
                    <a:effectLst/>
                    <a:latin typeface="+mj-lt"/>
                  </a:rPr>
                  <a:t>all initial conditions are zero.</a:t>
                </a:r>
                <a:b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</a:b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Step 3: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Take the </a:t>
                </a:r>
                <a:r>
                  <a:rPr lang="en-US" sz="2000" b="0" i="0" dirty="0">
                    <a:solidFill>
                      <a:srgbClr val="FF0000"/>
                    </a:solidFill>
                    <a:effectLst/>
                    <a:latin typeface="+mj-lt"/>
                  </a:rPr>
                  <a:t>ratio of the transformed output to the input.</a:t>
                </a:r>
                <a:br>
                  <a:rPr lang="en-US" sz="2000" b="0" i="0" dirty="0">
                    <a:solidFill>
                      <a:srgbClr val="FF0000"/>
                    </a:solidFill>
                    <a:effectLst/>
                    <a:latin typeface="+mj-lt"/>
                  </a:rPr>
                </a:b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Step 4: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The ratio of the transformed output to the input obtained in Step 3 is the required transfer function of the given system.</a:t>
                </a:r>
                <a:endParaRPr lang="en-US" sz="2000" dirty="0">
                  <a:solidFill>
                    <a:srgbClr val="0F1115"/>
                  </a:solidFill>
                  <a:latin typeface="+mj-lt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1" dirty="0"/>
                  <a:t>CHARACTERISTIC EQUATION OF A TRANSFER FUNCTION</a:t>
                </a:r>
              </a:p>
              <a:p>
                <a:r>
                  <a:rPr lang="en-US" sz="2000" dirty="0">
                    <a:latin typeface="+mj-lt"/>
                  </a:rPr>
                  <a:t>The characteristic equation of a linear system can be obtained by equating the denominator polynomial of the transfer function to zero. Thus, the characteristic equation of the transfer function will be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lang="en-US" sz="2000" b="0" i="0" dirty="0">
                  <a:solidFill>
                    <a:srgbClr val="0F1115"/>
                  </a:solidFill>
                  <a:effectLst/>
                  <a:latin typeface="+mj-lt"/>
                </a:endParaRP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A80433-2CF5-A18D-A06C-E815D3B80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336119"/>
                <a:ext cx="11551700" cy="6313331"/>
              </a:xfrm>
              <a:prstGeom prst="rect">
                <a:avLst/>
              </a:prstGeom>
              <a:blipFill>
                <a:blip r:embed="rId3"/>
                <a:stretch>
                  <a:fillRect l="-581" t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52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BC143-88A4-4527-9E75-B03C4E03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AFA15A-DB5E-14FC-B7F9-45CAD1695C9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Poles and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92BCBA-0D4B-2510-DA95-236ADFD7FDB8}"/>
                  </a:ext>
                </a:extLst>
              </p:cNvPr>
              <p:cNvSpPr txBox="1"/>
              <p:nvPr/>
            </p:nvSpPr>
            <p:spPr>
              <a:xfrm>
                <a:off x="320148" y="1194773"/>
                <a:ext cx="11551701" cy="6189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1" dirty="0">
                    <a:effectLst/>
                  </a:rPr>
                  <a:t>POLES AND ZEROS OF A TRANSFER FUNCTION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The numerator and denominator can be factored into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effectLst/>
                  </a:rPr>
                  <a:t> and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</a:rPr>
                  <a:t> terms respectively. Then the transfer function can be expressed as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𝐵𝑠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where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is known as the </a:t>
                </a:r>
                <a:r>
                  <a:rPr lang="en-US" b="1" dirty="0">
                    <a:effectLst/>
                  </a:rPr>
                  <a:t>gain factor</a:t>
                </a:r>
                <a:r>
                  <a:rPr lang="en-US" dirty="0">
                    <a:effectLst/>
                  </a:rPr>
                  <a:t>, and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effectLst/>
                  </a:rPr>
                  <a:t> is the complex frequency.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1" dirty="0">
                    <a:effectLst/>
                  </a:rPr>
                  <a:t>POLES:</a:t>
                </a:r>
                <a:r>
                  <a:rPr lang="en-US" dirty="0">
                    <a:effectLst/>
                  </a:rPr>
                  <a:t> The poles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are those values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effectLst/>
                  </a:rPr>
                  <a:t> that make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tend to infinity. For example, we have poles at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 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and a pair of poles at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𝐴𝐶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1" dirty="0">
                    <a:effectLst/>
                  </a:rPr>
                  <a:t>ZEROS:</a:t>
                </a:r>
                <a:r>
                  <a:rPr lang="en-US" dirty="0">
                    <a:effectLst/>
                  </a:rPr>
                  <a:t> The zeros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are those values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effectLst/>
                  </a:rPr>
                  <a:t> that make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tend to zero. For example</a:t>
                </a:r>
                <a:r>
                  <a:rPr lang="en-US" dirty="0"/>
                  <a:t>, </a:t>
                </a:r>
                <a:r>
                  <a:rPr lang="en-US" dirty="0">
                    <a:effectLst/>
                  </a:rPr>
                  <a:t>we have zeros 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and a pair of zeros at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br>
                  <a:rPr lang="ar-AE" b="0" i="0" dirty="0">
                    <a:solidFill>
                      <a:srgbClr val="0F1115"/>
                    </a:solidFill>
                    <a:effectLst/>
                    <a:latin typeface="KaTeX_Main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92BCBA-0D4B-2510-DA95-236ADFD7F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194773"/>
                <a:ext cx="11551701" cy="6189836"/>
              </a:xfrm>
              <a:prstGeom prst="rect">
                <a:avLst/>
              </a:prstGeom>
              <a:blipFill>
                <a:blip r:embed="rId3"/>
                <a:stretch>
                  <a:fillRect l="-475" t="-493" r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117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34C7-8E7F-FA05-FC8C-99C18DA6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E9ABE8-612E-C5BC-6CBE-A265FAA8A0DD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0AA1D5-E896-3925-99FB-700ED2426666}"/>
                  </a:ext>
                </a:extLst>
              </p:cNvPr>
              <p:cNvSpPr txBox="1"/>
              <p:nvPr/>
            </p:nvSpPr>
            <p:spPr>
              <a:xfrm>
                <a:off x="320148" y="1303630"/>
                <a:ext cx="11551701" cy="5609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PROBLEM 01: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Find the transfer function,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,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corresponding to the differential equation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3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7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4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𝑑𝑟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ANSWER:</a:t>
                </a:r>
                <a:endParaRPr lang="en-US" sz="2000" b="0" i="0" dirty="0">
                  <a:solidFill>
                    <a:srgbClr val="0F1115"/>
                  </a:solidFill>
                  <a:effectLst/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+mj-lt"/>
                </a:endParaRPr>
              </a:p>
              <a:p>
                <a:endParaRPr lang="en-US" b="1" dirty="0"/>
              </a:p>
              <a:p>
                <a:r>
                  <a:rPr lang="en-US" sz="2000" b="1" dirty="0">
                    <a:latin typeface="+mj-lt"/>
                  </a:rPr>
                  <a:t>PROBLEM 02:</a:t>
                </a:r>
                <a:r>
                  <a:rPr lang="en-US" sz="2000" dirty="0">
                    <a:latin typeface="+mj-lt"/>
                  </a:rPr>
                  <a:t> Find the differential equation corresponding to the transfer function,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ANSWER:</a:t>
                </a:r>
                <a:endParaRPr lang="en-US" sz="20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6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𝑑𝑟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br>
                  <a:rPr lang="ar-AE" dirty="0"/>
                </a:b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0AA1D5-E896-3925-99FB-700ED24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03630"/>
                <a:ext cx="11551701" cy="5609613"/>
              </a:xfrm>
              <a:prstGeom prst="rect">
                <a:avLst/>
              </a:prstGeom>
              <a:blipFill>
                <a:blip r:embed="rId3"/>
                <a:stretch>
                  <a:fillRect l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037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B6C7-2838-0341-1328-1AB87105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0430CF-C921-F8AA-35D9-EDC160AB4350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3C84A9-0ED8-791E-67CD-CEDF30CDE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8" y="1402387"/>
            <a:ext cx="11551701" cy="375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6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4665E-4495-074D-3907-E3BDB077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C71537-BCA2-0A47-1C4A-5EE1A689B2C3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B7CE7-71D7-E0AD-162C-2B8C3AB12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882" y="1458660"/>
            <a:ext cx="4005308" cy="2209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E5B750-9794-8600-C761-9020B6B88EFB}"/>
              </a:ext>
            </a:extLst>
          </p:cNvPr>
          <p:cNvSpPr txBox="1"/>
          <p:nvPr/>
        </p:nvSpPr>
        <p:spPr>
          <a:xfrm>
            <a:off x="195943" y="1334478"/>
            <a:ext cx="767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PROBLEM: </a:t>
            </a:r>
            <a:r>
              <a:rPr lang="en-US" sz="2000" dirty="0"/>
              <a:t>Find the transfer function relating the capacitor voltage , V</a:t>
            </a:r>
            <a:r>
              <a:rPr lang="en-US" sz="2000" baseline="-25000" dirty="0"/>
              <a:t>C</a:t>
            </a:r>
            <a:r>
              <a:rPr lang="en-US" sz="2000" dirty="0"/>
              <a:t>(s), to the input voltage, V(s) in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8CA379-0B1A-9C09-B384-F5B6B97D7334}"/>
                  </a:ext>
                </a:extLst>
              </p:cNvPr>
              <p:cNvSpPr txBox="1"/>
              <p:nvPr/>
            </p:nvSpPr>
            <p:spPr>
              <a:xfrm>
                <a:off x="195943" y="2182069"/>
                <a:ext cx="7585940" cy="5116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Applying KVL, Summing the voltages around the loop, assuming zero initial conditions, yields the equation for this network as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𝑅𝑖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  <m:nary>
                              <m:naryPr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Changing variables from current to charge using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𝑑𝑞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yields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𝑑𝑞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From the voltage-charge relationship for a capacitor in Table 2.3,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Substituting Eq. (2.63) into Eq. (2.62) yields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br>
                  <a:rPr lang="ar-AE" dirty="0"/>
                </a:br>
                <a:endParaRPr lang="en-US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8CA379-0B1A-9C09-B384-F5B6B97D7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43" y="2182069"/>
                <a:ext cx="7585940" cy="5116529"/>
              </a:xfrm>
              <a:prstGeom prst="rect">
                <a:avLst/>
              </a:prstGeom>
              <a:blipFill>
                <a:blip r:embed="rId4"/>
                <a:stretch>
                  <a:fillRect l="-643" t="-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18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F221D-8622-5538-509D-6E1F69DC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F92E05-6A2E-8C63-2035-CA66708605F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C8C69-ADB1-ABC9-C6DD-9FCF89BCE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882" y="1458660"/>
            <a:ext cx="4005308" cy="2209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E05715-DEE8-3C15-7860-64002D07E5F6}"/>
                  </a:ext>
                </a:extLst>
              </p:cNvPr>
              <p:cNvSpPr txBox="1"/>
              <p:nvPr/>
            </p:nvSpPr>
            <p:spPr>
              <a:xfrm>
                <a:off x="320149" y="1334478"/>
                <a:ext cx="7585940" cy="2977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Taking the Laplace transform assuming zero initial conditions, rearranging terms, and simplifying yields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𝐿𝐶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𝑅𝐶𝑠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Solving for the transfer function,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, 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we obtain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𝐿𝐶</m:t>
                          </m:r>
                        </m:num>
                        <m:den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where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is the Laplace transform of the input voltage, 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is the Laplace transform of the output voltage</a:t>
                </a:r>
                <a:r>
                  <a:rPr lang="en-US" dirty="0">
                    <a:solidFill>
                      <a:srgbClr val="0F1115"/>
                    </a:solidFill>
                    <a:latin typeface="quote-cjk-patch"/>
                  </a:rPr>
                  <a:t> across the capacitor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E05715-DEE8-3C15-7860-64002D07E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334478"/>
                <a:ext cx="7585940" cy="2977033"/>
              </a:xfrm>
              <a:prstGeom prst="rect">
                <a:avLst/>
              </a:prstGeom>
              <a:blipFill>
                <a:blip r:embed="rId4"/>
                <a:stretch>
                  <a:fillRect l="-723" t="-1230" b="-2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00BDF26-5332-B7E0-082D-A8DB21687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435" y="4580349"/>
            <a:ext cx="2787736" cy="11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5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D0F1-3B39-F937-A065-41E25AD7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B31EF7-FCD0-2E48-5121-38A7194486C9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86421-A887-C7B2-E46D-8D5EE68EC731}"/>
              </a:ext>
            </a:extLst>
          </p:cNvPr>
          <p:cNvSpPr txBox="1"/>
          <p:nvPr/>
        </p:nvSpPr>
        <p:spPr>
          <a:xfrm>
            <a:off x="320148" y="1350220"/>
            <a:ext cx="68644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Problem: Find the transfer function of the given network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70CC6B-3785-7775-AC6E-AAB4C480AC4B}"/>
                  </a:ext>
                </a:extLst>
              </p:cNvPr>
              <p:cNvSpPr txBox="1"/>
              <p:nvPr/>
            </p:nvSpPr>
            <p:spPr>
              <a:xfrm>
                <a:off x="320149" y="1750330"/>
                <a:ext cx="11381994" cy="5575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Apply KVL in mesh (1)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𝑅𝑖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Apply KVL in mesh (2)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br>
                  <a:rPr lang="ar-AE" dirty="0"/>
                </a:br>
                <a:endParaRPr lang="ar-AE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Take Laplace transform of equations with the assumption that all initial conditions are zero.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𝑅𝐼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𝑠𝐿𝐼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𝑠𝐿𝐼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US" dirty="0">
                    <a:effectLst/>
                  </a:rPr>
                  <a:t>Calculation of transfer function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𝑠𝐿𝐼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𝑠𝐿</m:t>
                              </m:r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𝑠𝐿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𝑠𝐿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br>
                  <a:rPr lang="ar-AE" b="0" i="0" dirty="0">
                    <a:solidFill>
                      <a:srgbClr val="0F1115"/>
                    </a:solidFill>
                    <a:effectLst/>
                    <a:latin typeface="KaTeX_Main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70CC6B-3785-7775-AC6E-AAB4C480A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750330"/>
                <a:ext cx="11381994" cy="5575372"/>
              </a:xfrm>
              <a:prstGeom prst="rect">
                <a:avLst/>
              </a:prstGeom>
              <a:blipFill>
                <a:blip r:embed="rId3"/>
                <a:stretch>
                  <a:fillRect l="-482" t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80C4B6B-9627-A485-CF3B-A65EDB355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423" y="1404649"/>
            <a:ext cx="3804805" cy="202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92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D0157-AB45-4D20-9510-78E6AEBF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6A75F5-BBEC-AA74-DBC5-C8B85356B4EF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319331-9EF6-4521-AA13-48613F67C7E7}"/>
                  </a:ext>
                </a:extLst>
              </p:cNvPr>
              <p:cNvSpPr txBox="1"/>
              <p:nvPr/>
            </p:nvSpPr>
            <p:spPr>
              <a:xfrm>
                <a:off x="320148" y="1350220"/>
                <a:ext cx="6864423" cy="5824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Problem: </a:t>
                </a:r>
                <a:r>
                  <a:rPr lang="en-US" sz="2000" dirty="0"/>
                  <a:t>Obtain the transfer function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r>
                  <a:rPr lang="ar-AE" sz="2000" dirty="0"/>
                  <a:t> </a:t>
                </a:r>
                <a:r>
                  <a:rPr lang="en-US" sz="2000" dirty="0"/>
                  <a:t>for fig.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Answer: </a:t>
                </a:r>
                <a:endParaRPr lang="en-US" sz="2000" dirty="0">
                  <a:effectLst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𝐶𝑠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𝐶𝑠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br>
                  <a:rPr lang="ar-AE" sz="2000" dirty="0"/>
                </a:b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>
                    <a:solidFill>
                      <a:srgbClr val="0F1115"/>
                    </a:solidFill>
                  </a:rPr>
                  <a:t>Problem: Find the transfer function of the given network</a:t>
                </a:r>
              </a:p>
              <a:p>
                <a:endParaRPr lang="en-US" sz="2000" dirty="0">
                  <a:solidFill>
                    <a:srgbClr val="0F1115"/>
                  </a:solidFill>
                </a:endParaRPr>
              </a:p>
              <a:p>
                <a:r>
                  <a:rPr lang="en-US" sz="2000" dirty="0">
                    <a:solidFill>
                      <a:srgbClr val="0F1115"/>
                    </a:solidFill>
                  </a:rPr>
                  <a:t>Answer:</a:t>
                </a:r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𝐶𝑠</m:t>
                          </m:r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𝐶𝑠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br>
                  <a:rPr lang="ar-AE" dirty="0"/>
                </a:b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319331-9EF6-4521-AA13-48613F67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50220"/>
                <a:ext cx="6864423" cy="5824030"/>
              </a:xfrm>
              <a:prstGeom prst="rect">
                <a:avLst/>
              </a:prstGeom>
              <a:blipFill>
                <a:blip r:embed="rId3"/>
                <a:stretch>
                  <a:fillRect l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314D27A-2352-AA3E-0EFB-9A0B4276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568" y="1523902"/>
            <a:ext cx="4007832" cy="2613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1E7B76-92A6-A15A-1C12-97F1E9352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571" y="4657787"/>
            <a:ext cx="4007832" cy="170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19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9EB7D-FE5A-137D-4783-D79320AA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2A05DA-4BE3-963E-D3F1-28662170ED8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488563-42F8-AEAE-61E6-B9B439828BDD}"/>
                  </a:ext>
                </a:extLst>
              </p:cNvPr>
              <p:cNvSpPr txBox="1"/>
              <p:nvPr/>
            </p:nvSpPr>
            <p:spPr>
              <a:xfrm>
                <a:off x="320148" y="1381083"/>
                <a:ext cx="7158337" cy="2338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0F1115"/>
                    </a:solidFill>
                  </a:rPr>
                  <a:t>Problem: Find the transfer function of the given network</a:t>
                </a:r>
              </a:p>
              <a:p>
                <a:endParaRPr lang="en-US" dirty="0">
                  <a:solidFill>
                    <a:srgbClr val="0F1115"/>
                  </a:solidFill>
                </a:endParaRPr>
              </a:p>
              <a:p>
                <a:r>
                  <a:rPr lang="en-US" sz="1800" dirty="0">
                    <a:solidFill>
                      <a:srgbClr val="0F1115"/>
                    </a:solidFill>
                  </a:rPr>
                  <a:t>Answer:</a:t>
                </a:r>
                <a:br>
                  <a:rPr lang="en-US" dirty="0"/>
                </a:b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en-US" sz="1800" dirty="0">
                  <a:solidFill>
                    <a:srgbClr val="0F1115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488563-42F8-AEAE-61E6-B9B439828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81083"/>
                <a:ext cx="7158337" cy="2338717"/>
              </a:xfrm>
              <a:prstGeom prst="rect">
                <a:avLst/>
              </a:prstGeom>
              <a:blipFill>
                <a:blip r:embed="rId4"/>
                <a:stretch>
                  <a:fillRect l="-767" t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86F4741-7389-7F35-7484-277731DC7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142" y="1808351"/>
            <a:ext cx="3965658" cy="236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2886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228149-112C-4C57-8542-6BA70D65C362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0a944e8e-8b61-4f8d-a3d3-9a45e176b22f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10586</TotalTime>
  <Words>1148</Words>
  <Application>Microsoft Office PowerPoint</Application>
  <PresentationFormat>Widescreen</PresentationFormat>
  <Paragraphs>140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Cambria Math</vt:lpstr>
      <vt:lpstr>Gill Sans MT</vt:lpstr>
      <vt:lpstr>KaTeX_Main</vt:lpstr>
      <vt:lpstr>Neue Haas Grotesk Text Pro</vt:lpstr>
      <vt:lpstr>quote-cjk-patch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Mehedi Hasan Obhi</cp:lastModifiedBy>
  <cp:revision>6</cp:revision>
  <dcterms:created xsi:type="dcterms:W3CDTF">2026-01-09T15:02:13Z</dcterms:created>
  <dcterms:modified xsi:type="dcterms:W3CDTF">2026-06-12T17:48:37Z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