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2" r:id="rId13"/>
    <p:sldId id="263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14" dt="2026-01-12T14:54:12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 dirty="0">
                <a:latin typeface="Gill Sans MT" panose="020B0502020104020203" pitchFamily="34" charset="0"/>
              </a:rPr>
              <a:t>Mehedi Hasan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Lecturer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D119F-88F0-BE84-5632-74A57AB1E847}"/>
              </a:ext>
            </a:extLst>
          </p:cNvPr>
          <p:cNvSpPr txBox="1"/>
          <p:nvPr/>
        </p:nvSpPr>
        <p:spPr>
          <a:xfrm>
            <a:off x="4952103" y="1915686"/>
            <a:ext cx="68198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Some books are to be tasted, others to be swallowed, and some few to be chewed and digested</a:t>
            </a:r>
          </a:p>
          <a:p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US" dirty="0" err="1">
                <a:solidFill>
                  <a:schemeClr val="bg1"/>
                </a:solidFill>
              </a:rPr>
              <a:t>Franics</a:t>
            </a:r>
            <a:r>
              <a:rPr lang="en-US" dirty="0">
                <a:solidFill>
                  <a:schemeClr val="bg1"/>
                </a:solidFill>
              </a:rPr>
              <a:t> Bacon</a:t>
            </a: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22A5F5-40FF-A1D2-0BA3-2F07F61263AE}"/>
              </a:ext>
            </a:extLst>
          </p:cNvPr>
          <p:cNvSpPr/>
          <p:nvPr/>
        </p:nvSpPr>
        <p:spPr>
          <a:xfrm>
            <a:off x="347211" y="345688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3C106-68AF-76C7-DF65-9194D83A7A93}"/>
              </a:ext>
            </a:extLst>
          </p:cNvPr>
          <p:cNvSpPr txBox="1"/>
          <p:nvPr/>
        </p:nvSpPr>
        <p:spPr>
          <a:xfrm>
            <a:off x="347211" y="1318583"/>
            <a:ext cx="5908623" cy="519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dirty="0">
                <a:latin typeface="Gill Sans MT" panose="020B0502020104020203" pitchFamily="34" charset="0"/>
              </a:rPr>
              <a:t>Instrumentation and Control in engineering deals with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measuring, monitoring, and regulating physical processes. </a:t>
            </a:r>
            <a:r>
              <a:rPr lang="en-US" sz="1950" dirty="0">
                <a:latin typeface="Gill Sans MT" panose="020B0502020104020203" pitchFamily="34" charset="0"/>
              </a:rPr>
              <a:t>In modern systems,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accurate measurement and precise control </a:t>
            </a:r>
            <a:r>
              <a:rPr lang="en-US" sz="1950" dirty="0">
                <a:latin typeface="Gill Sans MT" panose="020B0502020104020203" pitchFamily="34" charset="0"/>
              </a:rPr>
              <a:t>are essential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for automation, safety, and efficiency.</a:t>
            </a:r>
          </a:p>
          <a:p>
            <a:endParaRPr lang="en-US" sz="1950" dirty="0">
              <a:latin typeface="Gill Sans MT" panose="020B0502020104020203" pitchFamily="34" charset="0"/>
            </a:endParaRPr>
          </a:p>
          <a:p>
            <a:r>
              <a:rPr lang="en-US" sz="1950" b="1" dirty="0">
                <a:latin typeface="Gill Sans MT" panose="020B0502020104020203" pitchFamily="34" charset="0"/>
              </a:rPr>
              <a:t>Instrumentation</a:t>
            </a:r>
            <a:r>
              <a:rPr lang="en-US" sz="1950" dirty="0">
                <a:latin typeface="Gill Sans MT" panose="020B0502020104020203" pitchFamily="34" charset="0"/>
              </a:rPr>
              <a:t> refers to the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devices and techniques </a:t>
            </a:r>
            <a:r>
              <a:rPr lang="en-US" sz="1950" dirty="0">
                <a:latin typeface="Gill Sans MT" panose="020B0502020104020203" pitchFamily="34" charset="0"/>
              </a:rPr>
              <a:t>used to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measure variables </a:t>
            </a:r>
            <a:r>
              <a:rPr lang="en-US" sz="1950" dirty="0">
                <a:latin typeface="Gill Sans MT" panose="020B0502020104020203" pitchFamily="34" charset="0"/>
              </a:rPr>
              <a:t>such as temperature, pressure, flow, and level. These measurements provide the data needed to understand and manage processes.</a:t>
            </a:r>
          </a:p>
          <a:p>
            <a:endParaRPr lang="en-US" sz="1950" dirty="0">
              <a:latin typeface="Gill Sans MT" panose="020B0502020104020203" pitchFamily="34" charset="0"/>
            </a:endParaRPr>
          </a:p>
          <a:p>
            <a:r>
              <a:rPr lang="en-US" sz="1950" b="1" dirty="0">
                <a:latin typeface="Gill Sans MT" panose="020B0502020104020203" pitchFamily="34" charset="0"/>
              </a:rPr>
              <a:t>Control systems</a:t>
            </a:r>
            <a:r>
              <a:rPr lang="en-US" sz="1950" dirty="0">
                <a:latin typeface="Gill Sans MT" panose="020B0502020104020203" pitchFamily="34" charset="0"/>
              </a:rPr>
              <a:t>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use this data </a:t>
            </a:r>
            <a:r>
              <a:rPr lang="en-US" sz="1950" dirty="0">
                <a:latin typeface="Gill Sans MT" panose="020B0502020104020203" pitchFamily="34" charset="0"/>
              </a:rPr>
              <a:t>to </a:t>
            </a:r>
            <a:r>
              <a:rPr lang="en-US" sz="1950" dirty="0">
                <a:solidFill>
                  <a:srgbClr val="FF0000"/>
                </a:solidFill>
                <a:latin typeface="Gill Sans MT" panose="020B0502020104020203" pitchFamily="34" charset="0"/>
              </a:rPr>
              <a:t>make decision automatically adjusting operations to maintain desired conditions.</a:t>
            </a:r>
            <a:r>
              <a:rPr lang="en-US" sz="1950" dirty="0">
                <a:latin typeface="Gill Sans MT" panose="020B0502020104020203" pitchFamily="34" charset="0"/>
              </a:rPr>
              <a:t> For example, in industrial automation, sensors measure process variables, and controllers adjust actuators to keep the system stable and optimized.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C9DE36-B12A-E885-E872-19BE6F7D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833" y="1583474"/>
            <a:ext cx="5754029" cy="482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021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0F248-585D-9007-F235-5DA90EC74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3268DE-755F-4451-0E4E-B286C1C5E4F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EA21BC-DAF0-4361-8C30-0A7956C77868}"/>
              </a:ext>
            </a:extLst>
          </p:cNvPr>
          <p:cNvSpPr txBox="1"/>
          <p:nvPr/>
        </p:nvSpPr>
        <p:spPr>
          <a:xfrm>
            <a:off x="367991" y="1348800"/>
            <a:ext cx="5413131" cy="5809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dirty="0">
                <a:latin typeface="Gill Sans MT" panose="020B0502020104020203" pitchFamily="34" charset="0"/>
              </a:rPr>
              <a:t>For </a:t>
            </a:r>
            <a:r>
              <a:rPr lang="en-US" sz="1950" b="1" dirty="0">
                <a:latin typeface="Gill Sans MT" panose="020B0502020104020203" pitchFamily="34" charset="0"/>
              </a:rPr>
              <a:t>Engineering students</a:t>
            </a:r>
            <a:r>
              <a:rPr lang="en-US" sz="1950" dirty="0">
                <a:latin typeface="Gill Sans MT" panose="020B0502020104020203" pitchFamily="34" charset="0"/>
              </a:rPr>
              <a:t>, this field is highly relevant because: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1950" dirty="0">
                <a:latin typeface="Gill Sans MT" panose="020B0502020104020203" pitchFamily="34" charset="0"/>
              </a:rPr>
              <a:t>It integrates </a:t>
            </a:r>
            <a:r>
              <a:rPr lang="en-US" sz="1950" b="1" dirty="0">
                <a:latin typeface="Gill Sans MT" panose="020B0502020104020203" pitchFamily="34" charset="0"/>
              </a:rPr>
              <a:t>hardware and software</a:t>
            </a:r>
            <a:r>
              <a:rPr lang="en-US" sz="1950" dirty="0">
                <a:latin typeface="Gill Sans MT" panose="020B0502020104020203" pitchFamily="34" charset="0"/>
              </a:rPr>
              <a:t> for real-time monitoring.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1950" dirty="0">
                <a:latin typeface="Gill Sans MT" panose="020B0502020104020203" pitchFamily="34" charset="0"/>
              </a:rPr>
              <a:t>It involves </a:t>
            </a:r>
            <a:r>
              <a:rPr lang="en-US" sz="1950" b="1" dirty="0">
                <a:latin typeface="Gill Sans MT" panose="020B0502020104020203" pitchFamily="34" charset="0"/>
              </a:rPr>
              <a:t>data acquisition, signal processing, and control algorithms</a:t>
            </a:r>
            <a:r>
              <a:rPr lang="en-US" sz="1950" dirty="0">
                <a:latin typeface="Gill Sans MT" panose="020B0502020104020203" pitchFamily="34" charset="0"/>
              </a:rPr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1950" dirty="0">
                <a:latin typeface="Gill Sans MT" panose="020B0502020104020203" pitchFamily="34" charset="0"/>
              </a:rPr>
              <a:t>It forms the backbone of </a:t>
            </a:r>
            <a:r>
              <a:rPr lang="en-US" sz="1950" b="1" dirty="0">
                <a:latin typeface="Gill Sans MT" panose="020B0502020104020203" pitchFamily="34" charset="0"/>
              </a:rPr>
              <a:t>IoT, robotics, and smart systems</a:t>
            </a:r>
            <a:r>
              <a:rPr lang="en-US" sz="1950" dirty="0">
                <a:latin typeface="Gill Sans MT" panose="020B0502020104020203" pitchFamily="34" charset="0"/>
              </a:rPr>
              <a:t>.</a:t>
            </a:r>
          </a:p>
          <a:p>
            <a:pPr lvl="0"/>
            <a:endParaRPr lang="en-US" sz="1950" dirty="0">
              <a:latin typeface="Gill Sans MT" panose="020B0502020104020203" pitchFamily="34" charset="0"/>
            </a:endParaRPr>
          </a:p>
          <a:p>
            <a:r>
              <a:rPr lang="en-US" sz="1950" b="1" dirty="0">
                <a:solidFill>
                  <a:srgbClr val="FF0000"/>
                </a:solidFill>
                <a:latin typeface="Gill Sans MT" panose="020B0502020104020203" pitchFamily="34" charset="0"/>
              </a:rPr>
              <a:t>Why It Matters for CSE??</a:t>
            </a:r>
            <a:endParaRPr lang="en-US" sz="195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1950" b="1" dirty="0">
                <a:latin typeface="Gill Sans MT" panose="020B0502020104020203" pitchFamily="34" charset="0"/>
              </a:rPr>
              <a:t>Data Acquisition &amp; Processing</a:t>
            </a:r>
            <a:r>
              <a:rPr lang="en-US" sz="1950" dirty="0">
                <a:latin typeface="Gill Sans MT" panose="020B0502020104020203" pitchFamily="34" charset="0"/>
              </a:rPr>
              <a:t>: Sensors generate data that must be processed in real-time.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1950" b="1" dirty="0">
                <a:latin typeface="Gill Sans MT" panose="020B0502020104020203" pitchFamily="34" charset="0"/>
              </a:rPr>
              <a:t>Control Algorithms</a:t>
            </a:r>
            <a:r>
              <a:rPr lang="en-US" sz="1950" dirty="0">
                <a:latin typeface="Gill Sans MT" panose="020B0502020104020203" pitchFamily="34" charset="0"/>
              </a:rPr>
              <a:t>: Implemented in software to regulate processes.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US" sz="1950" b="1" dirty="0">
                <a:latin typeface="Gill Sans MT" panose="020B0502020104020203" pitchFamily="34" charset="0"/>
              </a:rPr>
              <a:t>Integration with IoT &amp; AI</a:t>
            </a:r>
            <a:r>
              <a:rPr lang="en-US" sz="1950" dirty="0">
                <a:latin typeface="Gill Sans MT" panose="020B0502020104020203" pitchFamily="34" charset="0"/>
              </a:rPr>
              <a:t>: Instrumentation is key for smart devices and industrial automation.</a:t>
            </a:r>
          </a:p>
          <a:p>
            <a:pPr lvl="0"/>
            <a:endParaRPr lang="en-US" sz="2200" dirty="0">
              <a:latin typeface="Gill Sans MT" panose="020B0502020104020203" pitchFamily="34" charset="0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DA3F13-EB1B-7F02-4983-DFFA3AD80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22" y="1541148"/>
            <a:ext cx="6127849" cy="477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20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17F22-BACA-37F0-758D-F340867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7AB463-9A44-4212-ABC6-89372D4138E5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Applications of Measurement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B66FF-EF33-5F52-4C15-7DD82EC009C0}"/>
              </a:ext>
            </a:extLst>
          </p:cNvPr>
          <p:cNvSpPr txBox="1"/>
          <p:nvPr/>
        </p:nvSpPr>
        <p:spPr>
          <a:xfrm>
            <a:off x="367991" y="1557554"/>
            <a:ext cx="11421238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Applications are generally classified into three major classes:</a:t>
            </a:r>
          </a:p>
          <a:p>
            <a:r>
              <a:rPr lang="en-US" sz="2000" dirty="0"/>
              <a:t>1. Monitoring of processes and operations</a:t>
            </a:r>
          </a:p>
          <a:p>
            <a:r>
              <a:rPr lang="en-US" sz="2000" dirty="0"/>
              <a:t>2. Control of processes and operations</a:t>
            </a:r>
          </a:p>
          <a:p>
            <a:r>
              <a:rPr lang="en-US" sz="2000" dirty="0"/>
              <a:t>3. Experimental engineering analysis</a:t>
            </a:r>
          </a:p>
          <a:p>
            <a:endParaRPr lang="en-US" sz="2000" dirty="0"/>
          </a:p>
          <a:p>
            <a:endParaRPr lang="en-US" sz="2000" b="1" dirty="0"/>
          </a:p>
          <a:p>
            <a:r>
              <a:rPr lang="en-US" sz="2200" b="1" dirty="0"/>
              <a:t>1. Monitoring of processes and operations</a:t>
            </a:r>
          </a:p>
          <a:p>
            <a:r>
              <a:rPr lang="en-US" sz="2000" dirty="0"/>
              <a:t>- measuring instrument is used to keep track of some quantity.</a:t>
            </a:r>
          </a:p>
          <a:p>
            <a:r>
              <a:rPr lang="en-US" sz="2000" dirty="0"/>
              <a:t>- e.g. thermometer, barometer, radar used by weather department</a:t>
            </a:r>
          </a:p>
          <a:p>
            <a:r>
              <a:rPr lang="en-US" sz="2000" dirty="0"/>
              <a:t>- e.g. water, gas, electric meters in home</a:t>
            </a:r>
          </a:p>
        </p:txBody>
      </p:sp>
    </p:spTree>
    <p:extLst>
      <p:ext uri="{BB962C8B-B14F-4D97-AF65-F5344CB8AC3E}">
        <p14:creationId xmlns:p14="http://schemas.microsoft.com/office/powerpoint/2010/main" val="426127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201B-554F-92B6-BBF8-06FA0FCF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CBC0F3-98D0-C5B8-A327-CACECD60A70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Applications of Measurement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5B4D6-F99E-3837-5E1C-532DA52A936E}"/>
              </a:ext>
            </a:extLst>
          </p:cNvPr>
          <p:cNvSpPr txBox="1"/>
          <p:nvPr/>
        </p:nvSpPr>
        <p:spPr>
          <a:xfrm>
            <a:off x="367991" y="1557554"/>
            <a:ext cx="1142123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2. Control of processes and operations</a:t>
            </a:r>
          </a:p>
          <a:p>
            <a:endParaRPr lang="en-US" sz="2000" dirty="0"/>
          </a:p>
          <a:p>
            <a:r>
              <a:rPr lang="en-US" sz="2000" dirty="0"/>
              <a:t>- The most important class of measurement application</a:t>
            </a:r>
          </a:p>
          <a:p>
            <a:r>
              <a:rPr lang="en-US" sz="2000" dirty="0"/>
              <a:t>(automatic control systems)</a:t>
            </a:r>
          </a:p>
          <a:p>
            <a:r>
              <a:rPr lang="en-US" sz="2000" dirty="0"/>
              <a:t>- Feedback control system: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8C84A-8B00-F68C-01D3-F34766B86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28" y="3327297"/>
            <a:ext cx="8904514" cy="301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9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7667-C40F-C3B8-D502-B647A507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ABADF9-209B-023B-8476-9C006A7BE5C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500" dirty="0"/>
              <a:t>Applications of Measurement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5FF451-8E37-98EB-6B63-B896ACC0597D}"/>
              </a:ext>
            </a:extLst>
          </p:cNvPr>
          <p:cNvSpPr txBox="1"/>
          <p:nvPr/>
        </p:nvSpPr>
        <p:spPr>
          <a:xfrm>
            <a:off x="367991" y="1360714"/>
            <a:ext cx="115409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Experimental engineering analysis</a:t>
            </a:r>
          </a:p>
          <a:p>
            <a:r>
              <a:rPr lang="en-US" dirty="0"/>
              <a:t>- Part of engineering design, development and research</a:t>
            </a:r>
          </a:p>
          <a:p>
            <a:r>
              <a:rPr lang="en-US" dirty="0"/>
              <a:t>- two basic ways of solving engineering problems: Theory and</a:t>
            </a:r>
          </a:p>
          <a:p>
            <a:r>
              <a:rPr lang="en-US" dirty="0"/>
              <a:t>Experimentation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Most problems require blend of theory and experiment</a:t>
            </a:r>
          </a:p>
          <a:p>
            <a:endParaRPr lang="en-US" dirty="0"/>
          </a:p>
          <a:p>
            <a:r>
              <a:rPr lang="en-US" dirty="0"/>
              <a:t>- For example,</a:t>
            </a:r>
          </a:p>
          <a:p>
            <a:r>
              <a:rPr lang="en-US" dirty="0"/>
              <a:t>• Experimental validation of theoretical prediction/simulation</a:t>
            </a:r>
          </a:p>
          <a:p>
            <a:r>
              <a:rPr lang="en-US" dirty="0"/>
              <a:t>• Formulation of empirical equations</a:t>
            </a:r>
          </a:p>
        </p:txBody>
      </p:sp>
    </p:spTree>
    <p:extLst>
      <p:ext uri="{BB962C8B-B14F-4D97-AF65-F5344CB8AC3E}">
        <p14:creationId xmlns:p14="http://schemas.microsoft.com/office/powerpoint/2010/main" val="361228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0D6B-F96F-9CAD-AA75-5F770229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8D3F1A-1E51-0736-1A34-BED20E808006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Functional Elements of a Measurement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94990E-AE78-B601-8A70-5EBDF5C58ED8}"/>
              </a:ext>
            </a:extLst>
          </p:cNvPr>
          <p:cNvSpPr txBox="1"/>
          <p:nvPr/>
        </p:nvSpPr>
        <p:spPr>
          <a:xfrm>
            <a:off x="367991" y="1360714"/>
            <a:ext cx="104315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Generally, measurement systems contain three functional elements:</a:t>
            </a:r>
          </a:p>
          <a:p>
            <a:r>
              <a:rPr lang="en-US" dirty="0"/>
              <a:t>1. Primary sensing element</a:t>
            </a:r>
          </a:p>
          <a:p>
            <a:r>
              <a:rPr lang="en-US" dirty="0"/>
              <a:t>2. Signal conditioning element and</a:t>
            </a:r>
          </a:p>
          <a:p>
            <a:r>
              <a:rPr lang="en-US" dirty="0"/>
              <a:t>3. Data presentation element</a:t>
            </a:r>
          </a:p>
          <a:p>
            <a:endParaRPr lang="en-US" dirty="0"/>
          </a:p>
          <a:p>
            <a:r>
              <a:rPr lang="en-US" dirty="0"/>
              <a:t>Each element is made up of a distinct component or a group of components which perform the required function</a:t>
            </a:r>
          </a:p>
          <a:p>
            <a:endParaRPr lang="en-US" dirty="0"/>
          </a:p>
          <a:p>
            <a:r>
              <a:rPr lang="en-US" dirty="0"/>
              <a:t>1. </a:t>
            </a:r>
            <a:r>
              <a:rPr lang="en-US" b="1" dirty="0"/>
              <a:t>Primary sensing element</a:t>
            </a:r>
          </a:p>
          <a:p>
            <a:r>
              <a:rPr lang="en-US" dirty="0"/>
              <a:t>Variously known as detector/sensor or transducer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b="1" dirty="0"/>
              <a:t>Signal conditioning element</a:t>
            </a:r>
          </a:p>
          <a:p>
            <a:r>
              <a:rPr lang="en-US" dirty="0"/>
              <a:t>- sometimes, the raw signal output from the sensor is not suited to the desired performance of the system</a:t>
            </a:r>
          </a:p>
          <a:p>
            <a:r>
              <a:rPr lang="en-US" dirty="0"/>
              <a:t>- For example: filtering noise, amplifying signal and A/D conversion</a:t>
            </a:r>
          </a:p>
          <a:p>
            <a:r>
              <a:rPr lang="en-US" dirty="0"/>
              <a:t>- Many instruments do not need any signal conditioning element</a:t>
            </a:r>
          </a:p>
        </p:txBody>
      </p:sp>
    </p:spTree>
    <p:extLst>
      <p:ext uri="{BB962C8B-B14F-4D97-AF65-F5344CB8AC3E}">
        <p14:creationId xmlns:p14="http://schemas.microsoft.com/office/powerpoint/2010/main" val="17141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A669-3037-5E7B-1998-D534BC33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DDBC72-518B-5DDA-0491-75B51302387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Functional Elements of a Measurement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536644-1B35-3B3F-B221-3E669D2718DE}"/>
              </a:ext>
            </a:extLst>
          </p:cNvPr>
          <p:cNvSpPr txBox="1"/>
          <p:nvPr/>
        </p:nvSpPr>
        <p:spPr>
          <a:xfrm>
            <a:off x="367991" y="1360714"/>
            <a:ext cx="63215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Data presentation element</a:t>
            </a:r>
          </a:p>
          <a:p>
            <a:endParaRPr lang="en-US" dirty="0"/>
          </a:p>
          <a:p>
            <a:r>
              <a:rPr lang="en-US" dirty="0"/>
              <a:t>- The quantity under measurement has to be conveyed to a personnel or to the system for monitoring, control, or analyses purposes.</a:t>
            </a:r>
          </a:p>
          <a:p>
            <a:endParaRPr lang="en-US" dirty="0"/>
          </a:p>
          <a:p>
            <a:r>
              <a:rPr lang="en-US" dirty="0"/>
              <a:t>- The data conveyed must be intelligible to the</a:t>
            </a:r>
          </a:p>
          <a:p>
            <a:r>
              <a:rPr lang="en-US" dirty="0"/>
              <a:t>personnel/system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manual monitoring: visual display (LED/LCD, pointer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recording: magnetic tape, printers, computer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dirty="0"/>
              <a:t>- control and analysis: computer, microcontroller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4C999-D293-5391-82BC-241F041BC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57" y="1526013"/>
            <a:ext cx="4326360" cy="519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170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24246-5F6F-867E-29D6-9097FE69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18C8EF-2810-FFBF-548F-DFB68BB1D8B4}"/>
              </a:ext>
            </a:extLst>
          </p:cNvPr>
          <p:cNvSpPr/>
          <p:nvPr/>
        </p:nvSpPr>
        <p:spPr>
          <a:xfrm>
            <a:off x="7830292" y="-1"/>
            <a:ext cx="4361688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solidFill>
                  <a:schemeClr val="bg1"/>
                </a:solidFill>
                <a:latin typeface="Gill Sans MT" panose="020B0502020104020203" pitchFamily="34" charset="0"/>
                <a:ea typeface="+mj-ea"/>
                <a:cs typeface="+mj-cs"/>
              </a:rPr>
              <a:t>Functional Elements of a Measurement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A7E38-5F3C-F54D-C099-00993E64A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" r="3" b="5990"/>
          <a:stretch>
            <a:fillRect/>
          </a:stretch>
        </p:blipFill>
        <p:spPr>
          <a:xfrm>
            <a:off x="20" y="1"/>
            <a:ext cx="7605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9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0DF88-A780-A1B4-0AA9-92525663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E60854-7F5A-7198-5592-57F2922B723A}"/>
              </a:ext>
            </a:extLst>
          </p:cNvPr>
          <p:cNvSpPr/>
          <p:nvPr/>
        </p:nvSpPr>
        <p:spPr>
          <a:xfrm>
            <a:off x="7830292" y="-1"/>
            <a:ext cx="4361688" cy="6857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solidFill>
                  <a:schemeClr val="bg1"/>
                </a:solidFill>
                <a:latin typeface="Gill Sans MT" panose="020B0502020104020203" pitchFamily="34" charset="0"/>
                <a:ea typeface="+mj-ea"/>
                <a:cs typeface="+mj-cs"/>
              </a:rPr>
              <a:t>Functional Elements of a Measurement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9DFF7D-6215-A7F6-4E6A-0CB42A511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41" y="-2"/>
            <a:ext cx="73409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15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CA45-958F-4222-D1F5-71260131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5DA455-DD17-6396-C5C2-6A49AEAC44F7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Important Terminologies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0221F-20D9-F8AE-6815-7D069C529052}"/>
              </a:ext>
            </a:extLst>
          </p:cNvPr>
          <p:cNvSpPr txBox="1"/>
          <p:nvPr/>
        </p:nvSpPr>
        <p:spPr>
          <a:xfrm>
            <a:off x="367991" y="1260088"/>
            <a:ext cx="115409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Active Sensors</a:t>
            </a:r>
          </a:p>
          <a:p>
            <a:pPr>
              <a:buNone/>
            </a:pPr>
            <a:r>
              <a:rPr lang="en-US" sz="2000" dirty="0"/>
              <a:t>Active sensors </a:t>
            </a:r>
            <a:r>
              <a:rPr lang="en-US" sz="2000" b="1" dirty="0">
                <a:solidFill>
                  <a:srgbClr val="FF0000"/>
                </a:solidFill>
              </a:rPr>
              <a:t>send out their own energy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(like a signal or wave) toward an object and </a:t>
            </a:r>
            <a:r>
              <a:rPr lang="en-US" sz="2000" dirty="0">
                <a:solidFill>
                  <a:srgbClr val="FF0000"/>
                </a:solidFill>
              </a:rPr>
              <a:t>then </a:t>
            </a:r>
            <a:r>
              <a:rPr lang="en-US" sz="2000" b="1" dirty="0">
                <a:solidFill>
                  <a:srgbClr val="FF0000"/>
                </a:solidFill>
              </a:rPr>
              <a:t>measure the energy that comes back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after hitting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They work at </a:t>
            </a:r>
            <a:r>
              <a:rPr lang="en-US" sz="2000" b="1" dirty="0"/>
              <a:t>day or night</a:t>
            </a:r>
            <a:r>
              <a:rPr lang="en-US" sz="2000" dirty="0"/>
              <a:t> </a:t>
            </a:r>
            <a:r>
              <a:rPr lang="en-US" sz="2000" b="1" dirty="0"/>
              <a:t>even in cloudy or dark conditions. </a:t>
            </a:r>
            <a:r>
              <a:rPr lang="en-US" sz="2000" dirty="0"/>
              <a:t>Common in radar and laser systems</a:t>
            </a:r>
          </a:p>
          <a:p>
            <a:pPr>
              <a:buNone/>
            </a:pPr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Radar sends radio waves to the Earth and measures the reflected waves to detect objects or land features.</a:t>
            </a:r>
            <a:br>
              <a:rPr lang="en-US" sz="2000" dirty="0"/>
            </a:br>
            <a:endParaRPr lang="en-US" sz="2000" dirty="0"/>
          </a:p>
          <a:p>
            <a:pPr>
              <a:buNone/>
            </a:pPr>
            <a:r>
              <a:rPr lang="en-US" sz="2000" b="1" dirty="0"/>
              <a:t>Passive Sensors</a:t>
            </a:r>
          </a:p>
          <a:p>
            <a:pPr>
              <a:buNone/>
            </a:pPr>
            <a:r>
              <a:rPr lang="en-US" sz="2000" dirty="0"/>
              <a:t>Passive sensors </a:t>
            </a:r>
            <a:r>
              <a:rPr lang="en-US" sz="2000" b="1" dirty="0">
                <a:solidFill>
                  <a:srgbClr val="FF0000"/>
                </a:solidFill>
              </a:rPr>
              <a:t>do not send out energy</a:t>
            </a:r>
            <a:r>
              <a:rPr lang="en-US" sz="2000" dirty="0"/>
              <a:t>. They only </a:t>
            </a:r>
            <a:r>
              <a:rPr lang="en-US" sz="2000" b="1" dirty="0">
                <a:solidFill>
                  <a:srgbClr val="FF0000"/>
                </a:solidFill>
              </a:rPr>
              <a:t>detect natural energy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coming from objects, usually </a:t>
            </a:r>
            <a:r>
              <a:rPr lang="en-US" sz="2000" b="1" dirty="0"/>
              <a:t>sunlight reflected</a:t>
            </a:r>
            <a:r>
              <a:rPr lang="en-US" sz="2000" dirty="0"/>
              <a:t> or </a:t>
            </a:r>
            <a:r>
              <a:rPr lang="en-US" sz="2000" b="1" dirty="0"/>
              <a:t>heat emitted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Very common in cameras and satellites</a:t>
            </a:r>
          </a:p>
          <a:p>
            <a:pPr>
              <a:buNone/>
            </a:pPr>
            <a:r>
              <a:rPr lang="en-US" sz="2000" b="1" dirty="0"/>
              <a:t>Example:</a:t>
            </a:r>
            <a:br>
              <a:rPr lang="en-US" sz="2000" dirty="0"/>
            </a:br>
            <a:r>
              <a:rPr lang="en-US" sz="2000" dirty="0"/>
              <a:t>A satellite camera that captures images using sunlight reflected from Earth.</a:t>
            </a:r>
          </a:p>
        </p:txBody>
      </p:sp>
    </p:spTree>
    <p:extLst>
      <p:ext uri="{BB962C8B-B14F-4D97-AF65-F5344CB8AC3E}">
        <p14:creationId xmlns:p14="http://schemas.microsoft.com/office/powerpoint/2010/main" val="1273550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4D160-FBC0-661A-4D14-67EAD847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320866-EABA-E38A-CE3B-4041FB51A61F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</a:rPr>
              <a:t>Important Terminologies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DDC48-300B-33A4-D170-9262A158AD4D}"/>
              </a:ext>
            </a:extLst>
          </p:cNvPr>
          <p:cNvSpPr txBox="1"/>
          <p:nvPr/>
        </p:nvSpPr>
        <p:spPr>
          <a:xfrm>
            <a:off x="367991" y="1260088"/>
            <a:ext cx="115409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Calibration: </a:t>
            </a: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relationship</a:t>
            </a:r>
            <a:r>
              <a:rPr lang="en-US" sz="2000" dirty="0"/>
              <a:t> between </a:t>
            </a:r>
            <a:r>
              <a:rPr lang="en-US" sz="2000" dirty="0">
                <a:solidFill>
                  <a:srgbClr val="FF0000"/>
                </a:solidFill>
              </a:rPr>
              <a:t>the physical measurement variable (input)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the signal variable (output) </a:t>
            </a:r>
            <a:r>
              <a:rPr lang="en-US" sz="2000" dirty="0"/>
              <a:t>for a specific sensor is known as the calibration of the sensor. Typically, a sensor (or an entire instrument system) is calibrated by providing a known physical input to the system and recording the output.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Calibration Curve: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B410C-697E-4AE7-2608-E9EAD705F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29" y="2995822"/>
            <a:ext cx="4999342" cy="3712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8838B5-B273-3D88-ED09-1829184CFE2D}"/>
              </a:ext>
            </a:extLst>
          </p:cNvPr>
          <p:cNvSpPr txBox="1"/>
          <p:nvPr/>
        </p:nvSpPr>
        <p:spPr>
          <a:xfrm>
            <a:off x="8077200" y="4376707"/>
            <a:ext cx="3746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Sensitivity: </a:t>
            </a:r>
            <a:r>
              <a:rPr lang="en-US" dirty="0">
                <a:solidFill>
                  <a:srgbClr val="FF0000"/>
                </a:solidFill>
              </a:rPr>
              <a:t>Ratio</a:t>
            </a:r>
            <a:r>
              <a:rPr lang="en-US" dirty="0"/>
              <a:t> of </a:t>
            </a:r>
            <a:r>
              <a:rPr lang="en-US" dirty="0">
                <a:solidFill>
                  <a:srgbClr val="FF0000"/>
                </a:solidFill>
              </a:rPr>
              <a:t>output signal </a:t>
            </a:r>
            <a:r>
              <a:rPr lang="en-US" dirty="0"/>
              <a:t>or response of the instrument to</a:t>
            </a:r>
          </a:p>
          <a:p>
            <a:r>
              <a:rPr lang="en-US" dirty="0">
                <a:solidFill>
                  <a:srgbClr val="FF0000"/>
                </a:solidFill>
              </a:rPr>
              <a:t>a change of input or measured variable</a:t>
            </a:r>
          </a:p>
        </p:txBody>
      </p:sp>
    </p:spTree>
    <p:extLst>
      <p:ext uri="{BB962C8B-B14F-4D97-AF65-F5344CB8AC3E}">
        <p14:creationId xmlns:p14="http://schemas.microsoft.com/office/powerpoint/2010/main" val="752988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325E-E87E-0064-713C-73EEED09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FA3F5-C2C0-C615-47B5-FE6ABF2492B2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Types of Errors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B5568-AE79-7245-3E8B-A6621EAFA5C5}"/>
              </a:ext>
            </a:extLst>
          </p:cNvPr>
          <p:cNvSpPr txBox="1"/>
          <p:nvPr/>
        </p:nvSpPr>
        <p:spPr>
          <a:xfrm>
            <a:off x="367990" y="1260088"/>
            <a:ext cx="111490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Gross errors: </a:t>
            </a:r>
            <a:r>
              <a:rPr lang="en-US" sz="2000" dirty="0">
                <a:solidFill>
                  <a:srgbClr val="FF0000"/>
                </a:solidFill>
              </a:rPr>
              <a:t>largely human errors</a:t>
            </a:r>
            <a:r>
              <a:rPr lang="en-US" sz="2000" dirty="0"/>
              <a:t>, e.g. </a:t>
            </a:r>
            <a:r>
              <a:rPr lang="en-US" sz="2000" dirty="0">
                <a:solidFill>
                  <a:srgbClr val="FF0000"/>
                </a:solidFill>
              </a:rPr>
              <a:t>misreading, incorrect adjustment and improper application</a:t>
            </a:r>
            <a:r>
              <a:rPr lang="en-US" sz="2000" dirty="0"/>
              <a:t> of instruments.</a:t>
            </a:r>
          </a:p>
          <a:p>
            <a:endParaRPr lang="en-US" sz="2000" dirty="0"/>
          </a:p>
          <a:p>
            <a:r>
              <a:rPr lang="en-US" sz="2000" b="1" dirty="0"/>
              <a:t>Systematic errors (bias): </a:t>
            </a:r>
            <a:r>
              <a:rPr lang="en-US" sz="2000" dirty="0"/>
              <a:t>shortcomings of the instruments, </a:t>
            </a:r>
            <a:r>
              <a:rPr lang="en-US" sz="2000" dirty="0" err="1"/>
              <a:t>e.g.</a:t>
            </a:r>
            <a:r>
              <a:rPr lang="en-US" sz="2000" dirty="0" err="1">
                <a:solidFill>
                  <a:srgbClr val="FF0000"/>
                </a:solidFill>
              </a:rPr>
              <a:t>effects</a:t>
            </a:r>
            <a:r>
              <a:rPr lang="en-US" sz="2000" dirty="0">
                <a:solidFill>
                  <a:srgbClr val="FF0000"/>
                </a:solidFill>
              </a:rPr>
              <a:t> of environment </a:t>
            </a:r>
            <a:r>
              <a:rPr lang="en-US" sz="2000" dirty="0"/>
              <a:t>(temperature, humidity </a:t>
            </a:r>
            <a:r>
              <a:rPr lang="en-US" sz="2000" dirty="0" err="1"/>
              <a:t>etc</a:t>
            </a:r>
            <a:r>
              <a:rPr lang="en-US" sz="2000" dirty="0"/>
              <a:t>) on the instrument, </a:t>
            </a:r>
            <a:r>
              <a:rPr lang="en-US" sz="2000" dirty="0">
                <a:solidFill>
                  <a:srgbClr val="FF0000"/>
                </a:solidFill>
              </a:rPr>
              <a:t>change in instrument response due to aging.</a:t>
            </a:r>
          </a:p>
          <a:p>
            <a:r>
              <a:rPr lang="en-US" sz="2000" b="1" dirty="0"/>
              <a:t>Way to reduce:</a:t>
            </a:r>
          </a:p>
          <a:p>
            <a:r>
              <a:rPr lang="en-US" sz="2000" dirty="0"/>
              <a:t>- Use of compensation can reduce/remove some systematic error</a:t>
            </a:r>
          </a:p>
          <a:p>
            <a:r>
              <a:rPr lang="en-US" sz="2000" dirty="0"/>
              <a:t>- periodic recalibration can prevent systematic error</a:t>
            </a:r>
          </a:p>
          <a:p>
            <a:endParaRPr lang="en-US" sz="2000" dirty="0"/>
          </a:p>
          <a:p>
            <a:r>
              <a:rPr lang="en-US" sz="2000" b="1" dirty="0"/>
              <a:t>Random error (noise): </a:t>
            </a:r>
            <a:r>
              <a:rPr lang="en-US" sz="2000" dirty="0">
                <a:solidFill>
                  <a:srgbClr val="FF0000"/>
                </a:solidFill>
              </a:rPr>
              <a:t>caused by the noise introduced </a:t>
            </a:r>
            <a:r>
              <a:rPr lang="en-US" sz="2000" dirty="0"/>
              <a:t>during the measurement process and random variation of input itself</a:t>
            </a:r>
          </a:p>
          <a:p>
            <a:r>
              <a:rPr lang="en-US" sz="2000" b="1" dirty="0"/>
              <a:t>Way to reduce:</a:t>
            </a:r>
          </a:p>
          <a:p>
            <a:r>
              <a:rPr lang="en-US" sz="2000" dirty="0"/>
              <a:t>- taking a large number of readings and averaging them can reduce the effect of noise</a:t>
            </a:r>
          </a:p>
        </p:txBody>
      </p:sp>
    </p:spTree>
    <p:extLst>
      <p:ext uri="{BB962C8B-B14F-4D97-AF65-F5344CB8AC3E}">
        <p14:creationId xmlns:p14="http://schemas.microsoft.com/office/powerpoint/2010/main" val="3084758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87937-A3A3-0F08-00C1-5D35465A8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D989D1-C696-34BB-8697-AEED6C4934DB}"/>
              </a:ext>
            </a:extLst>
          </p:cNvPr>
          <p:cNvSpPr/>
          <p:nvPr/>
        </p:nvSpPr>
        <p:spPr>
          <a:xfrm>
            <a:off x="367991" y="345688"/>
            <a:ext cx="115409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/>
              <a:t>Accuracy Vs Precision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8F577-E6F5-09B4-4A9A-E559AB5F6F2C}"/>
              </a:ext>
            </a:extLst>
          </p:cNvPr>
          <p:cNvSpPr txBox="1"/>
          <p:nvPr/>
        </p:nvSpPr>
        <p:spPr>
          <a:xfrm>
            <a:off x="367991" y="1387571"/>
            <a:ext cx="53687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Accuracy: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Closeness</a:t>
            </a:r>
            <a:r>
              <a:rPr lang="en-US" dirty="0"/>
              <a:t> with which an instrument reading </a:t>
            </a:r>
            <a:r>
              <a:rPr lang="en-US" dirty="0">
                <a:solidFill>
                  <a:srgbClr val="FF0000"/>
                </a:solidFill>
              </a:rPr>
              <a:t>approaches the true value</a:t>
            </a:r>
            <a:r>
              <a:rPr lang="en-US" dirty="0"/>
              <a:t> of the variable.</a:t>
            </a:r>
          </a:p>
          <a:p>
            <a:r>
              <a:rPr lang="en-US" dirty="0"/>
              <a:t>- It is affected by the systematic error (bias) of the instrument</a:t>
            </a:r>
          </a:p>
          <a:p>
            <a:r>
              <a:rPr lang="en-US" dirty="0"/>
              <a:t>= true value – statistical mean of the measurements</a:t>
            </a:r>
          </a:p>
          <a:p>
            <a:endParaRPr lang="en-US" dirty="0"/>
          </a:p>
          <a:p>
            <a:r>
              <a:rPr lang="en-US" dirty="0"/>
              <a:t>Precision: A measure of the reproducibility (or spread) of the measurements. It is a measure of the degree to which </a:t>
            </a:r>
            <a:r>
              <a:rPr lang="en-US" dirty="0">
                <a:solidFill>
                  <a:srgbClr val="FF0000"/>
                </a:solidFill>
              </a:rPr>
              <a:t>successive measurements differ from one another.</a:t>
            </a:r>
          </a:p>
          <a:p>
            <a:r>
              <a:rPr lang="en-US" dirty="0"/>
              <a:t>- It is affected by the random error (noise) of the instrument</a:t>
            </a:r>
          </a:p>
          <a:p>
            <a:r>
              <a:rPr lang="en-US" dirty="0"/>
              <a:t>= standard deviation (σ) of the measurement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2FF39A-8A0F-9E40-6507-AABE19A22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014" y="1490641"/>
            <a:ext cx="6027995" cy="41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5034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228149-112C-4C57-8542-6BA70D65C362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0a944e8e-8b61-4f8d-a3d3-9a45e176b22f"/>
  </ds:schemaRefs>
</ds:datastoreItem>
</file>

<file path=customXml/itemProps3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1033</Words>
  <Application>Microsoft Office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Gill Sans MT</vt:lpstr>
      <vt:lpstr>Neue Haas Grotesk Text Pro</vt:lpstr>
      <vt:lpstr>Wingdings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Mehedi Hasan Obhi</cp:lastModifiedBy>
  <cp:revision>4</cp:revision>
  <dcterms:created xsi:type="dcterms:W3CDTF">2026-01-09T15:02:13Z</dcterms:created>
  <dcterms:modified xsi:type="dcterms:W3CDTF">2026-06-03T13:26:35Z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