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4"/>
  </p:notesMasterIdLst>
  <p:sldIdLst>
    <p:sldId id="256" r:id="rId5"/>
    <p:sldId id="318" r:id="rId6"/>
    <p:sldId id="321" r:id="rId7"/>
    <p:sldId id="322" r:id="rId8"/>
    <p:sldId id="323" r:id="rId9"/>
    <p:sldId id="324" r:id="rId10"/>
    <p:sldId id="325" r:id="rId11"/>
    <p:sldId id="326" r:id="rId12"/>
    <p:sldId id="32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6E917-14F7-40D4-A849-9866C13ADA55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D3FCF-86E2-4FF1-A21B-1978B7060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9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85AEF-81D9-F461-8009-E08AB35B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28DF0-BAD9-21D4-162C-1F84224AE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4E278-A6BA-3136-176D-2C0E1A941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752AD-1381-8C2C-7064-B396F0FFD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82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D0B4-723F-DDA4-1CC4-F58004375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0F930-674E-64BD-4C55-0A2254BA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CAB22-6DBD-FDA9-5EB9-9876A55F2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328F7-9470-7D30-8501-D832C49A8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86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0B37-CDB3-BF0B-495D-8AADF4E81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0D421-A302-2FE6-6668-BE415FD3A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B05D7-49FB-8E5F-CD17-912228159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67808-0AD1-8B6A-58EE-9C68E2461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01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5309-AF3F-DA41-C310-96EA6CF7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B645-4ED5-A6CA-B3E7-FC6D6BEF5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3479A-EAD2-17B8-1C0B-39C65A55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05D04-CC7F-6E7B-10C0-79B267F19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57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B5A1-1C1A-56A6-7414-70858A67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E3E67-9137-B37F-6C3A-13863E795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5193B-B90B-AE08-5235-A56CE1E58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B0309-2226-9B1D-3632-E0301CF5B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01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9388F-2901-04C5-9650-11AC764A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2D973-CDC1-5DCF-4E9F-701D0EADF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8E32E-0626-B772-FD5C-DAC3C6924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E90D4-72D0-217E-9656-7C4216F71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84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90D0-8C7F-7ADB-588E-6941339B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AF5C4-8E75-AF2E-D082-FC36D624C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F3B88-7AD1-D220-2811-C7881B801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1B2D6-F1DD-034B-2DCE-C755A6D58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57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E4653-1E59-1B9A-36D6-A28885A7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D4C30-1564-120F-1014-F219AA168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63EB5-293F-F8D5-EEC5-34CA05FEC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FE990-748E-E616-4A14-363998F5F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41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Mehedi Hasan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Lecturer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CF7F9-A536-E303-0453-D8885D759A50}"/>
              </a:ext>
            </a:extLst>
          </p:cNvPr>
          <p:cNvSpPr txBox="1"/>
          <p:nvPr/>
        </p:nvSpPr>
        <p:spPr>
          <a:xfrm>
            <a:off x="5312229" y="1521955"/>
            <a:ext cx="61771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n-BD" dirty="0">
                <a:solidFill>
                  <a:schemeClr val="bg1"/>
                </a:solidFill>
                <a:latin typeface="SutonnyMJ" pitchFamily="2" charset="0"/>
              </a:rPr>
              <a:t>আমার এ ঘর ভাঙিয়াছে যেবা আমি বাঁধি তার ঘর,</a:t>
            </a:r>
            <a:br>
              <a:rPr lang="bn-BD" dirty="0">
                <a:solidFill>
                  <a:schemeClr val="bg1"/>
                </a:solidFill>
                <a:latin typeface="SutonnyMJ" pitchFamily="2" charset="0"/>
              </a:rPr>
            </a:br>
            <a:r>
              <a:rPr lang="bn-BD" dirty="0">
                <a:solidFill>
                  <a:schemeClr val="bg1"/>
                </a:solidFill>
                <a:latin typeface="SutonnyMJ" pitchFamily="2" charset="0"/>
              </a:rPr>
              <a:t>আপন করিতে কাঁদিয়া বেড়াই যে মোরে করেছে পর</a:t>
            </a:r>
            <a:endParaRPr lang="en-US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-</a:t>
            </a:r>
            <a:r>
              <a:rPr lang="en-US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প্রতিদান</a:t>
            </a:r>
            <a:r>
              <a:rPr lang="en-US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কবিতা</a:t>
            </a:r>
            <a:r>
              <a:rPr lang="en-US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জসিমউদ্দীন</a:t>
            </a:r>
            <a:endParaRPr lang="en-US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7A8B4-E9E9-C576-B241-A86AD4DE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2F6589-E393-F8D7-9D8E-F9492B5AAB66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84A22-C1BD-D487-7709-ACE8A0FEACF3}"/>
              </a:ext>
            </a:extLst>
          </p:cNvPr>
          <p:cNvSpPr txBox="1"/>
          <p:nvPr/>
        </p:nvSpPr>
        <p:spPr>
          <a:xfrm>
            <a:off x="320149" y="1194773"/>
            <a:ext cx="115517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Any system can be described by a set of differential equations or can be represented by the schematic diagram containing all components and their connections.</a:t>
            </a:r>
          </a:p>
          <a:p>
            <a:endParaRPr lang="en-US" sz="2000" b="0" i="0" dirty="0">
              <a:solidFill>
                <a:srgbClr val="0F1115"/>
              </a:solidFill>
              <a:effectLst/>
              <a:latin typeface="+mj-lt"/>
            </a:endParaRPr>
          </a:p>
          <a:p>
            <a:r>
              <a:rPr lang="en-US" sz="2000" dirty="0">
                <a:latin typeface="+mj-lt"/>
              </a:rPr>
              <a:t>Block diagrams use </a:t>
            </a:r>
            <a:r>
              <a:rPr lang="en-US" sz="2000" b="1" dirty="0">
                <a:latin typeface="+mj-lt"/>
              </a:rPr>
              <a:t>single-line diagrams</a:t>
            </a:r>
            <a:r>
              <a:rPr lang="en-US" sz="2000" dirty="0">
                <a:latin typeface="+mj-lt"/>
              </a:rPr>
              <a:t> to show the flow of system variables from one block to another. A </a:t>
            </a:r>
            <a:r>
              <a:rPr lang="en-US" sz="2000" b="1" dirty="0">
                <a:latin typeface="+mj-lt"/>
              </a:rPr>
              <a:t>block</a:t>
            </a:r>
            <a:r>
              <a:rPr lang="en-US" sz="2000" dirty="0">
                <a:latin typeface="+mj-lt"/>
              </a:rPr>
              <a:t> may represent a single component or a group of components, beside this there are two new elements. These new elements are summing junctions and pickoff points. 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Overall, Block diagrams are single line diagram, that is the flow of system variables from one block to another block is represented by a single line.</a:t>
            </a:r>
          </a:p>
          <a:p>
            <a:endParaRPr lang="en-US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D5023F-4F7F-FF0D-890F-68440442A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649" y="4105332"/>
            <a:ext cx="5163665" cy="25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2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49C2B-8FCD-C45C-3835-731D1E49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28266-2A1C-2A03-C475-BC739FBB6AE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0BE3E-624A-3356-17D3-9CB71FC8EA37}"/>
              </a:ext>
            </a:extLst>
          </p:cNvPr>
          <p:cNvSpPr txBox="1"/>
          <p:nvPr/>
        </p:nvSpPr>
        <p:spPr>
          <a:xfrm>
            <a:off x="320149" y="1273629"/>
            <a:ext cx="11551701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Procedure to Draw block Diagram From Electrical Circuit: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1. </a:t>
            </a:r>
            <a:r>
              <a:rPr lang="en-US" sz="2000" dirty="0"/>
              <a:t>Apply circuit laws (Ohm’s law, Kirchhoff’s laws) to </a:t>
            </a:r>
            <a:r>
              <a:rPr lang="en-US" sz="2000" dirty="0">
                <a:solidFill>
                  <a:srgbClr val="FF0000"/>
                </a:solidFill>
              </a:rPr>
              <a:t>each component with Laplace Transform (Assume Zero Initial Conditions).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2. Do circuit operation(Current and Voltage) </a:t>
            </a:r>
            <a:r>
              <a:rPr lang="en-US" sz="2000" dirty="0">
                <a:solidFill>
                  <a:srgbClr val="FF0000"/>
                </a:solidFill>
              </a:rPr>
              <a:t>step by step from input to output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3. Now draw </a:t>
            </a:r>
            <a:r>
              <a:rPr lang="en-US" sz="2000" dirty="0">
                <a:solidFill>
                  <a:srgbClr val="FF0000"/>
                </a:solidFill>
              </a:rPr>
              <a:t>block diagram of each operation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4. Now just </a:t>
            </a:r>
            <a:r>
              <a:rPr lang="en-US" sz="2000" dirty="0">
                <a:solidFill>
                  <a:srgbClr val="FF0000"/>
                </a:solidFill>
              </a:rPr>
              <a:t>add each block one after another in serial </a:t>
            </a:r>
            <a:r>
              <a:rPr lang="en-US" sz="2000" dirty="0"/>
              <a:t>(Best possible way to arrange from last equation).</a:t>
            </a:r>
          </a:p>
          <a:p>
            <a:endParaRPr lang="en-US" sz="2000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9272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BD80-5DD3-6508-A482-C177312A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BA9A9A-2738-21A5-9BF6-5B5BC8BCA43B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18B5F4-0F11-5251-64AC-000A0A548C18}"/>
                  </a:ext>
                </a:extLst>
              </p:cNvPr>
              <p:cNvSpPr txBox="1"/>
              <p:nvPr/>
            </p:nvSpPr>
            <p:spPr>
              <a:xfrm>
                <a:off x="320149" y="1273629"/>
                <a:ext cx="11675908" cy="3954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+mj-lt"/>
                  </a:rPr>
                  <a:t>Laplace transform with initial condition zero</a:t>
                </a:r>
                <a:endParaRPr lang="en-US" sz="20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𝑠𝐿</m:t>
                      </m:r>
                      <m:r>
                        <m:rPr>
                          <m:nor/>
                        </m:rPr>
                        <a:rPr lang="ar-AE" sz="2000" i="1">
                          <a:latin typeface="+mj-lt"/>
                        </a:rPr>
                        <m:t> 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𝑠𝐿</m:t>
                          </m:r>
                        </m:e>
                      </m:d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𝑠𝐿</m:t>
                      </m:r>
                      <m:r>
                        <m:rPr>
                          <m:nor/>
                        </m:rPr>
                        <a:rPr lang="ar-AE" sz="2000" i="1">
                          <a:latin typeface="+mj-lt"/>
                        </a:rPr>
                        <m:t> 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Now transfer function is, </a:t>
                </a:r>
                <a:endParaRPr lang="en-US" sz="20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𝑠𝐿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𝑠𝐿</m:t>
                          </m:r>
                        </m:den>
                      </m:f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endParaRPr lang="en-US" sz="2000" i="1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Now,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nor/>
                      </m:rPr>
                      <a:rPr lang="ar-AE" sz="2000" i="1">
                        <a:latin typeface="+mj-lt"/>
                      </a:rPr>
                      <m:t> 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ar-AE" sz="20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ar-AE" sz="2000" b="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𝑠𝐿</m:t>
                      </m:r>
                      <m:r>
                        <m:rPr>
                          <m:nor/>
                        </m:rPr>
                        <a:rPr lang="ar-AE" sz="2000" i="1">
                          <a:latin typeface="+mj-lt"/>
                        </a:rPr>
                        <m:t> 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endParaRPr lang="en-US" sz="2000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1</a:t>
                </a:r>
                <a:r>
                  <a:rPr lang="en-US" sz="2000" b="1" baseline="30000" dirty="0">
                    <a:latin typeface="+mj-lt"/>
                  </a:rPr>
                  <a:t>st</a:t>
                </a:r>
                <a:r>
                  <a:rPr lang="en-US" sz="2000" b="1" dirty="0">
                    <a:latin typeface="+mj-lt"/>
                  </a:rPr>
                  <a:t> equation diagram: </a:t>
                </a:r>
                <a:endParaRPr lang="ar-AE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18B5F4-0F11-5251-64AC-000A0A548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273629"/>
                <a:ext cx="11675908" cy="3954737"/>
              </a:xfrm>
              <a:prstGeom prst="rect">
                <a:avLst/>
              </a:prstGeom>
              <a:blipFill>
                <a:blip r:embed="rId3"/>
                <a:stretch>
                  <a:fillRect l="-574" t="-924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DF8555D-8CDE-192B-BA6C-13DE45EF4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182" y="1479971"/>
            <a:ext cx="3188217" cy="1639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2D5CDF-C922-FCE8-8AAE-D078035D0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158" y="4723515"/>
            <a:ext cx="8729947" cy="133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61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AD7E-3CD8-1194-D565-E9BFC822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067CCD-8337-CD5C-E563-C9F03DCCCD62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2A3E17-4324-949A-558C-C3D3863812BC}"/>
                  </a:ext>
                </a:extLst>
              </p:cNvPr>
              <p:cNvSpPr txBox="1"/>
              <p:nvPr/>
            </p:nvSpPr>
            <p:spPr>
              <a:xfrm>
                <a:off x="320149" y="1273629"/>
                <a:ext cx="1167590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𝑠𝐿</m:t>
                      </m:r>
                      <m:r>
                        <m:rPr>
                          <m:nor/>
                        </m:rPr>
                        <a:rPr lang="ar-AE" sz="2000" i="1">
                          <a:latin typeface="+mj-lt"/>
                        </a:rPr>
                        <m:t> 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2</a:t>
                </a:r>
                <a:r>
                  <a:rPr lang="en-US" sz="2000" b="1" baseline="30000" dirty="0">
                    <a:latin typeface="+mj-lt"/>
                  </a:rPr>
                  <a:t>nd</a:t>
                </a:r>
                <a:r>
                  <a:rPr lang="en-US" sz="2000" dirty="0">
                    <a:latin typeface="+mj-lt"/>
                  </a:rPr>
                  <a:t> </a:t>
                </a:r>
                <a:r>
                  <a:rPr lang="en-US" sz="2000" b="1" dirty="0">
                    <a:latin typeface="+mj-lt"/>
                  </a:rPr>
                  <a:t> equation diagram: </a:t>
                </a:r>
              </a:p>
              <a:p>
                <a:endParaRPr lang="en-US" sz="2000" b="1" dirty="0">
                  <a:latin typeface="+mj-lt"/>
                </a:endParaRPr>
              </a:p>
              <a:p>
                <a:endParaRPr lang="en-US" sz="2000" b="1" dirty="0">
                  <a:latin typeface="+mj-lt"/>
                </a:endParaRPr>
              </a:p>
              <a:p>
                <a:endParaRPr lang="en-US" sz="2000" b="1" dirty="0">
                  <a:latin typeface="+mj-lt"/>
                </a:endParaRPr>
              </a:p>
              <a:p>
                <a:endParaRPr lang="en-US" sz="2000" b="1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Complete Block Diagram:</a:t>
                </a:r>
              </a:p>
              <a:p>
                <a:endParaRPr lang="en-US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2A3E17-4324-949A-558C-C3D386381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273629"/>
                <a:ext cx="11675908" cy="2554545"/>
              </a:xfrm>
              <a:prstGeom prst="rect">
                <a:avLst/>
              </a:prstGeom>
              <a:blipFill>
                <a:blip r:embed="rId3"/>
                <a:stretch>
                  <a:fillRect l="-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BA696C5-E9C6-7A70-42C5-01A6E7F97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636" y="2049816"/>
            <a:ext cx="3257951" cy="1041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6E4FAB-62F2-401A-E096-287446A38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182" y="1479971"/>
            <a:ext cx="3188217" cy="16394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C56979-E1FF-45EA-D8C5-2FCF698D5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1045" y="3928801"/>
            <a:ext cx="6866913" cy="133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6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580F-161B-DB34-F6D5-251E8B5D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9D3A0A-17ED-34DD-E7E6-DD6063DB10C1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297143-7E75-6EB6-20F0-15B7B460A994}"/>
                  </a:ext>
                </a:extLst>
              </p:cNvPr>
              <p:cNvSpPr txBox="1"/>
              <p:nvPr/>
            </p:nvSpPr>
            <p:spPr>
              <a:xfrm>
                <a:off x="521504" y="1385325"/>
                <a:ext cx="6096000" cy="1431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Here,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𝑠𝐿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𝐶𝑠</m:t>
                          </m:r>
                        </m:den>
                      </m:f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297143-7E75-6EB6-20F0-15B7B460A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04" y="1385325"/>
                <a:ext cx="6096000" cy="1431930"/>
              </a:xfrm>
              <a:prstGeom prst="rect">
                <a:avLst/>
              </a:prstGeom>
              <a:blipFill>
                <a:blip r:embed="rId4"/>
                <a:stretch>
                  <a:fillRect l="-900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F207A6A-8DC0-EF7F-36BD-D135825D0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226" y="1500642"/>
            <a:ext cx="4592288" cy="1321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B1A686-9FB2-67C8-ED6A-CBB9D62D93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504" y="3123124"/>
            <a:ext cx="9297410" cy="11319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28E5A3-88F0-A93F-A1BA-AB6D5C5D3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672" y="4556009"/>
            <a:ext cx="9878042" cy="179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74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50C9E-3F12-DFC5-C291-2B78E5963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4F38AF-E646-491B-2727-9ADC492536F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DCE9A4-17EC-556E-2911-9748F9C5354C}"/>
                  </a:ext>
                </a:extLst>
              </p:cNvPr>
              <p:cNvSpPr txBox="1"/>
              <p:nvPr/>
            </p:nvSpPr>
            <p:spPr>
              <a:xfrm>
                <a:off x="426730" y="1431441"/>
                <a:ext cx="6975556" cy="3529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Take the Laplace transform from the circuit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0" dirty="0">
                    <a:latin typeface="+mj-lt"/>
                  </a:rPr>
                  <a:t>From 1</a:t>
                </a:r>
                <a:r>
                  <a:rPr lang="en-US" sz="2000" b="0" baseline="30000" dirty="0">
                    <a:latin typeface="+mj-lt"/>
                  </a:rPr>
                  <a:t>st</a:t>
                </a:r>
                <a:r>
                  <a:rPr lang="en-US" sz="2000" b="0" dirty="0">
                    <a:latin typeface="+mj-lt"/>
                  </a:rPr>
                  <a:t> Equation:</a:t>
                </a:r>
                <a:endParaRPr lang="ar-AE" sz="2000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DCE9A4-17EC-556E-2911-9748F9C5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30" y="1431441"/>
                <a:ext cx="6975556" cy="3529684"/>
              </a:xfrm>
              <a:prstGeom prst="rect">
                <a:avLst/>
              </a:prstGeom>
              <a:blipFill>
                <a:blip r:embed="rId4"/>
                <a:stretch>
                  <a:fillRect l="-874" t="-1036" b="-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4813341-16C3-0363-1E37-E4ED1790E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1541643"/>
            <a:ext cx="5674744" cy="2061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C0774D-084E-C762-F883-4FE61A48D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6574" y="4694025"/>
            <a:ext cx="6216429" cy="15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26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B5A9-281D-4208-26C1-14EB7108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97082C-C8EF-8C5E-62FD-3159D8208AF5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3D52C1-A1CF-1FA0-C4B0-EDFEB7E389F3}"/>
                  </a:ext>
                </a:extLst>
              </p:cNvPr>
              <p:cNvSpPr txBox="1"/>
              <p:nvPr/>
            </p:nvSpPr>
            <p:spPr>
              <a:xfrm>
                <a:off x="426730" y="1431441"/>
                <a:ext cx="6975556" cy="4440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Take the Laplace transform from the circuit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0" dirty="0">
                    <a:latin typeface="+mj-lt"/>
                  </a:rPr>
                  <a:t>From 2</a:t>
                </a:r>
                <a:r>
                  <a:rPr lang="en-US" sz="2000" b="0" baseline="30000" dirty="0">
                    <a:latin typeface="+mj-lt"/>
                  </a:rPr>
                  <a:t>nd</a:t>
                </a:r>
                <a:r>
                  <a:rPr lang="en-US" sz="2000" b="0" dirty="0">
                    <a:latin typeface="+mj-lt"/>
                  </a:rPr>
                  <a:t> Equation:</a:t>
                </a:r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0" dirty="0">
                    <a:latin typeface="+mj-lt"/>
                  </a:rPr>
                  <a:t>From 3</a:t>
                </a:r>
                <a:r>
                  <a:rPr lang="en-US" sz="2000" b="0" baseline="30000" dirty="0">
                    <a:latin typeface="+mj-lt"/>
                  </a:rPr>
                  <a:t>rd</a:t>
                </a:r>
                <a:r>
                  <a:rPr lang="en-US" sz="2000" b="0" dirty="0">
                    <a:latin typeface="+mj-lt"/>
                  </a:rPr>
                  <a:t> Equation: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From 4</a:t>
                </a:r>
                <a:r>
                  <a:rPr lang="en-US" sz="2000" baseline="30000" dirty="0">
                    <a:latin typeface="+mj-lt"/>
                  </a:rPr>
                  <a:t>th</a:t>
                </a:r>
                <a:r>
                  <a:rPr lang="en-US" sz="2000" dirty="0">
                    <a:latin typeface="+mj-lt"/>
                  </a:rPr>
                  <a:t> Equation: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0" dirty="0">
                    <a:latin typeface="+mj-lt"/>
                  </a:rPr>
                  <a:t>Ful</a:t>
                </a:r>
                <a:r>
                  <a:rPr lang="en-US" sz="2000" dirty="0">
                    <a:latin typeface="+mj-lt"/>
                  </a:rPr>
                  <a:t>l Diagram:</a:t>
                </a:r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3D52C1-A1CF-1FA0-C4B0-EDFEB7E38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30" y="1431441"/>
                <a:ext cx="6975556" cy="4440062"/>
              </a:xfrm>
              <a:prstGeom prst="rect">
                <a:avLst/>
              </a:prstGeom>
              <a:blipFill>
                <a:blip r:embed="rId3"/>
                <a:stretch>
                  <a:fillRect l="-874" t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91F6282-2906-6849-EB47-5E5E435ED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1556622"/>
            <a:ext cx="5210593" cy="1556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ECEFB4-0EC9-804E-4EFB-194BC3B65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2482" y="3113314"/>
            <a:ext cx="4576661" cy="12103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F3375D-2E78-2B66-7E7C-17D5E5C8CB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705" y="4405982"/>
            <a:ext cx="2711589" cy="8953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2A3F3B-6407-83B6-CCA9-CAAF59DB58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832" y="5301378"/>
            <a:ext cx="8300312" cy="150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64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A8862-783C-F2BF-E669-16402F96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CA9301-8BB6-44C5-E41D-1F82D87BFB6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A8AFF3-5CB9-BAEE-8201-F90443CBA25A}"/>
                  </a:ext>
                </a:extLst>
              </p:cNvPr>
              <p:cNvSpPr txBox="1"/>
              <p:nvPr/>
            </p:nvSpPr>
            <p:spPr>
              <a:xfrm>
                <a:off x="320149" y="1271659"/>
                <a:ext cx="7702622" cy="2838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Laplace transform of the equations from the circuit: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𝑠𝐿</m:t>
                      </m:r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𝑠𝐿</m:t>
                          </m:r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Complete Block Diagram:</a:t>
                </a:r>
                <a:endParaRPr lang="ar-AE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A8AFF3-5CB9-BAEE-8201-F90443CBA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271659"/>
                <a:ext cx="7702622" cy="2838085"/>
              </a:xfrm>
              <a:prstGeom prst="rect">
                <a:avLst/>
              </a:prstGeom>
              <a:blipFill>
                <a:blip r:embed="rId4"/>
                <a:stretch>
                  <a:fillRect l="-871" t="-1290" b="-3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DAAB817-6A6B-5C18-C00D-F4B3EBE44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7996" y="4381011"/>
            <a:ext cx="8284204" cy="1618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5CD0C5-90DD-93D8-9326-149C8C7A84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897" y="1466039"/>
            <a:ext cx="4121303" cy="221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6134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228149-112C-4C57-8542-6BA70D65C362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0a944e8e-8b61-4f8d-a3d3-9a45e176b22f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11643</TotalTime>
  <Words>479</Words>
  <Application>Microsoft Office PowerPoint</Application>
  <PresentationFormat>Widescreen</PresentationFormat>
  <Paragraphs>81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Cambria Math</vt:lpstr>
      <vt:lpstr>Gill Sans MT</vt:lpstr>
      <vt:lpstr>Neue Haas Grotesk Text Pro</vt:lpstr>
      <vt:lpstr>SutonnyMJ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Mehedi Hasan Obhi</cp:lastModifiedBy>
  <cp:revision>7</cp:revision>
  <dcterms:created xsi:type="dcterms:W3CDTF">2026-01-09T15:02:13Z</dcterms:created>
  <dcterms:modified xsi:type="dcterms:W3CDTF">2026-06-14T07:28:32Z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