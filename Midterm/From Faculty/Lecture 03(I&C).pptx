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20"/>
  </p:notesMasterIdLst>
  <p:sldIdLst>
    <p:sldId id="256" r:id="rId5"/>
    <p:sldId id="277" r:id="rId6"/>
    <p:sldId id="278" r:id="rId7"/>
    <p:sldId id="279" r:id="rId8"/>
    <p:sldId id="296" r:id="rId9"/>
    <p:sldId id="297" r:id="rId10"/>
    <p:sldId id="280" r:id="rId11"/>
    <p:sldId id="281" r:id="rId12"/>
    <p:sldId id="282" r:id="rId13"/>
    <p:sldId id="283" r:id="rId14"/>
    <p:sldId id="284" r:id="rId15"/>
    <p:sldId id="298" r:id="rId16"/>
    <p:sldId id="299" r:id="rId17"/>
    <p:sldId id="294" r:id="rId18"/>
    <p:sldId id="29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59EA3-ED10-42D4-8626-595DEF53DE0D}" v="463" dt="2026-01-19T07:01:02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6E917-14F7-40D4-A849-9866C13ADA55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D3FCF-86E2-4FF1-A21B-1978B7060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9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8A75A-34C6-930A-0708-D630C7DDA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B2DB6-CCF4-8D74-C77A-91FA3910C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3B503-10CA-7A16-2C01-D0D0FC0FD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6AD81-CF6B-7EA1-0FA1-D9CE92F9C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86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690FD-E07A-08A5-5D2A-2633B197E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09CBB-0311-5DAE-BC2B-6550091EB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0D1871-8B14-9FFE-F0C6-45CB0C5E1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DE573-BEF3-39A4-4234-F0A1029DF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60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6CC34-C005-8DCD-D425-E51911152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C1793-7450-0C5B-3B06-A670636BD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8BB0C-AD5D-DF8E-264B-377F976A4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95569-9ADF-4347-BF02-90F4B72663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713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49C03-BEA8-A27E-E4F7-BD9B34C51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5C1127-8AD7-4842-B52D-4DA64E190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5FF22-2416-05C5-D493-BA090B9B8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38FB3-75D4-91F7-F195-4673B7BEF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31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0DD4F-7088-C3DB-6303-999A09E9C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E70EC-B08C-2DCC-6724-B3FBA2BD4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02B72-9C04-1A26-7F44-6697537C2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89CB2-892F-BF74-200A-85C54CD8D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65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E5FEE-77C6-D3B5-FF16-A87B19E8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8EB39-E71C-9D85-47C4-770C77538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6AF94-06FD-3D68-E0F3-E60A7CA75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FD9E4-D6D7-DD6D-E335-00C834643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42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BDB72-CFFD-812C-BAE3-BEF5899F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F9E65-0189-3CAB-5C78-90827AAED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49E4F-7E14-78EE-D3F0-8095C0D20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E223F-C271-9C3D-8405-1D9F42A5D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87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8491-1562-9028-315B-B99FEABBC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AE768-18E5-4ABF-8F4A-608DEECC5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DAEF30-6DC3-B93C-133A-6B7B7780B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A2EBA-6F74-1767-5FB2-BCF0CD3B3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36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79548-8200-208A-D0F2-1883B6B4C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58029-8C1E-89BF-BC56-295EC46BE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E51ED-C09D-C5F8-A8CF-2ACA3A031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808CF-64DC-2290-B788-A876BFA64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6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86E97-CD62-F81B-C55D-958DC0144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DBED4-F7B1-936C-DEBF-756A287FF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B789F-AB3A-93D6-D361-3D509A4E7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94BC6-4568-FDAB-A7B5-CD7AB005C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49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44E74-F400-6F9B-4EDE-4A3E9D105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382F0E-A1FF-4099-18B8-E0F231C1E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34011-ECCE-30C7-955E-5064D0F45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23544-DD93-F951-4CF5-ADA23C7E99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16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6DEF4-B127-0BC5-3CD9-7A6C2F136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1D9CB-AB9C-5480-E757-D49D8913F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5C839-054A-AD8E-70C9-AC6969D69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628A4-9B6E-63A2-EA3B-03D56590F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25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AAF87-0704-C789-F11E-8FB8A5FDF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5ECE6-BC0E-C5B1-EEE5-D2F71B194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F19DE-AC9E-2AD3-43C1-A727DB224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18E0D-C0A9-30AC-E0ED-A35569D58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069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6F9E-D1EB-61F9-0693-9D65E9DFA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488E4-DC98-AF28-7FE5-BBA7E60A1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5E9D1-43CD-98B1-9298-15B46B3D4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51D33-163E-54AF-4DA2-7402E79E5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78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6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5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2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3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5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4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3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F6C83-4504-6032-D47C-65A7E4134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48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4E4A5-F145-184B-5948-0344DCF8859B}"/>
              </a:ext>
            </a:extLst>
          </p:cNvPr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latin typeface="Gill Sans MT" panose="020B0502020104020203" pitchFamily="34" charset="0"/>
              </a:rPr>
              <a:t>Instrumentation and Control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500" b="1" dirty="0">
              <a:latin typeface="Gill Sans MT" panose="020B0502020104020203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solidFill>
                  <a:srgbClr val="FFFFFF"/>
                </a:solidFill>
                <a:latin typeface="Gill Sans MT" panose="020B0502020104020203" pitchFamily="34" charset="0"/>
                <a:ea typeface="+mj-ea"/>
                <a:cs typeface="+mj-cs"/>
              </a:rPr>
              <a:t>CSE 325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C874E-1527-F441-5964-DAA124295B96}"/>
              </a:ext>
            </a:extLst>
          </p:cNvPr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600" dirty="0">
                <a:latin typeface="Gill Sans MT" panose="020B0502020104020203" pitchFamily="34" charset="0"/>
              </a:rPr>
              <a:t>Mehedi Hasan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Lecturer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Computer Science and Engineering(CSE)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Daffodil International University(DIU)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B9DC3F-8C74-46B5-3D85-44EA9EC4BCEF}"/>
              </a:ext>
            </a:extLst>
          </p:cNvPr>
          <p:cNvSpPr txBox="1"/>
          <p:nvPr/>
        </p:nvSpPr>
        <p:spPr>
          <a:xfrm>
            <a:off x="5402654" y="1215195"/>
            <a:ext cx="61771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Reading maketh a full man; conference a ready man; and writing an exact man." - Francis Bacon</a:t>
            </a:r>
          </a:p>
        </p:txBody>
      </p:sp>
    </p:spTree>
    <p:extLst>
      <p:ext uri="{BB962C8B-B14F-4D97-AF65-F5344CB8AC3E}">
        <p14:creationId xmlns:p14="http://schemas.microsoft.com/office/powerpoint/2010/main" val="72709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DE9BF-4316-4492-71A8-1871118C3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009625-C80C-B755-595F-8D7AE61BBA82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Rectifier-based AC Meters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297938-DD51-224D-C4C4-2B11AD077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866" y="1632747"/>
            <a:ext cx="4553184" cy="21337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5DCCB1-9675-0522-6708-6E18DAF132E3}"/>
              </a:ext>
            </a:extLst>
          </p:cNvPr>
          <p:cNvSpPr txBox="1"/>
          <p:nvPr/>
        </p:nvSpPr>
        <p:spPr>
          <a:xfrm>
            <a:off x="320149" y="132833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Half-wave rectifier AC Meter:</a:t>
            </a:r>
          </a:p>
        </p:txBody>
      </p:sp>
      <p:pic>
        <p:nvPicPr>
          <p:cNvPr id="1026" name="Picture 2" descr="AC Voltmeters">
            <a:extLst>
              <a:ext uri="{FF2B5EF4-FFF2-40B4-BE49-F238E27FC236}">
                <a16:creationId xmlns:a16="http://schemas.microsoft.com/office/drawing/2014/main" id="{8EE81EBA-8F24-7CF8-F5DE-813E06BF8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86" y="1998889"/>
            <a:ext cx="5715000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C Voltmeters">
            <a:extLst>
              <a:ext uri="{FF2B5EF4-FFF2-40B4-BE49-F238E27FC236}">
                <a16:creationId xmlns:a16="http://schemas.microsoft.com/office/drawing/2014/main" id="{BD7F8580-14B2-7A4B-CDEC-5FA798D10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008" y="3682027"/>
            <a:ext cx="57150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A48C8E-BF12-1408-0826-524F1E7D65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919" y="4382972"/>
            <a:ext cx="1968089" cy="18763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48B896-EE66-954B-CFCF-16B1E896CD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6443" y="4382972"/>
            <a:ext cx="2973623" cy="193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94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EC74F-6168-1FB3-2FD2-E4A6F5030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F973A1-DC91-2332-25DF-E94C875E5DF8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Rectifier-based AC Meters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25CC1-A1FB-DC9D-716E-FCA8DF516DD0}"/>
              </a:ext>
            </a:extLst>
          </p:cNvPr>
          <p:cNvSpPr txBox="1"/>
          <p:nvPr/>
        </p:nvSpPr>
        <p:spPr>
          <a:xfrm>
            <a:off x="320149" y="132833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Half-wave rectifier AC Meter:</a:t>
            </a:r>
          </a:p>
        </p:txBody>
      </p:sp>
      <p:pic>
        <p:nvPicPr>
          <p:cNvPr id="1028" name="Picture 4" descr="AC Voltmeters">
            <a:extLst>
              <a:ext uri="{FF2B5EF4-FFF2-40B4-BE49-F238E27FC236}">
                <a16:creationId xmlns:a16="http://schemas.microsoft.com/office/drawing/2014/main" id="{96F3BEE8-5AD4-6737-CB5C-097067A9A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750" y="1728448"/>
            <a:ext cx="57150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0411C8-F893-FEDC-F63B-4842EF810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05" y="2336458"/>
            <a:ext cx="1968089" cy="18763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CD7E89-7694-0EFF-148C-3B3A432448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5750" y="2336458"/>
            <a:ext cx="2973623" cy="19357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C5AA4B-F4F0-5154-D1D4-45FF41E72325}"/>
              </a:ext>
            </a:extLst>
          </p:cNvPr>
          <p:cNvSpPr txBox="1"/>
          <p:nvPr/>
        </p:nvSpPr>
        <p:spPr>
          <a:xfrm>
            <a:off x="478970" y="4549676"/>
            <a:ext cx="115517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Disadvantages: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negative half-cycle, reverse current flows through the circuit as a result ,</a:t>
            </a:r>
            <a:r>
              <a:rPr lang="en-US" sz="2000" dirty="0">
                <a:solidFill>
                  <a:srgbClr val="FF0000"/>
                </a:solidFill>
              </a:rPr>
              <a:t>reduces average value of current </a:t>
            </a:r>
            <a:r>
              <a:rPr lang="en-US" sz="2000" dirty="0"/>
              <a:t>and so </a:t>
            </a:r>
            <a:r>
              <a:rPr lang="en-US" sz="2000" dirty="0">
                <a:solidFill>
                  <a:srgbClr val="FF0000"/>
                </a:solidFill>
              </a:rPr>
              <a:t>meter reads lower than actual.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High peak inverse voltage (PIV) rating of Diode is required.</a:t>
            </a:r>
          </a:p>
        </p:txBody>
      </p:sp>
    </p:spTree>
    <p:extLst>
      <p:ext uri="{BB962C8B-B14F-4D97-AF65-F5344CB8AC3E}">
        <p14:creationId xmlns:p14="http://schemas.microsoft.com/office/powerpoint/2010/main" val="3381077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C6BA8-8C7D-7035-718B-D8ABDCECE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623412-A30F-90AB-DD4A-466ACF60F247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Rectifier-based AC Meters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6455C-26F5-7B4D-49C5-20EDD3C84396}"/>
              </a:ext>
            </a:extLst>
          </p:cNvPr>
          <p:cNvSpPr txBox="1"/>
          <p:nvPr/>
        </p:nvSpPr>
        <p:spPr>
          <a:xfrm>
            <a:off x="320149" y="1349829"/>
            <a:ext cx="115517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Solution: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D9B1D6-ED80-126C-353D-A2CC5EA85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49" y="1857372"/>
            <a:ext cx="4451430" cy="31432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FC2BCF-AC30-D025-31CF-1699A0470C43}"/>
              </a:ext>
            </a:extLst>
          </p:cNvPr>
          <p:cNvSpPr txBox="1"/>
          <p:nvPr/>
        </p:nvSpPr>
        <p:spPr>
          <a:xfrm>
            <a:off x="5377543" y="1861457"/>
            <a:ext cx="64943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In negative half-cycle, D2 conducts. And so, no negative current flows through the meter movement. Because of this diode action, the circuit is protected from reverse current, and the </a:t>
            </a:r>
            <a:r>
              <a:rPr lang="en-US" sz="2000" dirty="0">
                <a:solidFill>
                  <a:srgbClr val="FF0000"/>
                </a:solidFill>
              </a:rPr>
              <a:t>meter only sees the positive portion of the waveform.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PIV rating requirement is much less than the large peak input voltage(</a:t>
            </a:r>
            <a:r>
              <a:rPr lang="en-US" sz="2000" dirty="0" err="1"/>
              <a:t>Vp</a:t>
            </a:r>
            <a:r>
              <a:rPr lang="en-US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49271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DB81A-CC59-6892-61B2-900791286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2CC44E-FF54-E017-40ED-AF92E32D5AE1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Rectifier-based AC 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92B2EF-DE6B-0659-1F33-C307EE281BF0}"/>
                  </a:ext>
                </a:extLst>
              </p:cNvPr>
              <p:cNvSpPr txBox="1"/>
              <p:nvPr/>
            </p:nvSpPr>
            <p:spPr>
              <a:xfrm>
                <a:off x="320149" y="1299980"/>
                <a:ext cx="11551700" cy="5638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 PPMC instrument with a 900 Ω coil resistance and an FSD of 75 </a:t>
                </a:r>
                <a:r>
                  <a:rPr lang="en-US" dirty="0" err="1"/>
                  <a:t>μA</a:t>
                </a:r>
                <a:r>
                  <a:rPr lang="en-US" dirty="0"/>
                  <a:t> is to be used with a half‑wave rectifier circuit as an AC voltmeter. Silicon diodes are used, and the minimum diode forward current is to be 80 </a:t>
                </a:r>
                <a:r>
                  <a:rPr lang="en-US" dirty="0" err="1"/>
                  <a:t>μA</a:t>
                </a:r>
                <a:r>
                  <a:rPr lang="en-US" dirty="0"/>
                  <a:t> . Calculate the shunt and multiplier resistance values required to give 200 V at FSD.</a:t>
                </a:r>
              </a:p>
              <a:p>
                <a:r>
                  <a:rPr lang="en-US" b="1" dirty="0"/>
                  <a:t>Solution:</a:t>
                </a:r>
              </a:p>
              <a:p>
                <a:r>
                  <a:rPr lang="en-US" dirty="0"/>
                  <a:t>Given:</a:t>
                </a:r>
              </a:p>
              <a:p>
                <a:r>
                  <a:rPr lang="en-US" dirty="0"/>
                  <a:t>PMMC coil resistance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900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l-GR" b="0" dirty="0"/>
              </a:p>
              <a:p>
                <a:r>
                  <a:rPr lang="en-US" dirty="0"/>
                  <a:t>Full scale deflection current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75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Silicon diode forward current requirement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80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Required AC voltmeter range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200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ar-AE" b="0" dirty="0"/>
              </a:p>
              <a:p>
                <a:endParaRPr lang="en-US" b="1" dirty="0"/>
              </a:p>
              <a:p>
                <a:r>
                  <a:rPr lang="en-US" b="1" dirty="0"/>
                  <a:t>Step 1: Find voltage across PMMC movement at FSD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900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0675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ar-AE" b="0" dirty="0"/>
              </a:p>
              <a:p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92B2EF-DE6B-0659-1F33-C307EE281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299980"/>
                <a:ext cx="11551700" cy="5638531"/>
              </a:xfrm>
              <a:prstGeom prst="rect">
                <a:avLst/>
              </a:prstGeom>
              <a:blipFill>
                <a:blip r:embed="rId3"/>
                <a:stretch>
                  <a:fillRect l="-475" t="-541" r="-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856059-8492-4EF9-832C-CCD473E9144F}"/>
                  </a:ext>
                </a:extLst>
              </p:cNvPr>
              <p:cNvSpPr txBox="1"/>
              <p:nvPr/>
            </p:nvSpPr>
            <p:spPr>
              <a:xfrm>
                <a:off x="7543800" y="2260908"/>
                <a:ext cx="4328049" cy="4597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Step 2: Calculate shunt resistance</a:t>
                </a:r>
              </a:p>
              <a:p>
                <a:r>
                  <a:rPr lang="en-US" dirty="0"/>
                  <a:t>The diode requires at least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nor/>
                      </m:rPr>
                      <a:rPr lang="en-US" i="1"/>
                      <m:t>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forward current for conduction.</a:t>
                </a:r>
              </a:p>
              <a:p>
                <a:r>
                  <a:rPr lang="en-US" dirty="0"/>
                  <a:t>Meter takes only: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75</m:t>
                      </m:r>
                      <m:r>
                        <m:rPr>
                          <m:nor/>
                        </m:rPr>
                        <a:rPr lang="en-US" i="1"/>
                        <m:t>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So extra current through shunt: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Since shunt is parallel with meter: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0675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13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l-GR" b="0" dirty="0"/>
              </a:p>
              <a:p>
                <a:r>
                  <a:rPr lang="en-US" dirty="0"/>
                  <a:t>Therefore,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13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border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856059-8492-4EF9-832C-CCD473E91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2260908"/>
                <a:ext cx="4328049" cy="4597092"/>
              </a:xfrm>
              <a:prstGeom prst="rect">
                <a:avLst/>
              </a:prstGeom>
              <a:blipFill>
                <a:blip r:embed="rId4"/>
                <a:stretch>
                  <a:fillRect l="-1269" t="-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4909CE-ABF6-2EF3-8EB3-33CDD363DAD2}"/>
              </a:ext>
            </a:extLst>
          </p:cNvPr>
          <p:cNvCxnSpPr/>
          <p:nvPr/>
        </p:nvCxnSpPr>
        <p:spPr>
          <a:xfrm>
            <a:off x="7271657" y="2340429"/>
            <a:ext cx="0" cy="4321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920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EEC1D-4564-4046-E341-0F06B670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F803C9-B0CE-B2C8-6D05-EDECBD632BA8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Rectifier-based AC 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F37BDF-5D94-388B-6BB1-2A168276BA8E}"/>
                  </a:ext>
                </a:extLst>
              </p:cNvPr>
              <p:cNvSpPr txBox="1"/>
              <p:nvPr/>
            </p:nvSpPr>
            <p:spPr>
              <a:xfrm>
                <a:off x="320149" y="1299980"/>
                <a:ext cx="11551700" cy="60300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 PPMC instrument with a 900 Ω coil resistance and an FSD of 75 </a:t>
                </a:r>
                <a:r>
                  <a:rPr lang="en-US" dirty="0" err="1"/>
                  <a:t>μA</a:t>
                </a:r>
                <a:r>
                  <a:rPr lang="en-US" dirty="0"/>
                  <a:t> is to be used with a half‑wave rectifier circuit as an AC voltmeter. Silicon diodes are used, and the minimum diode forward current is to be 80 </a:t>
                </a:r>
                <a:r>
                  <a:rPr lang="en-US" dirty="0" err="1"/>
                  <a:t>μA</a:t>
                </a:r>
                <a:r>
                  <a:rPr lang="en-US" dirty="0"/>
                  <a:t> . Calculate the shunt and multiplier resistance values required to give 200 V at FSD.</a:t>
                </a:r>
              </a:p>
              <a:p>
                <a:r>
                  <a:rPr lang="en-US" dirty="0"/>
                  <a:t>Solution:</a:t>
                </a:r>
              </a:p>
              <a:p>
                <a:r>
                  <a:rPr lang="en-US" b="1" dirty="0"/>
                  <a:t>Step 3: Total current at full-scale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80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US" b="1" dirty="0"/>
                  <a:t>Step 4: Convert RMS voltage to peak voltage</a:t>
                </a:r>
              </a:p>
              <a:p>
                <a:r>
                  <a:rPr lang="en-US" dirty="0"/>
                  <a:t>For half-wave rectifier design: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414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200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282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Silicon diode drop: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Therefore, voltage across resistor network: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282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282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ar-AE" b="0" dirty="0"/>
              </a:p>
              <a:p>
                <a:br>
                  <a:rPr lang="ar-AE" dirty="0"/>
                </a:br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F37BDF-5D94-388B-6BB1-2A168276B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299980"/>
                <a:ext cx="11551700" cy="6030049"/>
              </a:xfrm>
              <a:prstGeom prst="rect">
                <a:avLst/>
              </a:prstGeom>
              <a:blipFill>
                <a:blip r:embed="rId3"/>
                <a:stretch>
                  <a:fillRect l="-475" t="-506" r="-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416372-3A17-7BF9-9593-27D262476642}"/>
                  </a:ext>
                </a:extLst>
              </p:cNvPr>
              <p:cNvSpPr txBox="1"/>
              <p:nvPr/>
            </p:nvSpPr>
            <p:spPr>
              <a:xfrm>
                <a:off x="7336972" y="2222729"/>
                <a:ext cx="4534877" cy="4818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Step 5: Find total resistance required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282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526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l-G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526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l-GR" b="0" dirty="0"/>
              </a:p>
              <a:p>
                <a:r>
                  <a:rPr lang="en-US" b="1" dirty="0"/>
                  <a:t>Step 6: Effective resistance of meter branch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∥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900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13500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900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13500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844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l-GR" b="0" dirty="0"/>
              </a:p>
              <a:p>
                <a:r>
                  <a:rPr lang="en-US" b="1" dirty="0"/>
                  <a:t>Step 7: Multiplier resistance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526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>
                        <a:latin typeface="Cambria Math" panose="02040503050406030204" pitchFamily="18" charset="0"/>
                      </a:rPr>
                      <m:t>844</m:t>
                    </m:r>
                    <m:r>
                      <m:rPr>
                        <m:nor/>
                      </m:rPr>
                      <a:rPr lang="el-GR" i="1"/>
                      <m:t> 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525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l-GR" dirty="0"/>
              </a:p>
              <a:p>
                <a:endParaRPr lang="ar-AE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416372-3A17-7BF9-9593-27D262476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972" y="2222729"/>
                <a:ext cx="4534877" cy="4818435"/>
              </a:xfrm>
              <a:prstGeom prst="rect">
                <a:avLst/>
              </a:prstGeom>
              <a:blipFill>
                <a:blip r:embed="rId4"/>
                <a:stretch>
                  <a:fillRect l="-1211" t="-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B1FE8E-80C5-84A4-562A-431F46E71AEB}"/>
              </a:ext>
            </a:extLst>
          </p:cNvPr>
          <p:cNvCxnSpPr>
            <a:cxnSpLocks/>
          </p:cNvCxnSpPr>
          <p:nvPr/>
        </p:nvCxnSpPr>
        <p:spPr>
          <a:xfrm>
            <a:off x="7217229" y="2222729"/>
            <a:ext cx="0" cy="44937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18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D4731-79A2-A838-8F33-EA212969F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834ABC-3335-32BB-FD75-40FB629F576F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Half-Wave AC Voltmeter Sensitivity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03B013A-36C5-AB94-CB75-C3589F844442}"/>
                  </a:ext>
                </a:extLst>
              </p:cNvPr>
              <p:cNvSpPr txBox="1"/>
              <p:nvPr/>
            </p:nvSpPr>
            <p:spPr>
              <a:xfrm>
                <a:off x="320149" y="1349829"/>
                <a:ext cx="11551701" cy="5642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+mj-lt"/>
                  </a:rPr>
                  <a:t>Input Resistance During AC Cycle</a:t>
                </a:r>
              </a:p>
              <a:p>
                <a:r>
                  <a:rPr lang="en-US" sz="2000" dirty="0">
                    <a:latin typeface="+mj-lt"/>
                  </a:rPr>
                  <a:t>Positive half-cycle: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              </m:t>
                        </m:r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sz="2000" dirty="0">
                  <a:latin typeface="+mj-lt"/>
                </a:endParaRPr>
              </a:p>
              <a:p>
                <a:r>
                  <a:rPr lang="en-US" sz="2000" dirty="0">
                    <a:latin typeface="+mj-lt"/>
                  </a:rPr>
                  <a:t>Negative half-cycle: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ar-AE" sz="2000" dirty="0">
                  <a:latin typeface="+mj-lt"/>
                </a:endParaRPr>
              </a:p>
              <a:p>
                <a:r>
                  <a:rPr lang="en-US" sz="2000" dirty="0">
                    <a:latin typeface="+mj-lt"/>
                  </a:rPr>
                  <a:t>Since typically: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≫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r>
                  <a:rPr lang="en-US" sz="2000" dirty="0">
                    <a:latin typeface="+mj-lt"/>
                  </a:rPr>
                  <a:t>the meter movement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is comparatively small.</a:t>
                </a:r>
              </a:p>
              <a:p>
                <a:r>
                  <a:rPr lang="en-US" sz="2000" b="1" dirty="0">
                    <a:latin typeface="+mj-lt"/>
                  </a:rPr>
                  <a:t>Relationship Between Series Resistance and Input Voltage</a:t>
                </a:r>
              </a:p>
              <a:p>
                <a:r>
                  <a:rPr lang="en-US" sz="2000" dirty="0">
                    <a:latin typeface="+mj-lt"/>
                  </a:rPr>
                  <a:t>For half-wave rectification: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45</m:t>
                      </m:r>
                      <m:r>
                        <m:rPr>
                          <m:nor/>
                        </m:rPr>
                        <a:rPr lang="ar-AE" sz="2000" i="1">
                          <a:latin typeface="+mj-lt"/>
                        </a:rPr>
                        <m:t> 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r>
                  <a:rPr lang="en-US" sz="2000" dirty="0">
                    <a:latin typeface="+mj-lt"/>
                  </a:rPr>
                  <a:t>Meter current at full scale: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𝑓𝑠𝑑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𝑎𝑣𝑔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r>
                  <a:rPr lang="en-US" sz="2000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sz="2000" dirty="0">
                    <a:latin typeface="+mj-lt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45</m:t>
                          </m:r>
                          <m:r>
                            <m:rPr>
                              <m:nor/>
                            </m:rPr>
                            <a:rPr lang="ar-AE" sz="2000" i="1">
                              <a:latin typeface="+mj-lt"/>
                            </a:rPr>
                            <m:t> 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𝑟𝑚𝑠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𝑓𝑠𝑑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br>
                  <a:rPr lang="ar-AE" dirty="0"/>
                </a:b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03B013A-36C5-AB94-CB75-C3589F84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349829"/>
                <a:ext cx="11551701" cy="5642314"/>
              </a:xfrm>
              <a:prstGeom prst="rect">
                <a:avLst/>
              </a:prstGeom>
              <a:blipFill>
                <a:blip r:embed="rId3"/>
                <a:stretch>
                  <a:fillRect l="-581" t="-5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5963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930AE-EDAF-F0DD-AA8E-A997E27E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5EE00B-FE56-0EFA-38A4-C80157102170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Half-Wave AC Voltmeter Sensitivity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02F099-34AC-5A52-A6EE-0DAE0E887830}"/>
                  </a:ext>
                </a:extLst>
              </p:cNvPr>
              <p:cNvSpPr txBox="1"/>
              <p:nvPr/>
            </p:nvSpPr>
            <p:spPr>
              <a:xfrm>
                <a:off x="320149" y="1349829"/>
                <a:ext cx="11551701" cy="5155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Half-Wave AC Voltmeter Sensitivity</a:t>
                </a:r>
                <a:endParaRPr lang="ar-AE" sz="2000" dirty="0"/>
              </a:p>
              <a:p>
                <a:r>
                  <a:rPr lang="en-US" sz="2000" b="1" dirty="0"/>
                  <a:t>The AC input resistance becomes: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ar-AE" sz="2000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b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 b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b="0" smtClean="0">
                              <a:latin typeface="Cambria Math" panose="02040503050406030204" pitchFamily="18" charset="0"/>
                            </a:rPr>
                            <m:t>45</m:t>
                          </m:r>
                          <m:r>
                            <m:rPr>
                              <m:nor/>
                            </m:rPr>
                            <a:rPr lang="ar-AE" sz="2000" i="1"/>
                            <m:t> 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𝑓𝑠𝑑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𝑓𝑠𝑑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000" dirty="0"/>
              </a:p>
              <a:p>
                <a:r>
                  <a:rPr lang="en-US" sz="2000" b="1" dirty="0"/>
                  <a:t>AC Sensitivity</a:t>
                </a:r>
              </a:p>
              <a:p>
                <a:r>
                  <a:rPr lang="en-US" sz="2000" dirty="0"/>
                  <a:t>AC sensitivity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sub>
                    </m:sSub>
                  </m:oMath>
                </a14:m>
                <a:r>
                  <a:rPr lang="en-US" sz="2000" dirty="0"/>
                  <a:t>is defined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sub>
                      </m:sSub>
                      <m:r>
                        <a:rPr lang="ar-AE" sz="2000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𝑓𝑠𝑑</m:t>
                              </m:r>
                            </m:sub>
                          </m:sSub>
                        </m:den>
                      </m:f>
                      <m:r>
                        <a:rPr lang="ar-AE" sz="2000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b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 b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b="0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𝑓𝑠𝑑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000" dirty="0"/>
              </a:p>
              <a:p>
                <a:r>
                  <a:rPr lang="en-US" sz="2000" b="1" dirty="0"/>
                  <a:t>Comparison With DC Sensitivity</a:t>
                </a:r>
              </a:p>
              <a:p>
                <a:r>
                  <a:rPr lang="en-US" sz="2000" dirty="0"/>
                  <a:t>Since: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lang="ar-AE" sz="2000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b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𝑓𝑠𝑑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000" dirty="0"/>
              </a:p>
              <a:p>
                <a:r>
                  <a:rPr lang="en-US" sz="2000" dirty="0"/>
                  <a:t>We get: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sub>
                      </m:sSub>
                      <m:r>
                        <a:rPr lang="ar-AE" sz="2000" b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</m:oMath>
                  </m:oMathPara>
                </a14:m>
                <a:endParaRPr lang="ar-AE" sz="2000" dirty="0"/>
              </a:p>
              <a:p>
                <a:r>
                  <a:rPr lang="en-US" sz="2000" dirty="0"/>
                  <a:t>Therefore, a half-wave AC voltmeter is </a:t>
                </a:r>
                <a:r>
                  <a:rPr lang="en-US" sz="2000" dirty="0">
                    <a:solidFill>
                      <a:srgbClr val="FF0000"/>
                    </a:solidFill>
                  </a:rPr>
                  <a:t>less sensitive </a:t>
                </a:r>
                <a:r>
                  <a:rPr lang="en-US" sz="2000" dirty="0"/>
                  <a:t>compared to a DC voltmeter.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02F099-34AC-5A52-A6EE-0DAE0E887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349829"/>
                <a:ext cx="11551701" cy="5155514"/>
              </a:xfrm>
              <a:prstGeom prst="rect">
                <a:avLst/>
              </a:prstGeom>
              <a:blipFill>
                <a:blip r:embed="rId3"/>
                <a:stretch>
                  <a:fillRect l="-581" t="-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1329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BDD5D-6EFD-5420-214D-B7D4F7AAD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243A96-DA38-2CFC-5EC6-70AFE5364412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Non-linearity in Lower RMS Ranges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BDAEA0-588F-05DA-2008-2CF4BDA03F21}"/>
              </a:ext>
            </a:extLst>
          </p:cNvPr>
          <p:cNvSpPr txBox="1"/>
          <p:nvPr/>
        </p:nvSpPr>
        <p:spPr>
          <a:xfrm>
            <a:off x="320150" y="1349829"/>
            <a:ext cx="5493032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Diode I-V characteristics are inherently non-linear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This </a:t>
            </a:r>
            <a:r>
              <a:rPr lang="en-US" sz="2000" dirty="0">
                <a:solidFill>
                  <a:srgbClr val="FF0000"/>
                </a:solidFill>
              </a:rPr>
              <a:t>non-linearity</a:t>
            </a:r>
            <a:r>
              <a:rPr lang="en-US" sz="2000" dirty="0"/>
              <a:t> is most </a:t>
            </a:r>
            <a:r>
              <a:rPr lang="en-US" sz="2000" dirty="0">
                <a:solidFill>
                  <a:srgbClr val="FF0000"/>
                </a:solidFill>
              </a:rPr>
              <a:t>noticeable at low currents and low RMS voltages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At small signals, the diode’s forward drop clips part of the waveform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The lower end of the scale becomes </a:t>
            </a:r>
            <a:r>
              <a:rPr lang="en-US" sz="2000" dirty="0">
                <a:solidFill>
                  <a:srgbClr val="FF0000"/>
                </a:solidFill>
              </a:rPr>
              <a:t>compressed and non-linear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Non-linearity can be reduced </a:t>
            </a:r>
            <a:r>
              <a:rPr lang="en-US" sz="2000" dirty="0"/>
              <a:t>by operating the diode </a:t>
            </a:r>
            <a:r>
              <a:rPr lang="en-US" sz="2000" dirty="0">
                <a:solidFill>
                  <a:srgbClr val="FF0000"/>
                </a:solidFill>
              </a:rPr>
              <a:t>at higher current levels</a:t>
            </a:r>
          </a:p>
          <a:p>
            <a:br>
              <a:rPr lang="en-US" sz="2000" dirty="0"/>
            </a:br>
            <a:endParaRPr lang="en-US" sz="20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87B91D-7527-2B00-3110-FDC78AD0C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182" y="1621972"/>
            <a:ext cx="6149657" cy="401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98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E0192-8C73-C52B-2D7B-6C4EF123C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4BF439-E8B0-C0BE-748A-157887FABAD4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Non-linearity in Lower RMS Ranges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1DA7E0-3C3B-0F53-3FFE-454F71495BDF}"/>
                  </a:ext>
                </a:extLst>
              </p:cNvPr>
              <p:cNvSpPr txBox="1"/>
              <p:nvPr/>
            </p:nvSpPr>
            <p:spPr>
              <a:xfrm>
                <a:off x="320149" y="1404257"/>
                <a:ext cx="11551701" cy="3392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Effect of Shunt Resistance on Sensitivity</a:t>
                </a:r>
              </a:p>
              <a:p>
                <a:r>
                  <a:rPr lang="en-US" sz="2000" dirty="0"/>
                  <a:t>If a shunt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000" dirty="0"/>
                  <a:t>is added:</a:t>
                </a:r>
              </a:p>
              <a:p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sz="2000" dirty="0"/>
                  <a:t>, </a:t>
                </a:r>
                <a:r>
                  <a:rPr lang="en-US" sz="2000" dirty="0"/>
                  <a:t>current through diode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becomes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𝑎𝑣</m:t>
                        </m:r>
                      </m:sub>
                    </m:sSub>
                  </m:oMath>
                </a14:m>
                <a:endParaRPr lang="ar-AE" sz="2000" dirty="0"/>
              </a:p>
              <a:p>
                <a:r>
                  <a:rPr lang="en-US" sz="2000" dirty="0"/>
                  <a:t>Required series resistance becomes: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45</m:t>
                          </m:r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𝑟𝑚𝑠</m:t>
                              </m:r>
                            </m:sub>
                          </m:sSub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𝑎𝑣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000" b="0" dirty="0"/>
              </a:p>
              <a:p>
                <a:r>
                  <a:rPr lang="en-US" sz="2000" dirty="0"/>
                  <a:t>The AC sensitivity becomes: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𝑎𝑐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𝑓𝑠𝑑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000" dirty="0"/>
              </a:p>
              <a:p>
                <a:r>
                  <a:rPr lang="en-US" sz="2000" dirty="0"/>
                  <a:t>Therefore,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𝑎𝑐</m:t>
                        </m:r>
                      </m:sub>
                    </m:sSub>
                  </m:oMath>
                </a14:m>
                <a:r>
                  <a:rPr lang="en-US" sz="2000" dirty="0"/>
                  <a:t>is further reduced (i.e., less sensitive)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1DA7E0-3C3B-0F53-3FFE-454F71495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404257"/>
                <a:ext cx="11551701" cy="3392852"/>
              </a:xfrm>
              <a:prstGeom prst="rect">
                <a:avLst/>
              </a:prstGeom>
              <a:blipFill>
                <a:blip r:embed="rId3"/>
                <a:stretch>
                  <a:fillRect l="-581" t="-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2E99F55-F488-2DA4-543D-92A347965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4021" y="2006555"/>
            <a:ext cx="4820313" cy="231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5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A8F7-5EB6-39C3-3FA5-D097DB46F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A84902-3D0E-1FCF-4920-F5FE1EF2C3EB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Full-wave Rectifier-based Meter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BF921E-CC81-1B67-C6B7-1DEE23E95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51" y="1456835"/>
            <a:ext cx="10704019" cy="20423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ED7199-775C-0EFB-2A97-D702DBC2AD54}"/>
                  </a:ext>
                </a:extLst>
              </p:cNvPr>
              <p:cNvSpPr txBox="1"/>
              <p:nvPr/>
            </p:nvSpPr>
            <p:spPr>
              <a:xfrm>
                <a:off x="1023257" y="3499233"/>
                <a:ext cx="10497191" cy="3204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The average current is given by,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  <m:r>
                        <a:rPr lang="ar-AE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ar-AE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 b="0" i="0" smtClean="0">
                          <a:latin typeface="Cambria Math" panose="02040503050406030204" pitchFamily="18" charset="0"/>
                        </a:rPr>
                        <m:t>636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is given by,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ar-AE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 b="0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b="0" i="0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m:rPr>
                              <m:nor/>
                            </m:rPr>
                            <a:rPr lang="ar-AE" sz="2000" i="1">
                              <a:latin typeface="+mj-lt"/>
                            </a:rPr>
                            <m:t> 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𝑟𝑚𝑠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𝑎𝑣</m:t>
                              </m:r>
                            </m:sub>
                          </m:sSub>
                        </m:den>
                      </m:f>
                      <m:r>
                        <a:rPr lang="ar-AE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Now, the AC sensitivity becomes: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sub>
                      </m:sSub>
                      <m:r>
                        <a:rPr lang="ar-AE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 b="0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b="0" i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𝑓𝑠𝑑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This is double that of a half-wave rectifier-based meter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ED7199-775C-0EFB-2A97-D702DBC2A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57" y="3499233"/>
                <a:ext cx="10497191" cy="3204532"/>
              </a:xfrm>
              <a:prstGeom prst="rect">
                <a:avLst/>
              </a:prstGeom>
              <a:blipFill>
                <a:blip r:embed="rId4"/>
                <a:stretch>
                  <a:fillRect l="-639" t="-951" b="-2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9507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DFD01-036E-86E8-A74B-4BC99972D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939769-46BE-986B-6619-30A9AD4816FB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Full-wave Rectifier-based Meter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452F3C-66E5-1EA0-2BD7-AA83C4EB3BA8}"/>
              </a:ext>
            </a:extLst>
          </p:cNvPr>
          <p:cNvSpPr txBox="1"/>
          <p:nvPr/>
        </p:nvSpPr>
        <p:spPr>
          <a:xfrm>
            <a:off x="320148" y="1352568"/>
            <a:ext cx="115517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An AC voltmeter uses a bridge rectifier with silicon diodes and a PPMC instrument with FSD 75 µA. If the meter coil resistance is 900 Ω and the multiplier resistor is 708 </a:t>
            </a:r>
            <a:r>
              <a:rPr lang="en-US" dirty="0" err="1"/>
              <a:t>kΩ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(a) Calculate the applied RMS voltage when the voltmeter indicates FSD.</a:t>
            </a:r>
            <a:br>
              <a:rPr lang="en-US" dirty="0"/>
            </a:br>
            <a:r>
              <a:rPr lang="en-US" dirty="0"/>
              <a:t>(b) Determine the new multiplier resistance required for the voltmeter to change its range to 300 V FSD.</a:t>
            </a:r>
            <a:br>
              <a:rPr lang="en-US" dirty="0"/>
            </a:br>
            <a:r>
              <a:rPr lang="en-US" dirty="0"/>
              <a:t>(c) Calculate the sensitivity of the AC voltmeter.</a:t>
            </a:r>
          </a:p>
          <a:p>
            <a:pPr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712D50-3A81-17F7-1A14-69696AB7F446}"/>
                  </a:ext>
                </a:extLst>
              </p:cNvPr>
              <p:cNvSpPr txBox="1"/>
              <p:nvPr/>
            </p:nvSpPr>
            <p:spPr>
              <a:xfrm>
                <a:off x="320148" y="2865682"/>
                <a:ext cx="6096000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Given: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75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75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900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𝑚𝑢𝑙𝑡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708</m:t>
                    </m:r>
                    <m:r>
                      <m:rPr>
                        <m:nor/>
                      </m:rPr>
                      <a:rPr lang="en-US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Bridge rectifier with silicon diodes (each drop ≈ 0.7 V) </a:t>
                </a:r>
                <a:br>
                  <a:rPr lang="en-US" dirty="0"/>
                </a:br>
                <a:endParaRPr lang="en-US" dirty="0"/>
              </a:p>
              <a:p>
                <a:pPr>
                  <a:buNone/>
                </a:pPr>
                <a:r>
                  <a:rPr lang="en-US" b="1" dirty="0"/>
                  <a:t>(a) Applied RMS voltage at FSD</a:t>
                </a:r>
              </a:p>
              <a:p>
                <a:pPr>
                  <a:buNone/>
                </a:pPr>
                <a:r>
                  <a:rPr lang="en-US" dirty="0"/>
                  <a:t>DC voltage across meter: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0675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Total DC voltage: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𝑚𝑢𝑙𝑡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900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708000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53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175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Add diode drops (≈1.4 V for bridge):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53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175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54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575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712D50-3A81-17F7-1A14-69696AB7F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2865682"/>
                <a:ext cx="6096000" cy="3970318"/>
              </a:xfrm>
              <a:prstGeom prst="rect">
                <a:avLst/>
              </a:prstGeom>
              <a:blipFill>
                <a:blip r:embed="rId3"/>
                <a:stretch>
                  <a:fillRect l="-900" t="-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757974-CB35-D508-42ED-4C983AA6BBBE}"/>
                  </a:ext>
                </a:extLst>
              </p:cNvPr>
              <p:cNvSpPr txBox="1"/>
              <p:nvPr/>
            </p:nvSpPr>
            <p:spPr>
              <a:xfrm>
                <a:off x="7315201" y="4265413"/>
                <a:ext cx="6096000" cy="30758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For bridge rectifier: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9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Therefore,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𝐷𝐶</m:t>
                              </m:r>
                            </m:sub>
                          </m:sSub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54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575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64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Applied RMS voltage ≈ 60.6 V</a:t>
                </a:r>
              </a:p>
              <a:p>
                <a:pPr>
                  <a:buNone/>
                </a:pP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757974-CB35-D508-42ED-4C983AA6B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1" y="4265413"/>
                <a:ext cx="6096000" cy="3075842"/>
              </a:xfrm>
              <a:prstGeom prst="rect">
                <a:avLst/>
              </a:prstGeom>
              <a:blipFill>
                <a:blip r:embed="rId4"/>
                <a:stretch>
                  <a:fillRect l="-800" t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29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F207C-47FF-8FC0-8D00-FF3D74A58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9609DB-98CC-F09D-B00B-42370A3EC560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Full-wave Rectifier-based Meter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23E1D8-033C-3296-C7F8-3CD0E79DCA8E}"/>
              </a:ext>
            </a:extLst>
          </p:cNvPr>
          <p:cNvSpPr txBox="1"/>
          <p:nvPr/>
        </p:nvSpPr>
        <p:spPr>
          <a:xfrm>
            <a:off x="320148" y="1352568"/>
            <a:ext cx="115517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An AC voltmeter uses a bridge rectifier with silicon diodes and a PPMC instrument with FSD 75 µA. If the meter coil resistance is 900 Ω and the multiplier resistor is 708 </a:t>
            </a:r>
            <a:r>
              <a:rPr lang="en-US" dirty="0" err="1"/>
              <a:t>kΩ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(a) Calculate the applied RMS voltage when the voltmeter indicates FSD.</a:t>
            </a:r>
            <a:br>
              <a:rPr lang="en-US" dirty="0"/>
            </a:br>
            <a:r>
              <a:rPr lang="en-US" dirty="0"/>
              <a:t>(b) Determine the new multiplier resistance required for the voltmeter to change its range to 300 V FSD.</a:t>
            </a:r>
            <a:br>
              <a:rPr lang="en-US" dirty="0"/>
            </a:br>
            <a:r>
              <a:rPr lang="en-US" dirty="0"/>
              <a:t>(c) Calculate the sensitivity of the AC voltmeter.</a:t>
            </a:r>
          </a:p>
          <a:p>
            <a:pPr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9D14A5-BDA3-C741-609E-88E4C50DA7A3}"/>
                  </a:ext>
                </a:extLst>
              </p:cNvPr>
              <p:cNvSpPr txBox="1"/>
              <p:nvPr/>
            </p:nvSpPr>
            <p:spPr>
              <a:xfrm>
                <a:off x="424544" y="3013557"/>
                <a:ext cx="6096000" cy="3926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(b) New multiplier resistance for 300 V FSD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300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75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268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75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58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𝑚𝑢𝑙𝑡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58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900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579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New multiplier resistance ≈ 3.58 MΩ</a:t>
                </a:r>
              </a:p>
              <a:p>
                <a:pPr>
                  <a:buNone/>
                </a:pP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9D14A5-BDA3-C741-609E-88E4C50DA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44" y="3013557"/>
                <a:ext cx="6096000" cy="3926781"/>
              </a:xfrm>
              <a:prstGeom prst="rect">
                <a:avLst/>
              </a:prstGeom>
              <a:blipFill>
                <a:blip r:embed="rId3"/>
                <a:stretch>
                  <a:fillRect l="-900" t="-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A77997-1442-8FC0-0044-E5A4D6572AE4}"/>
                  </a:ext>
                </a:extLst>
              </p:cNvPr>
              <p:cNvSpPr txBox="1"/>
              <p:nvPr/>
            </p:nvSpPr>
            <p:spPr>
              <a:xfrm>
                <a:off x="6520544" y="2746177"/>
                <a:ext cx="6096000" cy="2563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b="1" dirty="0"/>
                  <a:t>(c) Sensitivity of AC voltmeter</a:t>
                </a:r>
              </a:p>
              <a:p>
                <a:pPr>
                  <a:buNone/>
                </a:pPr>
                <a:r>
                  <a:rPr lang="en-US" dirty="0"/>
                  <a:t>Sensitivity = Resistance per volt: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𝑚𝑢𝑙𝑡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𝑟𝑚𝑠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708900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64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11700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Sensitivity ≈ 11.7 </a:t>
                </a:r>
                <a:r>
                  <a:rPr lang="en-US" dirty="0" err="1"/>
                  <a:t>kΩ</a:t>
                </a:r>
                <a:r>
                  <a:rPr lang="en-US" dirty="0"/>
                  <a:t>/V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A77997-1442-8FC0-0044-E5A4D6572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0544" y="2746177"/>
                <a:ext cx="6096000" cy="2563074"/>
              </a:xfrm>
              <a:prstGeom prst="rect">
                <a:avLst/>
              </a:prstGeom>
              <a:blipFill>
                <a:blip r:embed="rId4"/>
                <a:stretch>
                  <a:fillRect l="-900" b="-2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9060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CCBAC-12C9-E447-500D-EA77AB3FD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B390A4-025D-D64D-365B-3F051A82B562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Electronic AC Ammeter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6C6B6-FEFD-8436-F29E-220FDD0910C7}"/>
              </a:ext>
            </a:extLst>
          </p:cNvPr>
          <p:cNvSpPr txBox="1"/>
          <p:nvPr/>
        </p:nvSpPr>
        <p:spPr>
          <a:xfrm>
            <a:off x="320148" y="1319910"/>
            <a:ext cx="1155170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The ac voltmeter is used to measure voltage V across 60 </a:t>
            </a:r>
            <a:r>
              <a:rPr lang="en-US" sz="2000" b="1" dirty="0" err="1"/>
              <a:t>kΩ</a:t>
            </a:r>
            <a:r>
              <a:rPr lang="en-US" sz="2000" b="1" dirty="0"/>
              <a:t> resistor in the following circuit. What is the minimum voltage reading that should be observed?</a:t>
            </a:r>
            <a:endParaRPr lang="en-US" sz="2000" dirty="0"/>
          </a:p>
          <a:p>
            <a:pPr>
              <a:buNone/>
            </a:pPr>
            <a:r>
              <a:rPr lang="en-US" sz="2000" b="1" dirty="0"/>
              <a:t>The parameters of the ac voltmeter are: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Full-wave rectification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100 </a:t>
            </a:r>
            <a:r>
              <a:rPr lang="en-US" sz="2000" dirty="0" err="1"/>
              <a:t>μA</a:t>
            </a:r>
            <a:r>
              <a:rPr lang="en-US" sz="2000" dirty="0"/>
              <a:t> meter movement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15 V range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Accuracy = ± 3% </a:t>
            </a:r>
            <a:r>
              <a:rPr lang="en-US" sz="2000" dirty="0" err="1"/>
              <a:t>fsd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5854D2-6AE9-2022-ABCF-BD3A08E10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394" y="2126296"/>
            <a:ext cx="4518120" cy="21699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DB1C8-3E8F-CC04-D79C-A939BEC70C94}"/>
                  </a:ext>
                </a:extLst>
              </p:cNvPr>
              <p:cNvSpPr txBox="1"/>
              <p:nvPr/>
            </p:nvSpPr>
            <p:spPr>
              <a:xfrm>
                <a:off x="206828" y="3691816"/>
                <a:ext cx="11767457" cy="3008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True voltage across the 60 k</a:t>
                </a:r>
                <a:r>
                  <a:rPr lang="el-GR" sz="2000" b="1" dirty="0">
                    <a:latin typeface="+mj-lt"/>
                  </a:rPr>
                  <a:t>Ω </a:t>
                </a:r>
                <a:r>
                  <a:rPr lang="en-US" sz="2000" b="1" dirty="0">
                    <a:latin typeface="+mj-lt"/>
                  </a:rPr>
                  <a:t>resistor</a:t>
                </a: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This is a simple voltage divider: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borderBox>
                        <m:borderBox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m:rPr>
                              <m:nor/>
                            </m:rPr>
                            <a:rPr lang="ar-AE" sz="2000" b="0" i="1">
                              <a:latin typeface="+mj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rms</m:t>
                          </m:r>
                        </m:e>
                      </m:borderBox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So, the </a:t>
                </a:r>
                <a:r>
                  <a:rPr lang="en-US" sz="2000" b="1" dirty="0">
                    <a:latin typeface="+mj-lt"/>
                  </a:rPr>
                  <a:t>true rms voltage</a:t>
                </a:r>
                <a:r>
                  <a:rPr lang="en-US" sz="2000" dirty="0">
                    <a:latin typeface="+mj-lt"/>
                  </a:rPr>
                  <a:t> across the 60 k</a:t>
                </a:r>
                <a:r>
                  <a:rPr lang="el-GR" sz="2000" dirty="0">
                    <a:latin typeface="+mj-lt"/>
                  </a:rPr>
                  <a:t>Ω </a:t>
                </a:r>
                <a:r>
                  <a:rPr lang="en-US" sz="2000" dirty="0">
                    <a:latin typeface="+mj-lt"/>
                  </a:rPr>
                  <a:t>resistor is </a:t>
                </a:r>
                <a:r>
                  <a:rPr lang="en-US" sz="2000" b="1" dirty="0">
                    <a:latin typeface="+mj-lt"/>
                  </a:rPr>
                  <a:t>10 V</a:t>
                </a:r>
                <a:r>
                  <a:rPr lang="en-US" sz="2000" dirty="0">
                    <a:latin typeface="+mj-lt"/>
                  </a:rPr>
                  <a:t>.</a:t>
                </a:r>
              </a:p>
              <a:p>
                <a:pPr>
                  <a:buNone/>
                </a:pPr>
                <a:br>
                  <a:rPr lang="en-US" dirty="0"/>
                </a:br>
                <a:endParaRPr lang="en-US" dirty="0"/>
              </a:p>
              <a:p>
                <a:pPr>
                  <a:buNone/>
                </a:pPr>
                <a:endParaRPr lang="ar-AE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DB1C8-3E8F-CC04-D79C-A939BEC70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28" y="3691816"/>
                <a:ext cx="11767457" cy="3008259"/>
              </a:xfrm>
              <a:prstGeom prst="rect">
                <a:avLst/>
              </a:prstGeom>
              <a:blipFill>
                <a:blip r:embed="rId4"/>
                <a:stretch>
                  <a:fillRect l="-570" t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222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0CA13-F520-F8A5-3D40-807454AA4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C17132-A874-2540-BED7-C3E4C7A8D750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Electronic AC Ammeter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7BA0E3-EE37-8080-63BA-D99792ED6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880" y="1484039"/>
            <a:ext cx="4518120" cy="21699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9F875D2-216E-17F7-BE04-6DF6D4F2994A}"/>
                  </a:ext>
                </a:extLst>
              </p:cNvPr>
              <p:cNvSpPr txBox="1"/>
              <p:nvPr/>
            </p:nvSpPr>
            <p:spPr>
              <a:xfrm>
                <a:off x="320149" y="1194773"/>
                <a:ext cx="6809993" cy="5250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Effect of meter accuracy</a:t>
                </a: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Accuracy is given as: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%</m:t>
                      </m:r>
                      <m:r>
                        <m:rPr>
                          <m:nor/>
                        </m:rPr>
                        <a:rPr lang="en-US" sz="2000" b="0" i="1"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1">
                          <a:latin typeface="+mj-lt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2000" b="0" i="1"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1">
                          <a:latin typeface="+mj-lt"/>
                        </a:rPr>
                        <m:t>full</m:t>
                      </m:r>
                      <m:r>
                        <m:rPr>
                          <m:nor/>
                        </m:rPr>
                        <a:rPr lang="en-US" sz="2000" b="0" i="1">
                          <a:latin typeface="+mj-lt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0" i="1">
                          <a:latin typeface="+mj-lt"/>
                        </a:rPr>
                        <m:t>scale</m:t>
                      </m:r>
                      <m:r>
                        <m:rPr>
                          <m:nor/>
                        </m:rPr>
                        <a:rPr lang="en-US" sz="2000" b="0" i="1"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1">
                          <a:latin typeface="+mj-lt"/>
                        </a:rPr>
                        <m:t>deflection</m:t>
                      </m:r>
                    </m:oMath>
                  </m:oMathPara>
                </a14:m>
                <a:endParaRPr lang="en-US" sz="2000" b="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Full-scale deflection (</a:t>
                </a:r>
                <a:r>
                  <a:rPr lang="en-US" sz="2000" dirty="0" err="1">
                    <a:latin typeface="+mj-lt"/>
                  </a:rPr>
                  <a:t>fsd</a:t>
                </a:r>
                <a:r>
                  <a:rPr lang="en-US" sz="2000" dirty="0">
                    <a:latin typeface="+mj-lt"/>
                  </a:rPr>
                  <a:t>) = </a:t>
                </a:r>
                <a:r>
                  <a:rPr lang="en-US" sz="2000" b="1" dirty="0">
                    <a:latin typeface="+mj-lt"/>
                  </a:rPr>
                  <a:t>15 V</a:t>
                </a: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>
                          <a:latin typeface="+mj-lt"/>
                        </a:rPr>
                        <m:t>Maximum</m:t>
                      </m:r>
                      <m:r>
                        <m:rPr>
                          <m:nor/>
                        </m:rPr>
                        <a:rPr lang="en-US" sz="2000" b="0" i="1"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1">
                          <a:latin typeface="+mj-lt"/>
                        </a:rPr>
                        <m:t>error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03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borderBox>
                        <m:borderBox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45</m:t>
                          </m:r>
                          <m:r>
                            <m:rPr>
                              <m:nor/>
                            </m:rPr>
                            <a:rPr lang="ar-AE" sz="2000" b="0" i="1">
                              <a:latin typeface="+mj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V</m:t>
                          </m:r>
                        </m:e>
                      </m:borderBox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This error applies </a:t>
                </a:r>
                <a:r>
                  <a:rPr lang="en-US" sz="2000" b="1" dirty="0">
                    <a:latin typeface="+mj-lt"/>
                  </a:rPr>
                  <a:t>regardless of the reading</a:t>
                </a:r>
                <a:r>
                  <a:rPr lang="en-US" sz="2000" dirty="0">
                    <a:latin typeface="+mj-lt"/>
                  </a:rPr>
                  <a:t>, because it is % of </a:t>
                </a:r>
                <a:r>
                  <a:rPr lang="en-US" sz="2000" dirty="0" err="1">
                    <a:latin typeface="+mj-lt"/>
                  </a:rPr>
                  <a:t>fsd</a:t>
                </a:r>
                <a:r>
                  <a:rPr lang="en-US" sz="2000" dirty="0">
                    <a:latin typeface="+mj-lt"/>
                  </a:rPr>
                  <a:t>.</a:t>
                </a:r>
              </a:p>
              <a:p>
                <a:pPr>
                  <a:buNone/>
                </a:pP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Minimum voltage reading</a:t>
                </a: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Minimum indicated value = True value − Maximum negative error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min</m:t>
                          </m:r>
                          <m:func>
                            <m:func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/>
                            <m:e/>
                          </m:func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45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borderBox>
                        <m:borderBox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55</m:t>
                          </m:r>
                          <m:r>
                            <m:rPr>
                              <m:nor/>
                            </m:rPr>
                            <a:rPr lang="ar-AE" sz="2000" b="0" i="1">
                              <a:latin typeface="+mj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V</m:t>
                          </m:r>
                        </m:e>
                      </m:borderBox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:br>
                  <a:rPr lang="ar-AE" sz="2000" dirty="0">
                    <a:latin typeface="+mj-lt"/>
                  </a:rPr>
                </a:br>
                <a:endParaRPr lang="ar-AE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Final Answer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US" sz="2000" b="0">
                              <a:latin typeface="+mj-lt"/>
                            </a:rPr>
                            <m:t>Minimum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voltage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reading</m:t>
                          </m:r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55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rms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)</m:t>
                          </m:r>
                        </m:e>
                      </m:borderBox>
                    </m:oMath>
                  </m:oMathPara>
                </a14:m>
                <a:endParaRPr lang="ar-AE" sz="2000" b="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9F875D2-216E-17F7-BE04-6DF6D4F29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194773"/>
                <a:ext cx="6809993" cy="5250796"/>
              </a:xfrm>
              <a:prstGeom prst="rect">
                <a:avLst/>
              </a:prstGeom>
              <a:blipFill>
                <a:blip r:embed="rId4"/>
                <a:stretch>
                  <a:fillRect l="-985" t="-697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294926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FC5DD32A6FF4B95C9C6CEDB9E0A49" ma:contentTypeVersion="4" ma:contentTypeDescription="Create a new document." ma:contentTypeScope="" ma:versionID="d96ab2e30894948f2f16f464fafc1131">
  <xsd:schema xmlns:xsd="http://www.w3.org/2001/XMLSchema" xmlns:xs="http://www.w3.org/2001/XMLSchema" xmlns:p="http://schemas.microsoft.com/office/2006/metadata/properties" xmlns:ns3="0a944e8e-8b61-4f8d-a3d3-9a45e176b22f" targetNamespace="http://schemas.microsoft.com/office/2006/metadata/properties" ma:root="true" ma:fieldsID="70efe5433c0a8c5e2513c3d492cf7ec8" ns3:_="">
    <xsd:import namespace="0a944e8e-8b61-4f8d-a3d3-9a45e176b2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944e8e-8b61-4f8d-a3d3-9a45e176b2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71879A4-4A52-46C7-816D-B4AD6C1C2A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944e8e-8b61-4f8d-a3d3-9a45e176b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8622CA-CD05-45A6-BD57-EFFA0FFB82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228149-112C-4C57-8542-6BA70D65C362}">
  <ds:schemaRefs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www.w3.org/XML/1998/namespace"/>
    <ds:schemaRef ds:uri="http://purl.org/dc/terms/"/>
    <ds:schemaRef ds:uri="0a944e8e-8b61-4f8d-a3d3-9a45e176b22f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15277</TotalTime>
  <Words>1368</Words>
  <Application>Microsoft Office PowerPoint</Application>
  <PresentationFormat>Widescreen</PresentationFormat>
  <Paragraphs>218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Cambria Math</vt:lpstr>
      <vt:lpstr>Gill Sans MT</vt:lpstr>
      <vt:lpstr>Neue Haas Grotesk Text Pro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Mehedi Hasan Obhi</cp:lastModifiedBy>
  <cp:revision>7</cp:revision>
  <dcterms:created xsi:type="dcterms:W3CDTF">2026-01-09T15:02:13Z</dcterms:created>
  <dcterms:modified xsi:type="dcterms:W3CDTF">2026-06-07T11:05:57Z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