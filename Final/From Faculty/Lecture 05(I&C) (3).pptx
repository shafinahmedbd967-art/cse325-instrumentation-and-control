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9"/>
  </p:notesMasterIdLst>
  <p:sldIdLst>
    <p:sldId id="256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300" r:id="rId13"/>
    <p:sldId id="301" r:id="rId14"/>
    <p:sldId id="302" r:id="rId15"/>
    <p:sldId id="303" r:id="rId16"/>
    <p:sldId id="304" r:id="rId17"/>
    <p:sldId id="30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59EA3-ED10-42D4-8626-595DEF53DE0D}" v="80" dt="2026-01-30T04:13:51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6E917-14F7-40D4-A849-9866C13ADA5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BD3FCF-86E2-4FF1-A21B-1978B7060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9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72135-7506-ABCB-6821-BDC31A8B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3D6032-008A-3760-5891-93558E8C4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DFABB-55C3-C733-61B4-AE8443669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4CF88-0456-BA8E-33A3-89D22EA46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40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9C9F3-FA07-77CE-F138-2A2D426C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5FA9A-906E-C155-E42B-4AD809D61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DE8A87-1EEE-E535-2DDB-6D66C18DA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9EB8C-0008-9371-122B-F0AFC6664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720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52F-9CBA-86F5-FD65-152AADA8E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D8911-C487-4D13-4F64-2C256933B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E6BB1-EEDE-9844-657C-6B6AA9A08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F9B53-E62D-8D9A-F0B8-476E46068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158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584B-B8DB-0150-E060-335C8942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E658B-8BEC-5ABC-1078-7A74E4169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E863B-1F44-7183-EEF6-C770F1D73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8B8A8-414C-8044-DFCF-E433E17DEC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23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8110-335F-A369-3FDE-588A3191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CDF31-1114-5F9D-0973-E9F97C306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1CA65-E781-D450-35E5-03C503631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212A8-1F4F-46B9-69BF-3DD978890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33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E34B-7183-B394-A619-70CBA55E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308B87-4626-3666-9A92-5D452CFDE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D1465-85C6-F822-2DC7-D2995F89E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1E74A-9D0A-D21A-6E77-7E091924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347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6482-16E7-35AD-7A1A-0C1AAC369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8319A-8602-EEFD-74AB-B520D0D84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CCEC1-7526-B1A4-A13B-438A0AC5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4AE5-36D0-41C8-9CE2-F6A71C21F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866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C500-5351-753C-8028-A64CD978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CC400-6EAD-604F-8BB8-47642046E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E36DF-CB6E-3BB4-1724-25A9DE172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3CA7-11A2-0DCE-C8CB-8C276A2098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58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2F78-3287-17C7-DB21-BE2EB04D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9C6DB-ED24-9210-DFE6-472CA1655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37A5B-409D-0584-3036-87D684603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475C-D8C6-FA4F-A6AE-6E307AEAE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39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0ABEC-D8D2-0F09-C39C-CD46803C8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F1C16-74D6-0BD2-132D-189409794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7D6A0-634D-7DF3-A539-701925451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3213A-3221-E8F5-1251-C72A75482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78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DB3B-1566-E7E6-68C5-BFD96D1F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7A85B-6567-EE33-2F42-DCE40981D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2CEB0-F79E-B074-A1CD-C1D2D821F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79DF6-BE3B-6CDD-DE16-C57D53810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69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550E1-4F8D-1198-52DC-6753E617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E8943D-527A-C333-1913-7E1D32054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079E8-1FB7-EA48-F65A-411FB0ACD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9B5DA-F3A1-DD45-9308-F2DD685D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04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D047-9D67-BF90-BE7F-B40C4C02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37C351-7ED7-F4E6-157C-EFF41B769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2BE4B4-8EE1-29F6-4E4C-6A3503F44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4188A-8525-BF26-D515-53F8A5FC9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BD3FCF-86E2-4FF1-A21B-1978B70606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5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0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5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38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44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03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10135D4-D3A1-4556-B91B-4A12069D4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EF6C83-4504-6032-D47C-65A7E41349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348" r="9091"/>
          <a:stretch>
            <a:fillRect/>
          </a:stretch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44E4A5-F145-184B-5948-0344DCF8859B}"/>
              </a:ext>
            </a:extLst>
          </p:cNvPr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latin typeface="Gill Sans MT" panose="020B0502020104020203" pitchFamily="34" charset="0"/>
              </a:rPr>
              <a:t>Instrumentation and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b="1" dirty="0">
              <a:latin typeface="Gill Sans MT" panose="020B0502020104020203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500" b="1" dirty="0">
                <a:solidFill>
                  <a:srgbClr val="FFFFFF"/>
                </a:solidFill>
                <a:latin typeface="Gill Sans MT" panose="020B0502020104020203" pitchFamily="34" charset="0"/>
                <a:ea typeface="+mj-ea"/>
                <a:cs typeface="+mj-cs"/>
              </a:rPr>
              <a:t>CSE 325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0C874E-1527-F441-5964-DAA124295B96}"/>
              </a:ext>
            </a:extLst>
          </p:cNvPr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600">
                <a:latin typeface="Gill Sans MT" panose="020B0502020104020203" pitchFamily="34" charset="0"/>
              </a:rPr>
              <a:t>Mehedi Hasan</a:t>
            </a:r>
            <a:endParaRPr lang="en-US" sz="2600" dirty="0">
              <a:latin typeface="Gill Sans MT" panose="020B0502020104020203" pitchFamily="34" charset="0"/>
            </a:endParaRPr>
          </a:p>
          <a:p>
            <a:r>
              <a:rPr lang="en-US" sz="2600" dirty="0">
                <a:latin typeface="Gill Sans MT" panose="020B0502020104020203" pitchFamily="34" charset="0"/>
              </a:rPr>
              <a:t>Lecturer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Computer Science and Engineering(CSE)</a:t>
            </a:r>
          </a:p>
          <a:p>
            <a:r>
              <a:rPr lang="en-US" sz="2600" dirty="0">
                <a:latin typeface="Gill Sans MT" panose="020B0502020104020203" pitchFamily="34" charset="0"/>
              </a:rPr>
              <a:t>Daffodil International University(DIU)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3F588-4F9C-DE76-A9D4-EFFF8BA0999E}"/>
              </a:ext>
            </a:extLst>
          </p:cNvPr>
          <p:cNvSpPr txBox="1"/>
          <p:nvPr/>
        </p:nvSpPr>
        <p:spPr>
          <a:xfrm>
            <a:off x="5086349" y="1486365"/>
            <a:ext cx="67421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Every man desires to live long, but no man wishes to be old</a:t>
            </a:r>
          </a:p>
          <a:p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>
                <a:solidFill>
                  <a:schemeClr val="bg1"/>
                </a:solidFill>
              </a:rPr>
              <a:t>Jonathan Swift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09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3300B-274D-E7C0-C60B-6E653548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38156F6-6597-05C5-5B26-392DB53556A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Transducers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5B3F1-5F7F-211A-DE5A-74D19069BBAA}"/>
              </a:ext>
            </a:extLst>
          </p:cNvPr>
          <p:cNvSpPr txBox="1"/>
          <p:nvPr/>
        </p:nvSpPr>
        <p:spPr>
          <a:xfrm>
            <a:off x="320149" y="1194773"/>
            <a:ext cx="1155170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Transduction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process of converting one form of energy into another.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Transducer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The device that performs this conversion.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Why Use Electrical Transducers?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Most real-world parameters are non-electrical (e.g., pressure, temperature, displacement, force).</a:t>
            </a:r>
            <a:br>
              <a:rPr lang="en-US" sz="2000" dirty="0"/>
            </a:br>
            <a:r>
              <a:rPr lang="en-US" sz="2000" dirty="0"/>
              <a:t>Electrical methods of measurement offer major advantages: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Better sensitivity, accuracy, and speed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Easier signal conditioning, amplification, and transmission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Electrical Transducer Definition</a:t>
            </a:r>
          </a:p>
          <a:p>
            <a:pPr>
              <a:lnSpc>
                <a:spcPct val="150000"/>
              </a:lnSpc>
            </a:pPr>
            <a:r>
              <a:rPr lang="en-US" sz="2000" i="1" dirty="0"/>
              <a:t>“A transducer is a device which, when actuated by energy in one form, produces an electrical output energy.”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581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39BEE-5694-5696-8820-A1CB6073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A22F28-72F2-F3B7-C2DC-A8C7856B5ABF}"/>
              </a:ext>
            </a:extLst>
          </p:cNvPr>
          <p:cNvSpPr/>
          <p:nvPr/>
        </p:nvSpPr>
        <p:spPr>
          <a:xfrm>
            <a:off x="8697686" y="217714"/>
            <a:ext cx="3335933" cy="63749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Advantages of Electrical Transducers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D78D4D-B634-1BC7-8722-3F3940ED3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80" y="108014"/>
            <a:ext cx="8234506" cy="64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83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90364-9F86-4106-4444-ECBA1010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CAC98E-292D-4206-8EDF-1622D7CCD7F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Classification of Transducers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2464E-CB25-6D1C-6D32-691095359C3D}"/>
              </a:ext>
            </a:extLst>
          </p:cNvPr>
          <p:cNvSpPr txBox="1"/>
          <p:nvPr/>
        </p:nvSpPr>
        <p:spPr>
          <a:xfrm>
            <a:off x="320148" y="1366467"/>
            <a:ext cx="115517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dirty="0">
                <a:solidFill>
                  <a:srgbClr val="FF0000"/>
                </a:solidFill>
              </a:rPr>
              <a:t>classification</a:t>
            </a:r>
            <a:r>
              <a:rPr lang="en-US" sz="2000" dirty="0"/>
              <a:t> can be done </a:t>
            </a:r>
            <a:r>
              <a:rPr lang="en-US" sz="2000" dirty="0">
                <a:solidFill>
                  <a:srgbClr val="FF0000"/>
                </a:solidFill>
              </a:rPr>
              <a:t>based on the electrical circuit parameter </a:t>
            </a:r>
            <a:r>
              <a:rPr lang="en-US" sz="2000" dirty="0"/>
              <a:t>that is meant to be </a:t>
            </a:r>
            <a:r>
              <a:rPr lang="en-US" sz="2000" dirty="0">
                <a:solidFill>
                  <a:srgbClr val="FF0000"/>
                </a:solidFill>
              </a:rPr>
              <a:t>changed due to the presence of the physical parameter </a:t>
            </a:r>
            <a:r>
              <a:rPr lang="en-US" sz="2000" dirty="0"/>
              <a:t>to be measured:</a:t>
            </a:r>
          </a:p>
          <a:p>
            <a:r>
              <a:rPr lang="en-US" sz="2000" dirty="0"/>
              <a:t>1. Resistance</a:t>
            </a:r>
          </a:p>
          <a:p>
            <a:r>
              <a:rPr lang="en-US" sz="2000" dirty="0"/>
              <a:t>2. Capacitance</a:t>
            </a:r>
          </a:p>
          <a:p>
            <a:r>
              <a:rPr lang="en-US" sz="2000" dirty="0"/>
              <a:t>3. Inductance</a:t>
            </a:r>
          </a:p>
          <a:p>
            <a:r>
              <a:rPr lang="en-US" sz="2000" dirty="0"/>
              <a:t>4. Voltage and Current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9024F-5F8B-7E54-BE5E-2D81C4122742}"/>
              </a:ext>
            </a:extLst>
          </p:cNvPr>
          <p:cNvSpPr txBox="1"/>
          <p:nvPr/>
        </p:nvSpPr>
        <p:spPr>
          <a:xfrm>
            <a:off x="320148" y="3305459"/>
            <a:ext cx="1173033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Primary transducers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Transducers that </a:t>
            </a:r>
            <a:r>
              <a:rPr lang="en-US" sz="2000" dirty="0">
                <a:solidFill>
                  <a:srgbClr val="FF0000"/>
                </a:solidFill>
              </a:rPr>
              <a:t>sense a physical phenomenon </a:t>
            </a:r>
            <a:r>
              <a:rPr lang="en-US" sz="2000" dirty="0"/>
              <a:t>at the </a:t>
            </a:r>
            <a:r>
              <a:rPr lang="en-US" sz="2000" dirty="0">
                <a:solidFill>
                  <a:srgbClr val="FF0000"/>
                </a:solidFill>
              </a:rPr>
              <a:t>first stage of detection</a:t>
            </a:r>
            <a:r>
              <a:rPr lang="en-US" sz="2000" dirty="0"/>
              <a:t>; e.g. thermocouple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Secondary transducers</a:t>
            </a:r>
          </a:p>
          <a:p>
            <a:r>
              <a:rPr lang="en-US" sz="2000" dirty="0"/>
              <a:t>The physical phenomenon is </a:t>
            </a:r>
            <a:r>
              <a:rPr lang="en-US" sz="2000" dirty="0">
                <a:solidFill>
                  <a:srgbClr val="FF0000"/>
                </a:solidFill>
              </a:rPr>
              <a:t>first sensed by a non-electrical transducer</a:t>
            </a:r>
            <a:r>
              <a:rPr lang="en-US" sz="2000" dirty="0"/>
              <a:t>. It’s </a:t>
            </a:r>
            <a:r>
              <a:rPr lang="en-US" sz="2000" dirty="0">
                <a:solidFill>
                  <a:srgbClr val="FF0000"/>
                </a:solidFill>
              </a:rPr>
              <a:t>output is then converted into an electrical signa</a:t>
            </a:r>
            <a:r>
              <a:rPr lang="en-US" sz="2000" dirty="0"/>
              <a:t>l by an electrical transducer. This second transducer is called secondary transducer.</a:t>
            </a:r>
          </a:p>
          <a:p>
            <a:r>
              <a:rPr lang="en-US" sz="2000" dirty="0"/>
              <a:t>For example: in one type of pressure meter,</a:t>
            </a:r>
            <a:r>
              <a:rPr lang="en-US" sz="2000" b="1" dirty="0"/>
              <a:t> Stage 01: Bourdon Tube 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b="1" dirty="0"/>
              <a:t> Input</a:t>
            </a:r>
            <a:r>
              <a:rPr lang="en-US" sz="2000" dirty="0"/>
              <a:t>: Pressure (non-electrical) and </a:t>
            </a:r>
            <a:r>
              <a:rPr lang="en-US" sz="2000" b="1" dirty="0"/>
              <a:t>Output</a:t>
            </a:r>
            <a:r>
              <a:rPr lang="en-US" sz="2000" dirty="0"/>
              <a:t>: Mechanical displacement</a:t>
            </a:r>
          </a:p>
          <a:p>
            <a:r>
              <a:rPr lang="en-US" sz="2000" b="1" dirty="0"/>
              <a:t>Stage 02: Secondary Transducer – Electrical Sensing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b="1" dirty="0"/>
              <a:t>Input</a:t>
            </a:r>
            <a:r>
              <a:rPr lang="en-US" sz="2000" dirty="0"/>
              <a:t>: Mechanical displacement from Bourdon tube and </a:t>
            </a:r>
            <a:r>
              <a:rPr lang="en-US" sz="2000" b="1" dirty="0"/>
              <a:t>Output</a:t>
            </a:r>
            <a:r>
              <a:rPr lang="en-US" sz="2000" dirty="0"/>
              <a:t>: Electrical signal (voltage, current, or digital)</a:t>
            </a:r>
          </a:p>
          <a:p>
            <a:endParaRPr lang="en-US" dirty="0"/>
          </a:p>
          <a:p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3952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5C6B3-AB76-3491-DDAA-DAAFF6BF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63571-E1E3-048F-15E1-56D33484C391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/>
              <a:t>Resistive Transducers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D0CD03-1AD3-5B75-2597-23034ED523F6}"/>
              </a:ext>
            </a:extLst>
          </p:cNvPr>
          <p:cNvSpPr txBox="1"/>
          <p:nvPr/>
        </p:nvSpPr>
        <p:spPr>
          <a:xfrm>
            <a:off x="228600" y="1308357"/>
            <a:ext cx="11643250" cy="604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Transducer that </a:t>
            </a:r>
            <a:r>
              <a:rPr lang="en-US" sz="2000" dirty="0">
                <a:solidFill>
                  <a:srgbClr val="FF0000"/>
                </a:solidFill>
              </a:rPr>
              <a:t>employs change in resistance of a sensing element </a:t>
            </a:r>
            <a:r>
              <a:rPr lang="en-US" sz="2000" dirty="0"/>
              <a:t>is called resistive transducer.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The well-known equation of resistance of a resistor element: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Design basis: </a:t>
            </a:r>
            <a:r>
              <a:rPr lang="en-US" sz="2000" dirty="0"/>
              <a:t>vary any combination of the </a:t>
            </a:r>
            <a:r>
              <a:rPr lang="en-US" sz="2000" dirty="0">
                <a:solidFill>
                  <a:srgbClr val="FF0000"/>
                </a:solidFill>
              </a:rPr>
              <a:t>3 quantities 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For example: </a:t>
            </a:r>
            <a:r>
              <a:rPr lang="en-US" sz="2000" dirty="0">
                <a:solidFill>
                  <a:srgbClr val="FF0000"/>
                </a:solidFill>
              </a:rPr>
              <a:t>temperature can change ρ; strain can change L and A, altogether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Applications: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Temperature, strain, displacement, force, pressure etc.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j-lt"/>
              </a:rPr>
              <a:t>Resistance Temperature Detector (RTD) Or Resistance Thermometer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An RTD is a </a:t>
            </a:r>
            <a:r>
              <a:rPr lang="en-US" sz="2000" b="1" dirty="0">
                <a:latin typeface="+mj-lt"/>
              </a:rPr>
              <a:t>passive temperature sensor</a:t>
            </a:r>
            <a:r>
              <a:rPr lang="en-US" sz="2000" dirty="0">
                <a:latin typeface="+mj-lt"/>
              </a:rPr>
              <a:t> that works on the principle that the </a:t>
            </a:r>
            <a:r>
              <a:rPr lang="en-US" sz="2000" b="1" dirty="0">
                <a:latin typeface="+mj-lt"/>
              </a:rPr>
              <a:t>electrical resistance of metals changes predictably with temperature</a:t>
            </a:r>
            <a:r>
              <a:rPr lang="en-US" sz="2000" dirty="0">
                <a:latin typeface="+mj-lt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Most metals exhibit a </a:t>
            </a:r>
            <a:r>
              <a:rPr lang="en-US" sz="2000" b="1" dirty="0">
                <a:latin typeface="+mj-lt"/>
              </a:rPr>
              <a:t>positive temperature coefficient (PTC)</a:t>
            </a:r>
            <a:r>
              <a:rPr lang="en-US" sz="2000" dirty="0">
                <a:latin typeface="+mj-lt"/>
              </a:rPr>
              <a:t> – resistance increases as temperature increases.</a:t>
            </a:r>
          </a:p>
          <a:p>
            <a:pPr>
              <a:lnSpc>
                <a:spcPct val="150000"/>
              </a:lnSpc>
            </a:pP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C73540-DFE3-DE33-02B7-0C797F961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183" y="1768459"/>
            <a:ext cx="901746" cy="57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9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2A12-7C52-E581-DD73-AA3513F1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C51E1-3FE4-28DF-94FD-2E3973DC5B8D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C8272-B617-84BF-1476-0AD4E885AD95}"/>
                  </a:ext>
                </a:extLst>
              </p:cNvPr>
              <p:cNvSpPr txBox="1"/>
              <p:nvPr/>
            </p:nvSpPr>
            <p:spPr>
              <a:xfrm>
                <a:off x="320148" y="1360790"/>
                <a:ext cx="11551701" cy="2594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Variation of resistance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with temperature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nor/>
                      </m:rPr>
                      <a:rPr lang="en-US" sz="2000" b="0" i="1">
                        <a:latin typeface="+mj-lt"/>
                      </a:rPr>
                      <m:t> </m:t>
                    </m:r>
                    <m:d>
                      <m:dPr>
                        <m:ctrlPr>
                          <a:rPr lang="ar-AE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°</m:t>
                        </m:r>
                        <m:r>
                          <a:rPr lang="ar-AE" sz="2000" b="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can be represented by the following well-known relationship: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+......+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+....</m:t>
                          </m:r>
                        </m:e>
                      </m:d>
                    </m:oMath>
                  </m:oMathPara>
                </a14:m>
                <a:endParaRPr lang="en-US" sz="2000" i="0" dirty="0">
                  <a:latin typeface="+mj-lt"/>
                </a:endParaRPr>
              </a:p>
              <a:p>
                <a:pPr>
                  <a:buNone/>
                </a:pP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= 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resistance at temperature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</a:b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and,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0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0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 </a:t>
                </a:r>
                <a:r>
                  <a:rPr lang="en-US" sz="2000" b="0" i="0" dirty="0">
                    <a:solidFill>
                      <a:srgbClr val="0F1115"/>
                    </a:solidFill>
                    <a:effectLst/>
                    <a:latin typeface="+mj-lt"/>
                  </a:rPr>
                  <a:t>are constants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dirty="0">
                    <a:solidFill>
                      <a:srgbClr val="0F1115"/>
                    </a:solidFill>
                    <a:latin typeface="+mj-lt"/>
                  </a:rPr>
                  <a:t>Resistance-Temperature characteristics of commonly used RTD metals are plotted (not-exact) here:</a:t>
                </a:r>
                <a:endParaRPr lang="en-US" sz="2000" b="0" i="0" dirty="0">
                  <a:solidFill>
                    <a:srgbClr val="0F1115"/>
                  </a:solidFill>
                  <a:effectLst/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7C8272-B617-84BF-1476-0AD4E885A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60790"/>
                <a:ext cx="11551701" cy="2594172"/>
              </a:xfrm>
              <a:prstGeom prst="rect">
                <a:avLst/>
              </a:prstGeom>
              <a:blipFill>
                <a:blip r:embed="rId3"/>
                <a:stretch>
                  <a:fillRect l="-581" t="-1174" b="-3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227E3AC2-CF31-1A57-257C-AE7FECC42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906" y="3946711"/>
            <a:ext cx="3998352" cy="27616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F6930A-3B74-E3D4-D720-8AA3FCD320AB}"/>
              </a:ext>
            </a:extLst>
          </p:cNvPr>
          <p:cNvSpPr txBox="1"/>
          <p:nvPr/>
        </p:nvSpPr>
        <p:spPr>
          <a:xfrm>
            <a:off x="6760029" y="4430124"/>
            <a:ext cx="440871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curve shows that the curves are </a:t>
            </a:r>
            <a:r>
              <a:rPr lang="en-US" sz="2000" dirty="0">
                <a:solidFill>
                  <a:srgbClr val="FF0000"/>
                </a:solidFill>
              </a:rPr>
              <a:t>nearly linear</a:t>
            </a:r>
            <a:r>
              <a:rPr lang="en-US" sz="2000" dirty="0"/>
              <a:t>, or at least can be</a:t>
            </a:r>
          </a:p>
          <a:p>
            <a:r>
              <a:rPr lang="en-US" sz="2000" dirty="0"/>
              <a:t>approximated </a:t>
            </a:r>
            <a:r>
              <a:rPr lang="en-US" sz="2000" dirty="0">
                <a:solidFill>
                  <a:srgbClr val="FF0000"/>
                </a:solidFill>
              </a:rPr>
              <a:t>as linear for short temperature spans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91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E0AA-4154-0359-8C4B-B534E787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21045-249A-0977-6D19-D5755847890F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0548B8-ABE3-A1DE-D899-A0456732EE02}"/>
              </a:ext>
            </a:extLst>
          </p:cNvPr>
          <p:cNvSpPr txBox="1"/>
          <p:nvPr/>
        </p:nvSpPr>
        <p:spPr>
          <a:xfrm>
            <a:off x="320149" y="136110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Table: Metals used for RTD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C0E627-63B8-E444-ABB8-5289B9A7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149" y="1927549"/>
            <a:ext cx="5677880" cy="28023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F7C0E0-6AE6-8757-1BED-7FB5FEDF3DB7}"/>
              </a:ext>
            </a:extLst>
          </p:cNvPr>
          <p:cNvSpPr txBox="1"/>
          <p:nvPr/>
        </p:nvSpPr>
        <p:spPr>
          <a:xfrm>
            <a:off x="402772" y="4896212"/>
            <a:ext cx="11469078" cy="188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Desirable characteristics of an RTD material: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Change in resistance per unit change in temperature </a:t>
            </a:r>
            <a:r>
              <a:rPr lang="en-US" sz="2000" dirty="0"/>
              <a:t>should be </a:t>
            </a:r>
            <a:r>
              <a:rPr lang="en-US" sz="2000" dirty="0">
                <a:solidFill>
                  <a:srgbClr val="FF0000"/>
                </a:solidFill>
              </a:rPr>
              <a:t>as large as possible.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High resistivity</a:t>
            </a:r>
            <a:r>
              <a:rPr lang="en-US" sz="2000" dirty="0"/>
              <a:t>, so that </a:t>
            </a:r>
            <a:r>
              <a:rPr lang="en-US" sz="2000" dirty="0">
                <a:solidFill>
                  <a:srgbClr val="FF0000"/>
                </a:solidFill>
              </a:rPr>
              <a:t>a minimum volume of material </a:t>
            </a:r>
            <a:r>
              <a:rPr lang="en-US" sz="2000" dirty="0"/>
              <a:t>is used for the construction of RTD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FF0000"/>
                </a:solidFill>
              </a:rPr>
              <a:t>R versus T curve should be continuous, stable and repeatable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41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124B-81B7-9667-F53F-E0C9DF93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28C362-C3E0-0E16-3CC4-6020E1F306F8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Resistance Temperature Detector (RTD)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5DAD2F5-E41D-8BAC-566D-52D2A884A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037136"/>
              </p:ext>
            </p:extLst>
          </p:nvPr>
        </p:nvGraphicFramePr>
        <p:xfrm>
          <a:off x="320149" y="1258146"/>
          <a:ext cx="11284022" cy="5505893"/>
        </p:xfrm>
        <a:graphic>
          <a:graphicData uri="http://schemas.openxmlformats.org/drawingml/2006/table">
            <a:tbl>
              <a:tblPr/>
              <a:tblGrid>
                <a:gridCol w="2725916">
                  <a:extLst>
                    <a:ext uri="{9D8B030D-6E8A-4147-A177-3AD203B41FA5}">
                      <a16:colId xmlns:a16="http://schemas.microsoft.com/office/drawing/2014/main" val="26262188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300631976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2769303310"/>
                    </a:ext>
                  </a:extLst>
                </a:gridCol>
                <a:gridCol w="2852702">
                  <a:extLst>
                    <a:ext uri="{9D8B030D-6E8A-4147-A177-3AD203B41FA5}">
                      <a16:colId xmlns:a16="http://schemas.microsoft.com/office/drawing/2014/main" val="760950224"/>
                    </a:ext>
                  </a:extLst>
                </a:gridCol>
              </a:tblGrid>
              <a:tr h="43726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 dirty="0">
                          <a:effectLst/>
                          <a:latin typeface="+mj-lt"/>
                        </a:rPr>
                        <a:t>Material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>
                          <a:effectLst/>
                          <a:latin typeface="+mj-lt"/>
                        </a:rPr>
                        <a:t>Use in RTD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>
                          <a:effectLst/>
                          <a:latin typeface="+mj-lt"/>
                        </a:rPr>
                        <a:t>Key Characteristics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1" dirty="0">
                          <a:effectLst/>
                          <a:latin typeface="+mj-lt"/>
                        </a:rPr>
                        <a:t>Application Notes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1156"/>
                  </a:ext>
                </a:extLst>
              </a:tr>
              <a:tr h="129672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Platinum (Pt)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Widely used (PRTD)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High temp stability, noble metal, resistant to contamination, high accuracy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Best for precision measurement, industrial standard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088243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Gold (Au)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Rarely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Low resistivity, expensive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Not practical for RTDs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343087"/>
                  </a:ext>
                </a:extLst>
              </a:tr>
              <a:tr h="5794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Silver (Ag)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Rarely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Low resistivity, expensive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Not practical for RTDs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548427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Tungsten (W)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Limited use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High resistivity, extremely brittle, difficult to work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Reserved for very high temperature applications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999568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Copper (Cu)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Used as alternative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Low resistivity, good linearity, low cost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Requires longer element length; economical choice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651109"/>
                  </a:ext>
                </a:extLst>
              </a:tr>
              <a:tr h="80884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Nickel &amp; Nickel Alloys</a:t>
                      </a:r>
                    </a:p>
                  </a:txBody>
                  <a:tcPr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Commonly used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+mj-lt"/>
                        </a:rPr>
                        <a:t>Moderate resistivity, good sensitivity</a:t>
                      </a: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+mj-lt"/>
                        </a:rPr>
                        <a:t>Common in mid-range temperature applications</a:t>
                      </a:r>
                    </a:p>
                  </a:txBody>
                  <a:tcPr marL="1016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70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193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BF0E2-4FD1-21D2-A55A-8C39FEBE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5E0FD7-D3A1-E942-200F-C003859E0F9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Equation: Linear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65DA0-6F6C-70E8-A6F1-DB1EA8DBE8F2}"/>
                  </a:ext>
                </a:extLst>
              </p:cNvPr>
              <p:cNvSpPr txBox="1"/>
              <p:nvPr/>
            </p:nvSpPr>
            <p:spPr>
              <a:xfrm>
                <a:off x="320148" y="1338997"/>
                <a:ext cx="11551701" cy="54636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US" sz="2000" dirty="0">
                    <a:effectLst/>
                  </a:rPr>
                  <a:t>For some metals, </a:t>
                </a:r>
                <a:r>
                  <a:rPr lang="en-US" sz="2000" dirty="0">
                    <a:solidFill>
                      <a:srgbClr val="FF0000"/>
                    </a:solidFill>
                    <a:effectLst/>
                  </a:rPr>
                  <a:t>linear relationships </a:t>
                </a:r>
                <a:r>
                  <a:rPr lang="en-US" sz="2000" dirty="0">
                    <a:effectLst/>
                  </a:rPr>
                  <a:t>can exist over a specified span of the curve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ar-AE" sz="2000" i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a:rPr lang="el-GR" sz="200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2000" b="0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000" b="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>
                  <a:buNone/>
                </a:pPr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Two unknowns are here, so two points in the line are necessary to solve them.</a:t>
                </a:r>
                <a:endParaRPr lang="ar-AE" sz="2000" b="0" dirty="0"/>
              </a:p>
              <a:p>
                <a:pPr>
                  <a:buNone/>
                </a:pPr>
                <a:endParaRPr lang="en-US" sz="2000" b="0" i="0" dirty="0">
                  <a:solidFill>
                    <a:srgbClr val="0F1115"/>
                  </a:solidFill>
                  <a:effectLst/>
                  <a:latin typeface="KaTeX_Main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0F1115"/>
                    </a:solidFill>
                  </a:rPr>
                  <a:t>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quadratic approximation of the Resistance-Temperature </a:t>
                </a:r>
                <a:r>
                  <a:rPr lang="en-US" sz="2000" dirty="0">
                    <a:solidFill>
                      <a:srgbClr val="0F1115"/>
                    </a:solidFill>
                  </a:rPr>
                  <a:t>curve can be more accurate over a limited range of temperature. It has both </a:t>
                </a:r>
                <a:r>
                  <a:rPr lang="en-US" sz="2000" b="1" dirty="0">
                    <a:solidFill>
                      <a:srgbClr val="0F1115"/>
                    </a:solidFill>
                  </a:rPr>
                  <a:t>1st</a:t>
                </a:r>
                <a:r>
                  <a:rPr lang="en-US" sz="2000" dirty="0">
                    <a:solidFill>
                      <a:srgbClr val="0F1115"/>
                    </a:solidFill>
                  </a:rPr>
                  <a:t> and </a:t>
                </a:r>
                <a:r>
                  <a:rPr lang="en-US" sz="2000" b="1" dirty="0">
                    <a:solidFill>
                      <a:srgbClr val="0F1115"/>
                    </a:solidFill>
                  </a:rPr>
                  <a:t>2nd</a:t>
                </a:r>
                <a:r>
                  <a:rPr lang="en-US" sz="2000" dirty="0">
                    <a:solidFill>
                      <a:srgbClr val="0F1115"/>
                    </a:solidFill>
                  </a:rPr>
                  <a:t> order temperature terms.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sz="20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l-GR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l-GR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endChr m:val="]"/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l-G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0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i="1"/>
                        <m:t>for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000" dirty="0">
                    <a:solidFill>
                      <a:srgbClr val="0F1115"/>
                    </a:solidFill>
                  </a:rPr>
                  <a:t>Where,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= </a:t>
                </a:r>
                <a:r>
                  <a:rPr lang="en-US" sz="2000" dirty="0">
                    <a:solidFill>
                      <a:srgbClr val="0F1115"/>
                    </a:solidFill>
                  </a:rPr>
                  <a:t>Linear fractional change in resistance, 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F1115"/>
                    </a:solidFill>
                  </a:rPr>
                  <a:t>C</a:t>
                </a:r>
                <a:br>
                  <a:rPr lang="en-US" sz="2000" dirty="0">
                    <a:solidFill>
                      <a:srgbClr val="0F1115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= </a:t>
                </a:r>
                <a:r>
                  <a:rPr lang="en-US" sz="2000" dirty="0">
                    <a:solidFill>
                      <a:srgbClr val="0F1115"/>
                    </a:solidFill>
                  </a:rPr>
                  <a:t>quadratic fractional change in resistance, 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F1115"/>
                    </a:solidFill>
                  </a:rPr>
                  <a:t>C)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/>
                      <m: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sz="2000" dirty="0">
                  <a:solidFill>
                    <a:srgbClr val="0F1115"/>
                  </a:solidFill>
                </a:endParaRPr>
              </a:p>
              <a:p>
                <a:pPr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F1115"/>
                    </a:solidFill>
                  </a:rPr>
                  <a:t>Values of the three unknowns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 </a:t>
                </a:r>
                <a:r>
                  <a:rPr lang="en-US" sz="2000" dirty="0">
                    <a:solidFill>
                      <a:srgbClr val="0F1115"/>
                    </a:solidFill>
                  </a:rPr>
                  <a:t>and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ar-AE" sz="2000" dirty="0">
                    <a:solidFill>
                      <a:srgbClr val="0F1115"/>
                    </a:solidFill>
                  </a:rPr>
                  <a:t>) </a:t>
                </a:r>
                <a:r>
                  <a:rPr lang="en-US" sz="2000" dirty="0">
                    <a:solidFill>
                      <a:srgbClr val="0F1115"/>
                    </a:solidFill>
                  </a:rPr>
                  <a:t>can be found from tables or graphs by using three points.</a:t>
                </a:r>
              </a:p>
              <a:p>
                <a:pPr>
                  <a:buNone/>
                </a:pPr>
                <a:br>
                  <a:rPr lang="ar-AE" b="0" i="0" dirty="0">
                    <a:solidFill>
                      <a:srgbClr val="0F1115"/>
                    </a:solidFill>
                    <a:effectLst/>
                    <a:latin typeface="KaTeX_Main"/>
                  </a:rPr>
                </a:b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165DA0-6F6C-70E8-A6F1-DB1EA8DBE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338997"/>
                <a:ext cx="11551701" cy="5463675"/>
              </a:xfrm>
              <a:prstGeom prst="rect">
                <a:avLst/>
              </a:prstGeom>
              <a:blipFill>
                <a:blip r:embed="rId3"/>
                <a:stretch>
                  <a:fillRect l="-581" t="-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5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CC43-E54A-68D9-0F38-97553CD4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0B06D4-DF43-CA38-330E-79897131FE6E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Measurement of RTD Resistance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00B28-E287-3F96-6693-E6BD1760C63E}"/>
                  </a:ext>
                </a:extLst>
              </p:cNvPr>
              <p:cNvSpPr txBox="1"/>
              <p:nvPr/>
            </p:nvSpPr>
            <p:spPr>
              <a:xfrm>
                <a:off x="320148" y="1404648"/>
                <a:ext cx="11551701" cy="5346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/>
                  <a:t>Measurement Bridges are used for this purpose.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dirty="0"/>
                  <a:t>Wheatstone Bridge: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  <a:p>
                <a:r>
                  <a:rPr lang="en-US" sz="2000" dirty="0">
                    <a:latin typeface="+mj-lt"/>
                  </a:rPr>
                  <a:t>RTD is connected as one of the arms of the bridge.</a:t>
                </a:r>
              </a:p>
              <a:p>
                <a:r>
                  <a:rPr lang="en-US" sz="2000" dirty="0">
                    <a:latin typeface="+mj-lt"/>
                  </a:rPr>
                  <a:t>So,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ar-AE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ar-AE" sz="2000" dirty="0">
                  <a:latin typeface="+mj-lt"/>
                </a:endParaRPr>
              </a:p>
              <a:p>
                <a:r>
                  <a:rPr lang="en-US" sz="2000" dirty="0">
                    <a:latin typeface="+mj-lt"/>
                  </a:rPr>
                  <a:t>Potentiometer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sz="20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sz="2000" dirty="0">
                    <a:latin typeface="+mj-lt"/>
                  </a:rPr>
                  <a:t> </a:t>
                </a:r>
                <a:r>
                  <a:rPr lang="en-US" sz="2000" dirty="0">
                    <a:latin typeface="+mj-lt"/>
                  </a:rPr>
                  <a:t>can be calibrated in terms of temperature directly.</a:t>
                </a:r>
              </a:p>
              <a:p>
                <a:pPr>
                  <a:lnSpc>
                    <a:spcPct val="150000"/>
                  </a:lnSpc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00B28-E287-3F96-6693-E6BD1760C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48" y="1404648"/>
                <a:ext cx="11551701" cy="5346785"/>
              </a:xfrm>
              <a:prstGeom prst="rect">
                <a:avLst/>
              </a:prstGeom>
              <a:blipFill>
                <a:blip r:embed="rId3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89DFC97-7835-8AD6-31F0-0151CEFB2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188" y="2016235"/>
            <a:ext cx="4791620" cy="250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183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7790-01B4-26E9-B6B1-4E4DE3B1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E8BDFE-2016-E893-5520-F4406B756E2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Applications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B9046-A136-4033-CB45-DCAD278BDAEF}"/>
              </a:ext>
            </a:extLst>
          </p:cNvPr>
          <p:cNvSpPr txBox="1"/>
          <p:nvPr/>
        </p:nvSpPr>
        <p:spPr>
          <a:xfrm>
            <a:off x="206828" y="1309025"/>
            <a:ext cx="1166502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Why RTDs Are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RTDs are among the </a:t>
            </a:r>
            <a:r>
              <a:rPr lang="en-US" sz="2000" dirty="0">
                <a:solidFill>
                  <a:srgbClr val="FF0000"/>
                </a:solidFill>
              </a:rPr>
              <a:t>most accurate and precise temperature sensors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Many industrial processes operate </a:t>
            </a:r>
            <a:r>
              <a:rPr lang="en-US" sz="2000" dirty="0">
                <a:solidFill>
                  <a:srgbClr val="FF0000"/>
                </a:solidFill>
              </a:rPr>
              <a:t>at high temperatures where extreme accuracy is not essential </a:t>
            </a:r>
            <a:r>
              <a:rPr lang="en-US" sz="2000" i="1" dirty="0"/>
              <a:t>(e.g., ±2 °C error in a 250 °C process is acceptable)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applications, however, </a:t>
            </a:r>
            <a:r>
              <a:rPr lang="en-US" sz="2000" dirty="0">
                <a:solidFill>
                  <a:srgbClr val="FF0000"/>
                </a:solidFill>
              </a:rPr>
              <a:t>require very high precision — RTDs are preferred </a:t>
            </a:r>
            <a:r>
              <a:rPr lang="en-US" sz="2000" dirty="0"/>
              <a:t>in these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RTD Applications</a:t>
            </a:r>
          </a:p>
          <a:p>
            <a:r>
              <a:rPr lang="en-US" sz="2000" dirty="0"/>
              <a:t>1. Bioreactors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Requirement: </a:t>
            </a:r>
            <a:r>
              <a:rPr lang="en-US" sz="2000" dirty="0"/>
              <a:t>Precise temperature control for growing biological cells.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Why RTD?: </a:t>
            </a:r>
            <a:r>
              <a:rPr lang="en-US" sz="2000" dirty="0"/>
              <a:t>Small temperature deviations can kill cells or cause defective growth.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RTD provides: </a:t>
            </a:r>
            <a:r>
              <a:rPr lang="en-US" sz="2000" dirty="0"/>
              <a:t>Repeated accuracy and stability for exact temperature regulation.</a:t>
            </a:r>
          </a:p>
          <a:p>
            <a:endParaRPr lang="en-US" sz="2000" dirty="0"/>
          </a:p>
          <a:p>
            <a:r>
              <a:rPr lang="en-US" sz="2000" dirty="0"/>
              <a:t>2. Low-Temperature Processes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Examples: </a:t>
            </a:r>
            <a:r>
              <a:rPr lang="en-US" sz="2000" dirty="0"/>
              <a:t>Pharmaceutical storage, Chemical synthesis, Climate chambers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Requirement: </a:t>
            </a:r>
            <a:r>
              <a:rPr lang="en-US" sz="2000" dirty="0"/>
              <a:t>Detecting small temperature changes reliably.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Why RTD? </a:t>
            </a:r>
            <a:r>
              <a:rPr lang="en-US" sz="2000" dirty="0"/>
              <a:t>High sensitivity and repeatability at lower temperature ranges.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6069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E29EA-1DB1-888F-9EA2-03D7161C6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4D5FFE-4E64-D06F-CD2F-3E891C875156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Thermistors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F8348-0869-01CC-F10E-EF53E34317DA}"/>
              </a:ext>
            </a:extLst>
          </p:cNvPr>
          <p:cNvSpPr txBox="1"/>
          <p:nvPr/>
        </p:nvSpPr>
        <p:spPr>
          <a:xfrm>
            <a:off x="239486" y="1310199"/>
            <a:ext cx="11632364" cy="3731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Contraction of the term, “thermal resistors”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Generally </a:t>
            </a:r>
            <a:r>
              <a:rPr lang="en-US" sz="2000" dirty="0">
                <a:solidFill>
                  <a:srgbClr val="FF0000"/>
                </a:solidFill>
              </a:rPr>
              <a:t>made of semiconductor </a:t>
            </a:r>
            <a:r>
              <a:rPr lang="en-US" sz="2000" dirty="0"/>
              <a:t>materials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Have </a:t>
            </a:r>
            <a:r>
              <a:rPr lang="en-US" sz="2000" dirty="0">
                <a:solidFill>
                  <a:srgbClr val="FF0000"/>
                </a:solidFill>
              </a:rPr>
              <a:t>negative temperature co-</a:t>
            </a:r>
            <a:r>
              <a:rPr lang="en-US" sz="2000" dirty="0" err="1">
                <a:solidFill>
                  <a:srgbClr val="FF0000"/>
                </a:solidFill>
              </a:rPr>
              <a:t>efficients</a:t>
            </a:r>
            <a:r>
              <a:rPr lang="en-US" sz="2000" dirty="0"/>
              <a:t>, i.e. </a:t>
            </a:r>
            <a:r>
              <a:rPr lang="en-US" sz="2000" dirty="0">
                <a:solidFill>
                  <a:srgbClr val="FF0000"/>
                </a:solidFill>
              </a:rPr>
              <a:t>resistance decreases with increase in temp </a:t>
            </a:r>
            <a:r>
              <a:rPr lang="en-US" sz="2000" dirty="0"/>
              <a:t>(Due to production of higher number of electron-hole pair generation as temperature increases)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</a:rPr>
              <a:t>Sensitivity is high</a:t>
            </a:r>
            <a:r>
              <a:rPr lang="en-US" sz="2000" dirty="0"/>
              <a:t>, so suitable for very small changes in temperature. This makes them useful for precision temperature measurement applications.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Relatively </a:t>
            </a:r>
            <a:r>
              <a:rPr lang="en-US" sz="2000" dirty="0">
                <a:solidFill>
                  <a:srgbClr val="FF0000"/>
                </a:solidFill>
              </a:rPr>
              <a:t>low cost and small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Measurement range: approximately, (-60) – (15) °C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301CF-6BA6-FC42-8FEC-E0155096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438" y="4024950"/>
            <a:ext cx="4053141" cy="214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09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9F7-59C6-106A-D1F7-4CBB8E1C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B9B006-7847-060D-CCB2-B9E5E959A417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200" dirty="0"/>
              <a:t>Measurement and Control of Temperature: Thermistors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3D30D-D2C1-55F0-1A97-A7ED2ADE15D1}"/>
              </a:ext>
            </a:extLst>
          </p:cNvPr>
          <p:cNvSpPr txBox="1"/>
          <p:nvPr/>
        </p:nvSpPr>
        <p:spPr>
          <a:xfrm>
            <a:off x="320149" y="1307521"/>
            <a:ext cx="1155170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0F1115"/>
                </a:solidFill>
                <a:effectLst/>
                <a:latin typeface="+mj-lt"/>
              </a:rPr>
              <a:t>High Sensitivity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Provides a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large change in resistance for a small change in temperature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Much higher sensitivity compared to RTDs and thermocouples.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Ideal for detecting </a:t>
            </a: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small temperature variations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552DA0-7EB1-10B3-EF1D-03A0AA64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085" y="3111622"/>
            <a:ext cx="4829404" cy="30672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A44CCC-42C7-498A-4EAF-F62CFDA40CC9}"/>
              </a:ext>
            </a:extLst>
          </p:cNvPr>
          <p:cNvSpPr txBox="1"/>
          <p:nvPr/>
        </p:nvSpPr>
        <p:spPr>
          <a:xfrm>
            <a:off x="417512" y="3496071"/>
            <a:ext cx="6527574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en-US" sz="2000" b="1" dirty="0">
                <a:solidFill>
                  <a:srgbClr val="0F1115"/>
                </a:solidFill>
                <a:latin typeface="+mj-lt"/>
              </a:rPr>
              <a:t>Simple Circuit:</a:t>
            </a:r>
            <a:endParaRPr lang="en-US" sz="2000" b="1" i="0" dirty="0">
              <a:solidFill>
                <a:srgbClr val="0F1115"/>
              </a:solidFill>
              <a:effectLst/>
              <a:latin typeface="+mj-l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Thermistor resistance changes with temperature → current changes.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0F1115"/>
                </a:solidFill>
                <a:effectLst/>
                <a:latin typeface="+mj-lt"/>
              </a:rPr>
              <a:t>Micro-ammeter can be directly calibrated</a:t>
            </a: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 in temperature units (°C).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5"/>
                </a:solidFill>
                <a:effectLst/>
                <a:latin typeface="+mj-lt"/>
              </a:rPr>
              <a:t>Simple, low-cost, but less precise.</a:t>
            </a:r>
          </a:p>
        </p:txBody>
      </p:sp>
    </p:spTree>
    <p:extLst>
      <p:ext uri="{BB962C8B-B14F-4D97-AF65-F5344CB8AC3E}">
        <p14:creationId xmlns:p14="http://schemas.microsoft.com/office/powerpoint/2010/main" val="219665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6E366-0B5C-00B4-6404-37219673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47E745-1CC0-BD52-0F01-6A87A99B6853}"/>
              </a:ext>
            </a:extLst>
          </p:cNvPr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3600" dirty="0"/>
              <a:t>Thermistors :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E6BB5-C38D-A123-947A-9E9AC1011807}"/>
              </a:ext>
            </a:extLst>
          </p:cNvPr>
          <p:cNvSpPr txBox="1"/>
          <p:nvPr/>
        </p:nvSpPr>
        <p:spPr>
          <a:xfrm>
            <a:off x="320149" y="1363453"/>
            <a:ext cx="115517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Temperature compensation: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Thermistors have negative temperature co-</a:t>
            </a:r>
            <a:r>
              <a:rPr lang="en-US" sz="2000" dirty="0" err="1"/>
              <a:t>efficients</a:t>
            </a:r>
            <a:r>
              <a:rPr lang="en-US" sz="2000" dirty="0"/>
              <a:t>, opposite to that of electrical resistors. So, they are widely used to compensate for the effects of temperature.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They are so connected in the circuit that the total circuit resistance is constant over a wide range of temperatures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2F1F4-8B59-AE97-7FAC-606137D0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358" y="2994669"/>
            <a:ext cx="4249077" cy="32319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D7A617-532C-5EDC-8AEA-4E5CE6C04FBD}"/>
              </a:ext>
            </a:extLst>
          </p:cNvPr>
          <p:cNvSpPr txBox="1"/>
          <p:nvPr/>
        </p:nvSpPr>
        <p:spPr>
          <a:xfrm>
            <a:off x="320149" y="321700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Other Applications:</a:t>
            </a:r>
          </a:p>
          <a:p>
            <a:r>
              <a:rPr lang="en-US" sz="2000" dirty="0"/>
              <a:t>Measurement of flow, providing time delay etc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DE1B98-E76A-E0BD-976C-41A1A7AAC882}"/>
              </a:ext>
            </a:extLst>
          </p:cNvPr>
          <p:cNvSpPr txBox="1"/>
          <p:nvPr/>
        </p:nvSpPr>
        <p:spPr>
          <a:xfrm>
            <a:off x="566565" y="4366031"/>
            <a:ext cx="707520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i="0" dirty="0">
                <a:solidFill>
                  <a:srgbClr val="FF0000"/>
                </a:solidFill>
                <a:effectLst/>
                <a:latin typeface="+mj-lt"/>
              </a:rPr>
              <a:t>Thermistors are versatile not only for sensing but also for actively compensating temperature effects in electronic systems.</a:t>
            </a:r>
            <a:endParaRPr lang="en-US" sz="25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8945860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FC5DD32A6FF4B95C9C6CEDB9E0A49" ma:contentTypeVersion="4" ma:contentTypeDescription="Create a new document." ma:contentTypeScope="" ma:versionID="d96ab2e30894948f2f16f464fafc1131">
  <xsd:schema xmlns:xsd="http://www.w3.org/2001/XMLSchema" xmlns:xs="http://www.w3.org/2001/XMLSchema" xmlns:p="http://schemas.microsoft.com/office/2006/metadata/properties" xmlns:ns3="0a944e8e-8b61-4f8d-a3d3-9a45e176b22f" targetNamespace="http://schemas.microsoft.com/office/2006/metadata/properties" ma:root="true" ma:fieldsID="70efe5433c0a8c5e2513c3d492cf7ec8" ns3:_="">
    <xsd:import namespace="0a944e8e-8b61-4f8d-a3d3-9a45e176b22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944e8e-8b61-4f8d-a3d3-9a45e176b22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48622CA-CD05-45A6-BD57-EFFA0FFB82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1879A4-4A52-46C7-816D-B4AD6C1C2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944e8e-8b61-4f8d-a3d3-9a45e176b2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228149-112C-4C57-8542-6BA70D65C362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0a944e8e-8b61-4f8d-a3d3-9a45e176b22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8692</TotalTime>
  <Words>1263</Words>
  <Application>Microsoft Office PowerPoint</Application>
  <PresentationFormat>Widescreen</PresentationFormat>
  <Paragraphs>162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Cambria Math</vt:lpstr>
      <vt:lpstr>Gill Sans MT</vt:lpstr>
      <vt:lpstr>KaTeX_Main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Mehedi Hasan Obhi</cp:lastModifiedBy>
  <cp:revision>4</cp:revision>
  <dcterms:created xsi:type="dcterms:W3CDTF">2026-01-09T15:02:13Z</dcterms:created>
  <dcterms:modified xsi:type="dcterms:W3CDTF">2026-06-20T18:22:24Z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