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20"/>
  </p:notesMasterIdLst>
  <p:sldIdLst>
    <p:sldId id="256" r:id="rId5"/>
    <p:sldId id="309" r:id="rId6"/>
    <p:sldId id="311" r:id="rId7"/>
    <p:sldId id="310" r:id="rId8"/>
    <p:sldId id="312" r:id="rId9"/>
    <p:sldId id="313" r:id="rId10"/>
    <p:sldId id="314" r:id="rId11"/>
    <p:sldId id="315" r:id="rId12"/>
    <p:sldId id="317" r:id="rId13"/>
    <p:sldId id="319" r:id="rId14"/>
    <p:sldId id="318" r:id="rId15"/>
    <p:sldId id="320" r:id="rId16"/>
    <p:sldId id="321" r:id="rId17"/>
    <p:sldId id="322" r:id="rId18"/>
    <p:sldId id="32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6E917-14F7-40D4-A849-9866C13ADA5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D3FCF-86E2-4FF1-A21B-1978B7060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9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D2184-67D8-17E9-E148-8262E75D0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28C0B-9136-00A4-F0F7-E9E908E3A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B3223-57A9-F487-40E9-7A8E8ED10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2140E-9AB0-ED01-2F3B-CB41E9FE0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63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A5AAF-81F9-79C1-E833-B44EB5176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44BD18-3521-785B-DE30-1750817FC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E9E7E-5E11-F261-60ED-06B8E0900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0799F-BB87-3F19-DFC7-9770ACF6D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45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B4281-B502-A13F-ED8E-D9643C344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27F04-DF75-473E-BE69-209AD274F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AEB12-2993-FA83-EB52-19976DA87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2A022-AE5B-2BC0-6ECA-82A618CB2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22013-BCE6-70E9-E075-FA3D3C62F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79D63-616B-BD26-CD7F-21CA190B5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7E728-AE1C-C539-5E08-40D7654DB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B1045-167F-F765-A832-6A29C44A9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67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9E422-2CC8-B63C-0493-0C02C9AC7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769EF-EF61-1A1E-412C-7BB935C1F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24025F-93AF-AD3F-5FA8-D22458DCF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01B74-D864-4DBF-8F70-5E571F986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59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C3B2B-356E-E1CF-48CD-2E3B7DB08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A7AA6-CB5F-27EA-6BD6-BFFCFE63A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31BAF8-A50B-1719-79A9-544057FB7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B7CC2-4B8F-87D7-2E35-6120D283B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80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67245-5601-1F37-DC62-238450929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6CE89-B2CC-99F2-AAB8-A4852B770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66227-B419-0AF9-6104-A419EF355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1F890-8D92-8D14-6A0A-D372DAA9D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93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29C47-71B4-7B9B-6A5D-5055370F4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FF237-67D5-D02F-BECE-DB0EB4DEA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58154-A6B3-A86E-5366-F5CB8BF3A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E75B8-8000-69B7-9884-0E47E5D73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86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0682-537E-4DF0-99FD-ABF1F1237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83A09-90B9-DAAF-7D31-A0574C91A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C2416-B317-B523-542D-EBD4B6FF2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B43DD-EF70-DFA3-B713-818CF44BC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48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A8C70-D438-71E8-68C0-8EEEA26E6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0D131-F8A6-D693-417C-C31D25582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6B508-34AA-BC56-264F-122FD6F24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354DA-6989-2912-C48D-CE776F200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63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28D26-ECFA-2774-4BE9-EAB4D9F7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E3E00-DECB-6C68-2657-E86EC6B45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5B3C47-9CEE-1467-75E3-BD6A258F9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51D8F-E721-20C7-8A43-F2A291A47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84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519C7-1275-5B8A-F3DB-495085ECA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AE825-FEC6-C184-A2BD-1D8A04BDD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E6DB2-EF4E-25AD-8EF1-EDDAE7CF8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09459-B26F-A73F-DFD4-548D64167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888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9E7C9-B7D6-7667-AECD-E535BDCBF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EE19D1-1B62-4B75-3207-FB360DD4B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C18FD7-A6BA-714D-BDD6-FC04D2B60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0259A-0403-1F2A-356F-593CE8A67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327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3D460-FFE2-6B48-A1F6-01DDE66C5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A95C2-6C94-807C-F6FA-C532B7397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C657C4-E408-E45A-69C7-B00D6DC10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EFB74-292A-2A2D-735C-8DD211562A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57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6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5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2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38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7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5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4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3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6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F6C83-4504-6032-D47C-65A7E4134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48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4E4A5-F145-184B-5948-0344DCF8859B}"/>
              </a:ext>
            </a:extLst>
          </p:cNvPr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latin typeface="Gill Sans MT" panose="020B0502020104020203" pitchFamily="34" charset="0"/>
              </a:rPr>
              <a:t>Instrumentation and Control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500" b="1" dirty="0">
              <a:latin typeface="Gill Sans MT" panose="020B0502020104020203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solidFill>
                  <a:srgbClr val="FFFFFF"/>
                </a:solidFill>
                <a:latin typeface="Gill Sans MT" panose="020B0502020104020203" pitchFamily="34" charset="0"/>
                <a:ea typeface="+mj-ea"/>
                <a:cs typeface="+mj-cs"/>
              </a:rPr>
              <a:t>CSE 325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C874E-1527-F441-5964-DAA124295B96}"/>
              </a:ext>
            </a:extLst>
          </p:cNvPr>
          <p:cNvSpPr txBox="1"/>
          <p:nvPr/>
        </p:nvSpPr>
        <p:spPr>
          <a:xfrm>
            <a:off x="363537" y="3222171"/>
            <a:ext cx="627674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600" dirty="0">
                <a:latin typeface="Gill Sans MT" panose="020B0502020104020203" pitchFamily="34" charset="0"/>
              </a:rPr>
              <a:t>Mehedi Hasan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Lecturer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Computer Science and Engineering(CSE)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Daffodil International University(DIU)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FCDF39-95AE-DFC0-D738-176DD3BC07DE}"/>
              </a:ext>
            </a:extLst>
          </p:cNvPr>
          <p:cNvSpPr txBox="1"/>
          <p:nvPr/>
        </p:nvSpPr>
        <p:spPr>
          <a:xfrm>
            <a:off x="5473975" y="1379359"/>
            <a:ext cx="6097656" cy="1259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75"/>
              </a:lnSpc>
              <a:spcAft>
                <a:spcPts val="1125"/>
              </a:spcAft>
            </a:pP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are all in the gutter, but some of us are looking at the stars</a:t>
            </a:r>
            <a:r>
              <a:rPr lang="en-US" sz="20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Aft>
                <a:spcPts val="375"/>
              </a:spcAft>
            </a:pP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-Oscar Wilde</a:t>
            </a:r>
            <a:endParaRPr lang="en-US" sz="2000" b="1" i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09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08575-4279-F657-3236-A6B7885EB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122D34-C5AB-D5FE-635F-727DEB179B80}"/>
              </a:ext>
            </a:extLst>
          </p:cNvPr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b="1" dirty="0"/>
              <a:t>Signal Conditioning Systems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F4194-7076-1D0C-B91B-2C3C39DB0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074" y="1325574"/>
            <a:ext cx="8061850" cy="15710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8385BB-EF04-9806-B2AD-CA3C38ED7C69}"/>
              </a:ext>
            </a:extLst>
          </p:cNvPr>
          <p:cNvSpPr txBox="1"/>
          <p:nvPr/>
        </p:nvSpPr>
        <p:spPr>
          <a:xfrm>
            <a:off x="653143" y="2896639"/>
            <a:ext cx="1121870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Signal conditioning refers to operations performed on signals to convert to a suitable for interfacing with other elements in the instrumentation process.</a:t>
            </a:r>
          </a:p>
          <a:p>
            <a:endParaRPr lang="en-US" dirty="0"/>
          </a:p>
          <a:p>
            <a:r>
              <a:rPr lang="en-US" dirty="0"/>
              <a:t> The raw signal may:</a:t>
            </a:r>
          </a:p>
          <a:p>
            <a:r>
              <a:rPr lang="en-US" dirty="0"/>
              <a:t> be too </a:t>
            </a:r>
            <a:r>
              <a:rPr lang="en-US" dirty="0">
                <a:solidFill>
                  <a:srgbClr val="FF0000"/>
                </a:solidFill>
              </a:rPr>
              <a:t>small</a:t>
            </a:r>
            <a:r>
              <a:rPr lang="en-US" dirty="0"/>
              <a:t> – have to be </a:t>
            </a:r>
            <a:r>
              <a:rPr lang="en-US" dirty="0">
                <a:solidFill>
                  <a:srgbClr val="FF0000"/>
                </a:solidFill>
              </a:rPr>
              <a:t>amplified</a:t>
            </a:r>
          </a:p>
          <a:p>
            <a:r>
              <a:rPr lang="en-US" dirty="0"/>
              <a:t> </a:t>
            </a:r>
            <a:r>
              <a:rPr lang="en-US" dirty="0">
                <a:solidFill>
                  <a:srgbClr val="FF0000"/>
                </a:solidFill>
              </a:rPr>
              <a:t>contain noise </a:t>
            </a:r>
            <a:r>
              <a:rPr lang="en-US" dirty="0"/>
              <a:t>– have to </a:t>
            </a:r>
            <a:r>
              <a:rPr lang="en-US" dirty="0">
                <a:solidFill>
                  <a:srgbClr val="FF0000"/>
                </a:solidFill>
              </a:rPr>
              <a:t>be removed</a:t>
            </a:r>
          </a:p>
          <a:p>
            <a:r>
              <a:rPr lang="en-US" dirty="0"/>
              <a:t> be </a:t>
            </a:r>
            <a:r>
              <a:rPr lang="en-US" dirty="0">
                <a:solidFill>
                  <a:srgbClr val="FF0000"/>
                </a:solidFill>
              </a:rPr>
              <a:t>non-linear</a:t>
            </a:r>
            <a:r>
              <a:rPr lang="en-US" dirty="0"/>
              <a:t> – need </a:t>
            </a:r>
            <a:r>
              <a:rPr lang="en-US" dirty="0">
                <a:solidFill>
                  <a:srgbClr val="FF0000"/>
                </a:solidFill>
              </a:rPr>
              <a:t>linearization</a:t>
            </a:r>
          </a:p>
          <a:p>
            <a:r>
              <a:rPr lang="en-US" dirty="0"/>
              <a:t> be </a:t>
            </a:r>
            <a:r>
              <a:rPr lang="en-US" dirty="0">
                <a:solidFill>
                  <a:srgbClr val="FF0000"/>
                </a:solidFill>
              </a:rPr>
              <a:t>analog </a:t>
            </a:r>
            <a:r>
              <a:rPr lang="en-US" dirty="0"/>
              <a:t>– have to </a:t>
            </a:r>
            <a:r>
              <a:rPr lang="en-US" dirty="0">
                <a:solidFill>
                  <a:srgbClr val="FF0000"/>
                </a:solidFill>
              </a:rPr>
              <a:t>make digital</a:t>
            </a:r>
          </a:p>
          <a:p>
            <a:r>
              <a:rPr lang="en-US" dirty="0"/>
              <a:t> be </a:t>
            </a:r>
            <a:r>
              <a:rPr lang="en-US" dirty="0">
                <a:solidFill>
                  <a:srgbClr val="FF0000"/>
                </a:solidFill>
              </a:rPr>
              <a:t>digital</a:t>
            </a:r>
            <a:r>
              <a:rPr lang="en-US" dirty="0"/>
              <a:t> – have to </a:t>
            </a:r>
            <a:r>
              <a:rPr lang="en-US" dirty="0">
                <a:solidFill>
                  <a:srgbClr val="FF0000"/>
                </a:solidFill>
              </a:rPr>
              <a:t>make analog</a:t>
            </a:r>
          </a:p>
          <a:p>
            <a:r>
              <a:rPr lang="en-US" dirty="0"/>
              <a:t> be </a:t>
            </a:r>
            <a:r>
              <a:rPr lang="en-US" dirty="0">
                <a:solidFill>
                  <a:srgbClr val="FF0000"/>
                </a:solidFill>
              </a:rPr>
              <a:t>hazardous</a:t>
            </a:r>
            <a:r>
              <a:rPr lang="en-US" dirty="0"/>
              <a:t> – require </a:t>
            </a:r>
            <a:r>
              <a:rPr lang="en-US" dirty="0">
                <a:solidFill>
                  <a:srgbClr val="FF0000"/>
                </a:solidFill>
              </a:rPr>
              <a:t>isolation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The conditioned signal is then transferred to the output stage (for indication, recording, logging etc.) which provides the value corresponding to the measurand.</a:t>
            </a:r>
          </a:p>
        </p:txBody>
      </p:sp>
    </p:spTree>
    <p:extLst>
      <p:ext uri="{BB962C8B-B14F-4D97-AF65-F5344CB8AC3E}">
        <p14:creationId xmlns:p14="http://schemas.microsoft.com/office/powerpoint/2010/main" val="1265051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342-7F02-1EBC-57C7-A0C101274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5CE280-19B3-6455-5EAC-D2710F1D6C80}"/>
              </a:ext>
            </a:extLst>
          </p:cNvPr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b="1" dirty="0"/>
              <a:t>Elements of Signal Conditioning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433F1-481E-316F-D48F-5A2CB36B576D}"/>
              </a:ext>
            </a:extLst>
          </p:cNvPr>
          <p:cNvSpPr txBox="1"/>
          <p:nvPr/>
        </p:nvSpPr>
        <p:spPr>
          <a:xfrm>
            <a:off x="320149" y="1291441"/>
            <a:ext cx="11551700" cy="2952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following are some of the processes that can occur in conditioning a signal:</a:t>
            </a:r>
          </a:p>
          <a:p>
            <a:pPr>
              <a:lnSpc>
                <a:spcPct val="150000"/>
              </a:lnSpc>
            </a:pPr>
            <a:r>
              <a:rPr lang="en-US" dirty="0"/>
              <a:t> </a:t>
            </a:r>
            <a:r>
              <a:rPr lang="en-US" dirty="0">
                <a:solidFill>
                  <a:srgbClr val="FF0000"/>
                </a:solidFill>
              </a:rPr>
              <a:t>Conversion</a:t>
            </a:r>
            <a:r>
              <a:rPr lang="en-US" dirty="0"/>
              <a:t> – getting the signal into the right type of signal</a:t>
            </a:r>
          </a:p>
          <a:p>
            <a:pPr>
              <a:lnSpc>
                <a:spcPct val="150000"/>
              </a:lnSpc>
            </a:pPr>
            <a:r>
              <a:rPr lang="en-US" dirty="0"/>
              <a:t> </a:t>
            </a:r>
            <a:r>
              <a:rPr lang="en-US" dirty="0">
                <a:solidFill>
                  <a:srgbClr val="FF0000"/>
                </a:solidFill>
              </a:rPr>
              <a:t>Change of signal level </a:t>
            </a:r>
            <a:r>
              <a:rPr lang="en-US" dirty="0"/>
              <a:t>– getting the level of the signal right</a:t>
            </a:r>
          </a:p>
          <a:p>
            <a:pPr>
              <a:lnSpc>
                <a:spcPct val="150000"/>
              </a:lnSpc>
            </a:pPr>
            <a:r>
              <a:rPr lang="en-US" dirty="0"/>
              <a:t> </a:t>
            </a:r>
            <a:r>
              <a:rPr lang="en-US" dirty="0">
                <a:solidFill>
                  <a:srgbClr val="FF0000"/>
                </a:solidFill>
              </a:rPr>
              <a:t>Eliminating or reducing noise </a:t>
            </a:r>
            <a:r>
              <a:rPr lang="en-US" dirty="0"/>
              <a:t>– increasing the signal-to-noise ratio (SNR)</a:t>
            </a:r>
          </a:p>
          <a:p>
            <a:pPr>
              <a:lnSpc>
                <a:spcPct val="150000"/>
              </a:lnSpc>
            </a:pPr>
            <a:r>
              <a:rPr lang="en-US" dirty="0"/>
              <a:t> </a:t>
            </a:r>
            <a:r>
              <a:rPr lang="en-US" dirty="0">
                <a:solidFill>
                  <a:srgbClr val="FF0000"/>
                </a:solidFill>
              </a:rPr>
              <a:t>Linearization</a:t>
            </a:r>
            <a:r>
              <a:rPr lang="en-US" dirty="0"/>
              <a:t> – making the output linear of the measurand</a:t>
            </a:r>
          </a:p>
          <a:p>
            <a:pPr>
              <a:lnSpc>
                <a:spcPct val="150000"/>
              </a:lnSpc>
            </a:pPr>
            <a:r>
              <a:rPr lang="en-US" dirty="0"/>
              <a:t> </a:t>
            </a:r>
            <a:r>
              <a:rPr lang="en-US" dirty="0">
                <a:solidFill>
                  <a:srgbClr val="FF0000"/>
                </a:solidFill>
              </a:rPr>
              <a:t>Impedance/load matching </a:t>
            </a:r>
            <a:r>
              <a:rPr lang="en-US" dirty="0"/>
              <a:t>– for proper power coupling</a:t>
            </a:r>
          </a:p>
          <a:p>
            <a:pPr>
              <a:lnSpc>
                <a:spcPct val="150000"/>
              </a:lnSpc>
            </a:pPr>
            <a:r>
              <a:rPr lang="en-US" dirty="0"/>
              <a:t> </a:t>
            </a:r>
            <a:r>
              <a:rPr lang="en-US" dirty="0">
                <a:solidFill>
                  <a:srgbClr val="FF0000"/>
                </a:solidFill>
              </a:rPr>
              <a:t>Protection </a:t>
            </a:r>
            <a:r>
              <a:rPr lang="en-US" dirty="0"/>
              <a:t>– to prevent damage to the next element/component</a:t>
            </a:r>
          </a:p>
        </p:txBody>
      </p:sp>
    </p:spTree>
    <p:extLst>
      <p:ext uri="{BB962C8B-B14F-4D97-AF65-F5344CB8AC3E}">
        <p14:creationId xmlns:p14="http://schemas.microsoft.com/office/powerpoint/2010/main" val="2291264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8B98C-CF72-D9A4-DD51-1C965FF5F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26679E-4277-1F4E-0454-AB06A098199C}"/>
              </a:ext>
            </a:extLst>
          </p:cNvPr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000" b="1" dirty="0"/>
              <a:t>Conversion – getting the signal into the right type of signal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C25C4B-DE4F-4ADA-C9CA-EAFE5C4712E4}"/>
              </a:ext>
            </a:extLst>
          </p:cNvPr>
          <p:cNvSpPr txBox="1"/>
          <p:nvPr/>
        </p:nvSpPr>
        <p:spPr>
          <a:xfrm>
            <a:off x="320149" y="1194774"/>
            <a:ext cx="1017368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dirty="0"/>
              <a:t>Analog to Digital and Digital to Analog Converters</a:t>
            </a:r>
          </a:p>
          <a:p>
            <a:endParaRPr lang="en-US" sz="1900" b="1" dirty="0"/>
          </a:p>
          <a:p>
            <a:pPr>
              <a:lnSpc>
                <a:spcPct val="150000"/>
              </a:lnSpc>
            </a:pPr>
            <a:r>
              <a:rPr lang="en-US" sz="1900" b="1" dirty="0"/>
              <a:t>Threshold Digitization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It is sufficient to use a threshold comparator which will then produce a digital output.</a:t>
            </a:r>
          </a:p>
          <a:p>
            <a:endParaRPr lang="en-US" sz="1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59030B-1D33-9463-107F-4F807BC79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98" y="3041433"/>
            <a:ext cx="5892739" cy="23125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BB9983-4C93-97F0-1425-C4F2618837FE}"/>
              </a:ext>
            </a:extLst>
          </p:cNvPr>
          <p:cNvSpPr txBox="1"/>
          <p:nvPr/>
        </p:nvSpPr>
        <p:spPr>
          <a:xfrm>
            <a:off x="5775850" y="2792803"/>
            <a:ext cx="609600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Output from magnetic pick-up circuit varies from 100 mV to 150 mV (for example).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threshold is set by the resistors to 0.13V.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output is zero until the voltage on the (+) input rises above the threshold.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When the input dips below 0.13V the output goes back to zero.</a:t>
            </a:r>
          </a:p>
          <a:p>
            <a:r>
              <a:rPr lang="en-US" dirty="0"/>
              <a:t>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4DBF12-0F47-8608-B5BE-5CB58D73FD54}"/>
              </a:ext>
            </a:extLst>
          </p:cNvPr>
          <p:cNvSpPr txBox="1"/>
          <p:nvPr/>
        </p:nvSpPr>
        <p:spPr>
          <a:xfrm>
            <a:off x="468085" y="5840182"/>
            <a:ext cx="11103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Now, each pulse represents a rotation of the rotor. Counting the pulses in a given time can give the speed of rotation of the rotor or other data (e.g. flow rate)</a:t>
            </a:r>
          </a:p>
        </p:txBody>
      </p:sp>
    </p:spTree>
    <p:extLst>
      <p:ext uri="{BB962C8B-B14F-4D97-AF65-F5344CB8AC3E}">
        <p14:creationId xmlns:p14="http://schemas.microsoft.com/office/powerpoint/2010/main" val="2330324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2F8A3-A645-1A1E-C933-0AADF9B6B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716712-9D16-0254-02FF-E8D38AA073ED}"/>
              </a:ext>
            </a:extLst>
          </p:cNvPr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000" b="1" dirty="0"/>
              <a:t>Analog to Digital Conversion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55DF4-25E4-CA21-467A-E191C9B0D46D}"/>
              </a:ext>
            </a:extLst>
          </p:cNvPr>
          <p:cNvSpPr txBox="1"/>
          <p:nvPr/>
        </p:nvSpPr>
        <p:spPr>
          <a:xfrm>
            <a:off x="320148" y="1382877"/>
            <a:ext cx="6407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Converts analog signals into binary numbers/words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E18DB7-E925-E123-9588-E1345C986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65" y="1971090"/>
            <a:ext cx="5418934" cy="39438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E93348-D732-6AE5-F26F-5C4A9AD8C459}"/>
              </a:ext>
            </a:extLst>
          </p:cNvPr>
          <p:cNvSpPr txBox="1"/>
          <p:nvPr/>
        </p:nvSpPr>
        <p:spPr>
          <a:xfrm>
            <a:off x="6803571" y="1382877"/>
            <a:ext cx="492034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/>
              <a:t>Why the conversion:</a:t>
            </a:r>
          </a:p>
          <a:p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0000"/>
                </a:solidFill>
              </a:rPr>
              <a:t>Processing by a computer </a:t>
            </a:r>
            <a:r>
              <a:rPr lang="en-US" sz="1900" dirty="0"/>
              <a:t>or by logic circuits, including </a:t>
            </a:r>
            <a:r>
              <a:rPr lang="en-US" sz="1900" dirty="0">
                <a:solidFill>
                  <a:srgbClr val="FF0000"/>
                </a:solidFill>
              </a:rPr>
              <a:t>arithmetic operations, comparison, sorting, ordering, and code conversion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0000"/>
                </a:solidFill>
              </a:rPr>
              <a:t>Storage</a:t>
            </a:r>
            <a:r>
              <a:rPr lang="en-US" sz="1900" dirty="0"/>
              <a:t> on electronic media until </a:t>
            </a:r>
            <a:r>
              <a:rPr lang="en-US" sz="1900" dirty="0">
                <a:solidFill>
                  <a:srgbClr val="FF0000"/>
                </a:solidFill>
              </a:rPr>
              <a:t>ready for further handling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9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0000"/>
                </a:solidFill>
              </a:rPr>
              <a:t>Display in numerical or graphical form </a:t>
            </a:r>
            <a:r>
              <a:rPr lang="en-US" sz="1900" dirty="0"/>
              <a:t>on a computer/other digital device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0000"/>
                </a:solidFill>
              </a:rPr>
              <a:t>Digital transmission </a:t>
            </a:r>
            <a:r>
              <a:rPr lang="en-US" sz="1900" dirty="0"/>
              <a:t>for </a:t>
            </a:r>
            <a:r>
              <a:rPr lang="en-US" sz="1900" dirty="0">
                <a:solidFill>
                  <a:srgbClr val="FF0000"/>
                </a:solidFill>
              </a:rPr>
              <a:t>less error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446732-0A99-22DB-727B-8FEC3B8D7499}"/>
              </a:ext>
            </a:extLst>
          </p:cNvPr>
          <p:cNvCxnSpPr/>
          <p:nvPr/>
        </p:nvCxnSpPr>
        <p:spPr>
          <a:xfrm>
            <a:off x="6727371" y="1382877"/>
            <a:ext cx="0" cy="472400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853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D5952-4364-33C6-F808-9B343D6ED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6C34DB-73EA-4307-3801-A3A6C09D696A}"/>
              </a:ext>
            </a:extLst>
          </p:cNvPr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000" b="1" dirty="0"/>
              <a:t>Analog to Digital Conversion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6CA60B-7CB7-7DA0-336F-CEE45BD02664}"/>
              </a:ext>
            </a:extLst>
          </p:cNvPr>
          <p:cNvSpPr txBox="1"/>
          <p:nvPr/>
        </p:nvSpPr>
        <p:spPr>
          <a:xfrm>
            <a:off x="320149" y="1361105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</a:rPr>
              <a:t>Where do we use an ADC?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791558-FC63-7F97-F345-3FE3771C8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85" y="2004490"/>
            <a:ext cx="11151244" cy="456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81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DC73C-2052-535D-3DC1-8CCE35E75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578F41-A997-F2D5-5ED0-C3CFB90162C3}"/>
              </a:ext>
            </a:extLst>
          </p:cNvPr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000" b="1" dirty="0"/>
              <a:t>Analog to Digital Conversion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B825F4-7590-C521-29F9-E5028502C957}"/>
              </a:ext>
            </a:extLst>
          </p:cNvPr>
          <p:cNvSpPr txBox="1"/>
          <p:nvPr/>
        </p:nvSpPr>
        <p:spPr>
          <a:xfrm>
            <a:off x="320149" y="1393762"/>
            <a:ext cx="60960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/>
              <a:t>Steps in A/D Conversion: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E99579-E06E-E11E-6422-82C678B53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141" y="1977471"/>
            <a:ext cx="7336230" cy="25150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78FD22-B5A3-AE41-10EF-6A1B80B4A826}"/>
              </a:ext>
            </a:extLst>
          </p:cNvPr>
          <p:cNvSpPr txBox="1"/>
          <p:nvPr/>
        </p:nvSpPr>
        <p:spPr>
          <a:xfrm>
            <a:off x="729342" y="4834822"/>
            <a:ext cx="7968343" cy="1795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/>
              <a:t>Analog signal:</a:t>
            </a:r>
            <a:r>
              <a:rPr lang="en-US" sz="1900" dirty="0"/>
              <a:t> continuous in time and magnitude</a:t>
            </a:r>
          </a:p>
          <a:p>
            <a:pPr>
              <a:lnSpc>
                <a:spcPct val="150000"/>
              </a:lnSpc>
            </a:pPr>
            <a:r>
              <a:rPr lang="en-US" sz="1900" b="1" dirty="0"/>
              <a:t>Sampled signal: </a:t>
            </a:r>
            <a:r>
              <a:rPr lang="en-US" sz="1900" dirty="0"/>
              <a:t>discrete in time but can be of any magnitude</a:t>
            </a:r>
          </a:p>
          <a:p>
            <a:pPr>
              <a:lnSpc>
                <a:spcPct val="150000"/>
              </a:lnSpc>
            </a:pPr>
            <a:r>
              <a:rPr lang="en-US" sz="1900" b="1" dirty="0"/>
              <a:t>Quantized signal: </a:t>
            </a:r>
            <a:r>
              <a:rPr lang="en-US" sz="1900" dirty="0"/>
              <a:t>discrete in magnitude</a:t>
            </a:r>
          </a:p>
          <a:p>
            <a:pPr>
              <a:lnSpc>
                <a:spcPct val="150000"/>
              </a:lnSpc>
            </a:pPr>
            <a:r>
              <a:rPr lang="en-US" sz="1900" b="1" dirty="0"/>
              <a:t>Digital signal: </a:t>
            </a:r>
            <a:r>
              <a:rPr lang="en-US" sz="1900" dirty="0"/>
              <a:t>coded quantized signal</a:t>
            </a:r>
          </a:p>
        </p:txBody>
      </p:sp>
    </p:spTree>
    <p:extLst>
      <p:ext uri="{BB962C8B-B14F-4D97-AF65-F5344CB8AC3E}">
        <p14:creationId xmlns:p14="http://schemas.microsoft.com/office/powerpoint/2010/main" val="1399403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8318E-08B2-8A5A-8B41-0C51C7F2D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BF0029-710A-3C7C-14D2-FA4B93EC6907}"/>
              </a:ext>
            </a:extLst>
          </p:cNvPr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000" b="1" dirty="0"/>
              <a:t>Analog to Digital Conversion : Sampling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C0134B-3CC1-6BA7-AC68-EB6476B4BB86}"/>
              </a:ext>
            </a:extLst>
          </p:cNvPr>
          <p:cNvSpPr txBox="1"/>
          <p:nvPr/>
        </p:nvSpPr>
        <p:spPr>
          <a:xfrm>
            <a:off x="320149" y="1345364"/>
            <a:ext cx="115517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dirty="0">
                <a:solidFill>
                  <a:srgbClr val="FF0000"/>
                </a:solidFill>
              </a:rPr>
              <a:t>Sampling</a:t>
            </a:r>
            <a:r>
              <a:rPr lang="en-US" sz="1950" dirty="0"/>
              <a:t> </a:t>
            </a:r>
            <a:r>
              <a:rPr lang="en-US" sz="1950" dirty="0">
                <a:solidFill>
                  <a:srgbClr val="FF0000"/>
                </a:solidFill>
              </a:rPr>
              <a:t>converts</a:t>
            </a:r>
            <a:r>
              <a:rPr lang="en-US" sz="1950" dirty="0"/>
              <a:t> </a:t>
            </a:r>
            <a:r>
              <a:rPr lang="en-US" sz="1950" dirty="0">
                <a:solidFill>
                  <a:srgbClr val="FF0000"/>
                </a:solidFill>
              </a:rPr>
              <a:t>analog signal </a:t>
            </a:r>
            <a:r>
              <a:rPr lang="en-US" sz="1950" dirty="0"/>
              <a:t>(continuous in time and magnitude) </a:t>
            </a:r>
            <a:r>
              <a:rPr lang="en-US" sz="1950" dirty="0">
                <a:solidFill>
                  <a:srgbClr val="FF0000"/>
                </a:solidFill>
              </a:rPr>
              <a:t>into discrete time signal </a:t>
            </a:r>
            <a:r>
              <a:rPr lang="en-US" sz="1950" dirty="0"/>
              <a:t>(discrete in time but can have any magnitude)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F92A83-5A9F-6D04-94AC-88AA80DCB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831" y="2222527"/>
            <a:ext cx="8942286" cy="31516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B4FBAC-EE76-A367-39FC-C9CA62E820F1}"/>
              </a:ext>
            </a:extLst>
          </p:cNvPr>
          <p:cNvSpPr txBox="1"/>
          <p:nvPr/>
        </p:nvSpPr>
        <p:spPr>
          <a:xfrm>
            <a:off x="511628" y="4496974"/>
            <a:ext cx="113602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intervals, </a:t>
            </a:r>
            <a:r>
              <a:rPr lang="en-US" dirty="0" err="1"/>
              <a:t>t</a:t>
            </a:r>
            <a:r>
              <a:rPr lang="en-US" baseline="-25000" dirty="0" err="1"/>
              <a:t>s</a:t>
            </a:r>
            <a:r>
              <a:rPr lang="en-US" baseline="-25000" dirty="0"/>
              <a:t> </a:t>
            </a:r>
            <a:r>
              <a:rPr lang="en-US" dirty="0"/>
              <a:t>, must be carefully chosen to ensure an accurate representation of the original analogue signal.</a:t>
            </a:r>
          </a:p>
        </p:txBody>
      </p:sp>
    </p:spTree>
    <p:extLst>
      <p:ext uri="{BB962C8B-B14F-4D97-AF65-F5344CB8AC3E}">
        <p14:creationId xmlns:p14="http://schemas.microsoft.com/office/powerpoint/2010/main" val="2816896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0B733-37D0-99A8-C951-B1994125C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DDB9D2-516F-248D-F71F-A46E38A7E175}"/>
              </a:ext>
            </a:extLst>
          </p:cNvPr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000" b="1" dirty="0"/>
              <a:t>Analog to Digital Conversion : Sampling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D7129-5728-3693-C90D-61D63804467B}"/>
              </a:ext>
            </a:extLst>
          </p:cNvPr>
          <p:cNvSpPr txBox="1"/>
          <p:nvPr/>
        </p:nvSpPr>
        <p:spPr>
          <a:xfrm>
            <a:off x="320149" y="1345364"/>
            <a:ext cx="11551700" cy="3393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dirty="0"/>
              <a:t>The problem of losing information in the sampling process, it is necessary to recall Shannon’s information theorem and Nyquist’s criteria.</a:t>
            </a:r>
          </a:p>
          <a:p>
            <a:endParaRPr lang="en-US" sz="1950" dirty="0"/>
          </a:p>
          <a:p>
            <a:r>
              <a:rPr lang="en-US" sz="1950" dirty="0"/>
              <a:t>Shannon’s information theorem states the following.</a:t>
            </a:r>
          </a:p>
          <a:p>
            <a:r>
              <a:rPr lang="en-US" sz="1950" dirty="0"/>
              <a:t>• An analogue signal with a bandwidth of f</a:t>
            </a:r>
            <a:r>
              <a:rPr lang="en-US" sz="1950" baseline="-25000" dirty="0"/>
              <a:t>a</a:t>
            </a:r>
            <a:r>
              <a:rPr lang="en-US" sz="1950" dirty="0"/>
              <a:t> must be sampled at a rate of f</a:t>
            </a:r>
            <a:r>
              <a:rPr lang="en-US" sz="1950" baseline="-25000" dirty="0"/>
              <a:t>s</a:t>
            </a:r>
            <a:r>
              <a:rPr lang="en-US" sz="1950" dirty="0"/>
              <a:t> &gt; 2f</a:t>
            </a:r>
            <a:r>
              <a:rPr lang="en-US" sz="1950" baseline="-25000" dirty="0"/>
              <a:t>a</a:t>
            </a:r>
          </a:p>
          <a:p>
            <a:endParaRPr lang="en-US" sz="1950" dirty="0"/>
          </a:p>
          <a:p>
            <a:r>
              <a:rPr lang="en-US" sz="1950" dirty="0"/>
              <a:t>To avoid loss of information.</a:t>
            </a:r>
          </a:p>
          <a:p>
            <a:r>
              <a:rPr lang="en-US" sz="1950" dirty="0"/>
              <a:t>• The signal bandwidth may extend from </a:t>
            </a:r>
            <a:r>
              <a:rPr lang="en-US" sz="1950" dirty="0" err="1"/>
              <a:t>d.c.</a:t>
            </a:r>
            <a:r>
              <a:rPr lang="en-US" sz="1950" dirty="0"/>
              <a:t> to f</a:t>
            </a:r>
            <a:r>
              <a:rPr lang="en-US" sz="1950" baseline="-25000" dirty="0"/>
              <a:t>a</a:t>
            </a:r>
            <a:r>
              <a:rPr lang="en-US" sz="1950" dirty="0"/>
              <a:t> or from f</a:t>
            </a:r>
            <a:r>
              <a:rPr lang="en-US" sz="1950" baseline="-25000" dirty="0"/>
              <a:t>1</a:t>
            </a:r>
            <a:r>
              <a:rPr lang="en-US" sz="1950" dirty="0"/>
              <a:t> to f</a:t>
            </a:r>
            <a:r>
              <a:rPr lang="en-US" sz="1950" baseline="-25000" dirty="0"/>
              <a:t>2</a:t>
            </a:r>
            <a:r>
              <a:rPr lang="en-US" sz="1950" dirty="0"/>
              <a:t>, where fa = f</a:t>
            </a:r>
            <a:r>
              <a:rPr lang="en-US" sz="1950" baseline="-25000" dirty="0"/>
              <a:t>2</a:t>
            </a:r>
            <a:r>
              <a:rPr lang="en-US" sz="1950" dirty="0"/>
              <a:t> − f</a:t>
            </a:r>
            <a:r>
              <a:rPr lang="en-US" sz="1950" baseline="-25000" dirty="0"/>
              <a:t>1</a:t>
            </a:r>
          </a:p>
          <a:p>
            <a:endParaRPr lang="en-US" sz="1950" dirty="0"/>
          </a:p>
          <a:p>
            <a:r>
              <a:rPr lang="en-US" sz="1950" dirty="0"/>
              <a:t>The Nyquist criterion is as follows.</a:t>
            </a:r>
          </a:p>
          <a:p>
            <a:r>
              <a:rPr lang="en-US" sz="1950" dirty="0"/>
              <a:t>• If f</a:t>
            </a:r>
            <a:r>
              <a:rPr lang="en-US" sz="1950" baseline="-25000" dirty="0"/>
              <a:t>s</a:t>
            </a:r>
            <a:r>
              <a:rPr lang="en-US" sz="1950" dirty="0"/>
              <a:t> &lt; 2f</a:t>
            </a:r>
            <a:r>
              <a:rPr lang="en-US" sz="1950" baseline="-25000" dirty="0"/>
              <a:t>a</a:t>
            </a:r>
            <a:r>
              <a:rPr lang="en-US" sz="1950" dirty="0"/>
              <a:t>, then a phenomenon called aliasing will occur.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99EC8-D24C-8461-211E-862D68E7ED27}"/>
              </a:ext>
            </a:extLst>
          </p:cNvPr>
          <p:cNvSpPr txBox="1"/>
          <p:nvPr/>
        </p:nvSpPr>
        <p:spPr>
          <a:xfrm>
            <a:off x="642257" y="5050971"/>
            <a:ext cx="112295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To avoid aliasing and loss of information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FF0000"/>
                </a:solidFill>
              </a:rPr>
              <a:t>sampling frequency must be at least twice </a:t>
            </a:r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highest frequency of the signal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9311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0026F-6AEE-BB97-95C0-5BC74E003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1EF4DA-C0FC-A664-A1BC-B3CF34932654}"/>
              </a:ext>
            </a:extLst>
          </p:cNvPr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000" b="1" dirty="0"/>
              <a:t>Analog to Digital Conversion : Sampling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6C1B37-E4B7-6798-9E93-03F3D5DDE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000" y="1362343"/>
            <a:ext cx="8280086" cy="2282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3C46F7-CD8E-80AB-6349-06F3DEA054D8}"/>
              </a:ext>
            </a:extLst>
          </p:cNvPr>
          <p:cNvSpPr txBox="1"/>
          <p:nvPr/>
        </p:nvSpPr>
        <p:spPr>
          <a:xfrm>
            <a:off x="631370" y="3950065"/>
            <a:ext cx="108857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signals in the above figure were sampled with the frequency f</a:t>
            </a:r>
            <a:r>
              <a:rPr lang="en-US" sz="2000" baseline="-25000" dirty="0"/>
              <a:t>s</a:t>
            </a:r>
            <a:r>
              <a:rPr lang="en-US" sz="2000" dirty="0"/>
              <a:t> &gt; 2w.</a:t>
            </a:r>
          </a:p>
        </p:txBody>
      </p:sp>
    </p:spTree>
    <p:extLst>
      <p:ext uri="{BB962C8B-B14F-4D97-AF65-F5344CB8AC3E}">
        <p14:creationId xmlns:p14="http://schemas.microsoft.com/office/powerpoint/2010/main" val="59519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7DD89-8B98-38E5-324A-2FE3EDA8A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F5D55F-AB47-EEFA-EB8B-CF3AC242D2C6}"/>
              </a:ext>
            </a:extLst>
          </p:cNvPr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000" b="1" dirty="0"/>
              <a:t>Analog to Digital Conversion : Sampling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EECB4-F663-9F23-7BCF-BCE166CEEF79}"/>
              </a:ext>
            </a:extLst>
          </p:cNvPr>
          <p:cNvSpPr txBox="1"/>
          <p:nvPr/>
        </p:nvSpPr>
        <p:spPr>
          <a:xfrm>
            <a:off x="320148" y="1356250"/>
            <a:ext cx="11551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Aliasing is the distortion caused when </a:t>
            </a:r>
            <a:r>
              <a:rPr lang="en-US" dirty="0">
                <a:solidFill>
                  <a:srgbClr val="FF0000"/>
                </a:solidFill>
              </a:rPr>
              <a:t>a signal is sampled below the Nyquist rate</a:t>
            </a:r>
            <a:r>
              <a:rPr lang="en-US" dirty="0"/>
              <a:t>, resulting </a:t>
            </a:r>
            <a:r>
              <a:rPr lang="en-US" dirty="0">
                <a:solidFill>
                  <a:srgbClr val="FF0000"/>
                </a:solidFill>
              </a:rPr>
              <a:t>in overlap of frequency components.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0214C-DEF8-E531-9D37-F1D78EC44680}"/>
              </a:ext>
            </a:extLst>
          </p:cNvPr>
          <p:cNvSpPr txBox="1"/>
          <p:nvPr/>
        </p:nvSpPr>
        <p:spPr>
          <a:xfrm>
            <a:off x="347988" y="2049056"/>
            <a:ext cx="11551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f</a:t>
            </a:r>
            <a:r>
              <a:rPr lang="en-US" baseline="-25000" dirty="0"/>
              <a:t>s</a:t>
            </a:r>
            <a:r>
              <a:rPr lang="en-US" dirty="0"/>
              <a:t> &lt; 2f</a:t>
            </a:r>
            <a:r>
              <a:rPr lang="en-US" baseline="-25000" dirty="0"/>
              <a:t>a</a:t>
            </a:r>
            <a:r>
              <a:rPr lang="en-US" dirty="0"/>
              <a:t>, the replicated signal bands interfere mutually and a distorted signals appear at the output. This effect is called aliasing.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F1C55D-726D-49D3-D2B3-9B7340F93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277" y="2441295"/>
            <a:ext cx="4821121" cy="17213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E351EB-318F-CEB9-EBFD-3D5488E26C11}"/>
                  </a:ext>
                </a:extLst>
              </p:cNvPr>
              <p:cNvSpPr txBox="1"/>
              <p:nvPr/>
            </p:nvSpPr>
            <p:spPr>
              <a:xfrm>
                <a:off x="478972" y="4231687"/>
                <a:ext cx="1139287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Anti-aliasing filter:  An anti-aliasing low-pass filter is used before sampling to limit the signal bandwidth to the Nyquist frequency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thus preventing aliasing.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E351EB-318F-CEB9-EBFD-3D5488E26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4231687"/>
                <a:ext cx="11392877" cy="646331"/>
              </a:xfrm>
              <a:prstGeom prst="rect">
                <a:avLst/>
              </a:prstGeom>
              <a:blipFill>
                <a:blip r:embed="rId4"/>
                <a:stretch>
                  <a:fillRect l="-482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D1233FD0-4643-A6BE-00D1-70B675A77A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1781" y="4878018"/>
            <a:ext cx="6007409" cy="18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2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ABCC0-C876-5439-AB11-A833697D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FC4A8A-FB4A-5903-B031-0BA2740F5EAC}"/>
              </a:ext>
            </a:extLst>
          </p:cNvPr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000" b="1" dirty="0"/>
              <a:t>Analog to Digital Conversion : Quantization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CDC69-9864-91F1-6611-47A9E1CDE835}"/>
              </a:ext>
            </a:extLst>
          </p:cNvPr>
          <p:cNvSpPr txBox="1"/>
          <p:nvPr/>
        </p:nvSpPr>
        <p:spPr>
          <a:xfrm>
            <a:off x="320148" y="1312706"/>
            <a:ext cx="1187185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/>
              <a:t>Quantization </a:t>
            </a:r>
            <a:r>
              <a:rPr lang="en-US" sz="1900" dirty="0">
                <a:solidFill>
                  <a:srgbClr val="FF0000"/>
                </a:solidFill>
              </a:rPr>
              <a:t>is breaking down the values of the sampled signal </a:t>
            </a:r>
            <a:r>
              <a:rPr lang="en-US" sz="1900" dirty="0"/>
              <a:t>into </a:t>
            </a:r>
            <a:r>
              <a:rPr lang="en-US" sz="1900" dirty="0">
                <a:solidFill>
                  <a:srgbClr val="FF0000"/>
                </a:solidFill>
              </a:rPr>
              <a:t>a set of finite number of quantized values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BC3D34-FF41-3B31-C9BC-5B37BFC69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414" y="1859186"/>
            <a:ext cx="4272493" cy="46189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A78B08-406D-EB7F-FBCF-DEE9328843F5}"/>
              </a:ext>
            </a:extLst>
          </p:cNvPr>
          <p:cNvSpPr txBox="1"/>
          <p:nvPr/>
        </p:nvSpPr>
        <p:spPr>
          <a:xfrm>
            <a:off x="276606" y="1927629"/>
            <a:ext cx="59173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Example:</a:t>
            </a:r>
          </a:p>
          <a:p>
            <a:r>
              <a:rPr lang="en-US" dirty="0"/>
              <a:t>We have 0-10V signals. Separate them into a set of discrete states with 1.25V increments. (How did we get 1.25V?)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3F80FB-70A8-3EA3-7CE0-CFB765F0BDE9}"/>
                  </a:ext>
                </a:extLst>
              </p:cNvPr>
              <p:cNvSpPr txBox="1"/>
              <p:nvPr/>
            </p:nvSpPr>
            <p:spPr>
              <a:xfrm>
                <a:off x="221246" y="3137418"/>
                <a:ext cx="5874754" cy="4216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Quantizer Output States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The number of output levels (states) in a quantizer is: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= number of bits in A/D converter </a:t>
                </a:r>
              </a:p>
              <a:p>
                <a:pPr>
                  <a:buNone/>
                </a:pPr>
                <a:r>
                  <a:rPr lang="en-US" b="1" dirty="0"/>
                  <a:t>Example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For a </a:t>
                </a:r>
                <a:r>
                  <a:rPr lang="en-US" b="1" dirty="0"/>
                  <a:t>3-bit ADC</a:t>
                </a:r>
                <a:r>
                  <a:rPr lang="en-US" dirty="0"/>
                  <a:t>: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So, there are </a:t>
                </a:r>
                <a:r>
                  <a:rPr lang="en-US" b="1" dirty="0"/>
                  <a:t>8 quantization levels</a:t>
                </a:r>
                <a:r>
                  <a:rPr lang="en-US" dirty="0"/>
                  <a:t> </a:t>
                </a:r>
                <a:r>
                  <a:rPr lang="en-US" b="1" dirty="0"/>
                  <a:t>Quantization Step Size (q)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It is the </a:t>
                </a:r>
                <a:r>
                  <a:rPr lang="en-US" b="1" dirty="0"/>
                  <a:t>difference between two adjacent levels</a:t>
                </a:r>
                <a:r>
                  <a:rPr lang="en-US" dirty="0"/>
                  <a:t>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br>
                  <a:rPr lang="ar-AE" dirty="0"/>
                </a:br>
                <a:endParaRPr lang="ar-AE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3F80FB-70A8-3EA3-7CE0-CFB765F0B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46" y="3137418"/>
                <a:ext cx="5874754" cy="4216282"/>
              </a:xfrm>
              <a:prstGeom prst="rect">
                <a:avLst/>
              </a:prstGeom>
              <a:blipFill>
                <a:blip r:embed="rId4"/>
                <a:stretch>
                  <a:fillRect l="-830" t="-724" r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DADCA80-89AD-2493-2A43-9EFA835B033F}"/>
                  </a:ext>
                </a:extLst>
              </p:cNvPr>
              <p:cNvSpPr txBox="1"/>
              <p:nvPr/>
            </p:nvSpPr>
            <p:spPr>
              <a:xfrm>
                <a:off x="3548744" y="6171731"/>
                <a:ext cx="6096000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DADCA80-89AD-2493-2A43-9EFA835B0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744" y="6171731"/>
                <a:ext cx="6096000" cy="612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479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C3FC-2C3A-8643-034D-5AFA2E61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415A2E-416B-7218-316A-59543850CB14}"/>
              </a:ext>
            </a:extLst>
          </p:cNvPr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000" b="1" dirty="0"/>
              <a:t>Analog to Digital Conversion : Encoding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26C9D6-1D9D-7E43-96F1-43CE14ACEA11}"/>
              </a:ext>
            </a:extLst>
          </p:cNvPr>
          <p:cNvSpPr txBox="1"/>
          <p:nvPr/>
        </p:nvSpPr>
        <p:spPr>
          <a:xfrm>
            <a:off x="320148" y="1396778"/>
            <a:ext cx="105764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/>
              <a:t>Encoding is </a:t>
            </a:r>
            <a:r>
              <a:rPr lang="en-US" i="1" dirty="0">
                <a:solidFill>
                  <a:srgbClr val="FF0000"/>
                </a:solidFill>
              </a:rPr>
              <a:t>the process of converting quantized values into binary </a:t>
            </a:r>
            <a:r>
              <a:rPr lang="en-US" i="1" dirty="0"/>
              <a:t>(digital) form.</a:t>
            </a:r>
          </a:p>
          <a:p>
            <a:pPr>
              <a:buNone/>
            </a:pPr>
            <a:endParaRPr lang="en-US" i="1" dirty="0"/>
          </a:p>
          <a:p>
            <a:pPr>
              <a:buNone/>
            </a:pPr>
            <a:r>
              <a:rPr lang="en-US" dirty="0"/>
              <a:t>A unique digital number/word is assigned to each of the quantized states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8B4266-E9DD-0122-735E-5A684E76F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022" y="2470862"/>
            <a:ext cx="4915153" cy="413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290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E816B-F21E-676D-1507-63AE2686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0CC67C-230F-8D91-87FB-72F2233F04D7}"/>
              </a:ext>
            </a:extLst>
          </p:cNvPr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000" b="1" dirty="0"/>
              <a:t>Analog to Digital Conversion : Transfer characteristics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6A67E6-5A80-AFD4-4268-4BF5E6174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365" y="1296685"/>
            <a:ext cx="8526863" cy="37027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56B021-6C0B-D5E1-2220-DAB1D35ECDB4}"/>
              </a:ext>
            </a:extLst>
          </p:cNvPr>
          <p:cNvSpPr txBox="1"/>
          <p:nvPr/>
        </p:nvSpPr>
        <p:spPr>
          <a:xfrm>
            <a:off x="430964" y="5101368"/>
            <a:ext cx="114408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From Fig (a) we can see that the quantization error is </a:t>
            </a:r>
            <a:r>
              <a:rPr lang="en-US" dirty="0">
                <a:solidFill>
                  <a:srgbClr val="FF0000"/>
                </a:solidFill>
              </a:rPr>
              <a:t>varying between 0 and q Value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Usually the characteristic of the quantization is shifted by the q/2 value thus </a:t>
            </a:r>
            <a:r>
              <a:rPr lang="en-US" dirty="0">
                <a:solidFill>
                  <a:srgbClr val="FF0000"/>
                </a:solidFill>
              </a:rPr>
              <a:t>the error of quantization is varying between –q/2 and +q/2</a:t>
            </a:r>
            <a:r>
              <a:rPr lang="en-US" dirty="0"/>
              <a:t> (Fig. b).</a:t>
            </a:r>
          </a:p>
        </p:txBody>
      </p:sp>
    </p:spTree>
    <p:extLst>
      <p:ext uri="{BB962C8B-B14F-4D97-AF65-F5344CB8AC3E}">
        <p14:creationId xmlns:p14="http://schemas.microsoft.com/office/powerpoint/2010/main" val="2809916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92B90-B2A4-513C-D04B-45EF4F103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EB34F0-2140-40A5-7C93-79748C89485F}"/>
              </a:ext>
            </a:extLst>
          </p:cNvPr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000" b="1" dirty="0"/>
              <a:t>Analog to Digital Conversion : Transfer characteristics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6FD667-11ED-DC28-67F8-BDD2529C4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48" y="1441830"/>
            <a:ext cx="11551701" cy="440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99970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FC5DD32A6FF4B95C9C6CEDB9E0A49" ma:contentTypeVersion="4" ma:contentTypeDescription="Create a new document." ma:contentTypeScope="" ma:versionID="d96ab2e30894948f2f16f464fafc1131">
  <xsd:schema xmlns:xsd="http://www.w3.org/2001/XMLSchema" xmlns:xs="http://www.w3.org/2001/XMLSchema" xmlns:p="http://schemas.microsoft.com/office/2006/metadata/properties" xmlns:ns3="0a944e8e-8b61-4f8d-a3d3-9a45e176b22f" targetNamespace="http://schemas.microsoft.com/office/2006/metadata/properties" ma:root="true" ma:fieldsID="70efe5433c0a8c5e2513c3d492cf7ec8" ns3:_="">
    <xsd:import namespace="0a944e8e-8b61-4f8d-a3d3-9a45e176b22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944e8e-8b61-4f8d-a3d3-9a45e176b22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1879A4-4A52-46C7-816D-B4AD6C1C2A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944e8e-8b61-4f8d-a3d3-9a45e176b2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228149-112C-4C57-8542-6BA70D65C362}">
  <ds:schemaRefs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0a944e8e-8b61-4f8d-a3d3-9a45e176b22f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48622CA-CD05-45A6-BD57-EFFA0FFB82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10235</TotalTime>
  <Words>1009</Words>
  <Application>Microsoft Office PowerPoint</Application>
  <PresentationFormat>Widescreen</PresentationFormat>
  <Paragraphs>125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Cambria Math</vt:lpstr>
      <vt:lpstr>Gill Sans MT</vt:lpstr>
      <vt:lpstr>Neue Haas Grotesk Text Pro</vt:lpstr>
      <vt:lpstr>Times New Roman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Mehedi Hasan Obhi</cp:lastModifiedBy>
  <cp:revision>17</cp:revision>
  <dcterms:created xsi:type="dcterms:W3CDTF">2026-01-09T15:02:13Z</dcterms:created>
  <dcterms:modified xsi:type="dcterms:W3CDTF">2026-08-14T21:14:35Z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