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Gill Sans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v+G86Fvf1PoOwDYA3dqfZbzQc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1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2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3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4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 txBox="1"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body" idx="1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body" idx="2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4"/>
          <p:cNvSpPr txBox="1"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>
            <a:spLocks noGrp="1"/>
          </p:cNvSpPr>
          <p:nvPr>
            <p:ph type="pic" idx="2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body" idx="1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5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5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 txBox="1">
            <a:spLocks noGrp="1"/>
          </p:cNvSpPr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6"/>
          <p:cNvSpPr txBox="1">
            <a:spLocks noGrp="1"/>
          </p:cNvSpPr>
          <p:nvPr>
            <p:ph type="body" idx="1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6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6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6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t="25348" r="9091"/>
          <a:stretch/>
        </p:blipFill>
        <p:spPr>
          <a:xfrm>
            <a:off x="20" y="-1"/>
            <a:ext cx="1219198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196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40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Instrumentation and Control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6500" b="1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CSE 325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Mehedi Hasan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Lecturer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Computer Science and Engineering(CSE)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Daffodil International University(DIU)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D816D0-F1EB-CB93-2F9D-4D552C2DB452}"/>
              </a:ext>
            </a:extLst>
          </p:cNvPr>
          <p:cNvSpPr txBox="1"/>
          <p:nvPr/>
        </p:nvSpPr>
        <p:spPr>
          <a:xfrm>
            <a:off x="5513733" y="1757618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What you cannot avoid, just welcome it</a:t>
            </a:r>
          </a:p>
          <a:p>
            <a:r>
              <a:rPr lang="en-US" sz="1800" b="1" dirty="0"/>
              <a:t>- Chinese Proverb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Measurement of Pressure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293088" y="1397675"/>
            <a:ext cx="11605824" cy="5663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Pressure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Pressure is 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 force per unit area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exerted by a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fluid (liquid or gas)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a surface (usually the walls of the container).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Pressure acts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perpendicular (normal)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surface.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Pressure is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a vector quantity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it is a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meaning it has magnitude only and no direction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Pressure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three commonly used types of pressure: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Absolute Pressure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Absolute pressure is the actual pressure measured relative to a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perfect vacuum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where pressure is zero.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Gauge Pressure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Gauge pressure is the difference between 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measured pressure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atmospheric (ambient) pressure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Differential Pressure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Differential pressure is the difference between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pressure points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where one point is taken as a reference. Even if both pressures change, the difference between them is what matters.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Electro-Mechanical Pressure Measurement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347210" y="1495255"/>
            <a:ext cx="64128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instruments use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mechanical and electrical methods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measure pressure.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Mechanical part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senses (detects) the pressure 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part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shows or records the pressure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Components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instruments need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main parts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Sensing Element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Transducer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Because of this combination, they are called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secondary transducers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A transducer is a device that converts energy from one form into another </a:t>
            </a:r>
            <a:endParaRPr sz="18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760029" y="1397675"/>
            <a:ext cx="5138883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Sensing Element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known as a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force-summing device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 job is to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 pressure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converts pressure into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mechanical movement (displacement)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simple terms: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Pressure → turns into movement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6760029" y="3566587"/>
            <a:ext cx="5442857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Transducer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receives 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movement from the sensing element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Converts that movement into an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signal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signal is then used for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measurement or display.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simple terms: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Movement → turns into electrical signal</a:t>
            </a:r>
            <a:endParaRPr/>
          </a:p>
        </p:txBody>
      </p:sp>
      <p:cxnSp>
        <p:nvCxnSpPr>
          <p:cNvPr id="121" name="Google Shape;121;p3"/>
          <p:cNvCxnSpPr/>
          <p:nvPr/>
        </p:nvCxnSpPr>
        <p:spPr>
          <a:xfrm>
            <a:off x="6662057" y="1397675"/>
            <a:ext cx="0" cy="4754235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Electro-Mechanical Pressure Measurement</a:t>
            </a:r>
            <a:endParaRPr/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250" y="1379193"/>
            <a:ext cx="5478811" cy="530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4801426" y="4531863"/>
            <a:ext cx="70974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Pressure → Mechanical Movement → Electrical Signal → Display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Electro-Mechanical Pressure Measurement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347211" y="1347711"/>
            <a:ext cx="7534046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Sensing element: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made of an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elastic material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must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operate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within its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elastic limit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stresses produced in the sensing element establishes equilibrium with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pressure to be measured by a displacement of the element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choice and design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type of sensing element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depends on the magnitude of pressure to be measured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846" y="3876188"/>
            <a:ext cx="6840439" cy="176471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7881257" y="1619222"/>
            <a:ext cx="6096000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Secondary Transducers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various types of transducers are used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 Resistive,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 Inductive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 Capacitive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 Piezoelectric</a:t>
            </a:r>
            <a:endParaRPr/>
          </a:p>
        </p:txBody>
      </p:sp>
      <p:cxnSp>
        <p:nvCxnSpPr>
          <p:cNvPr id="139" name="Google Shape;139;p5"/>
          <p:cNvCxnSpPr/>
          <p:nvPr/>
        </p:nvCxnSpPr>
        <p:spPr>
          <a:xfrm>
            <a:off x="7881257" y="1447800"/>
            <a:ext cx="0" cy="4193099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Resistive Pressure Transducer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347210" y="1414867"/>
            <a:ext cx="652167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Diaphragm-Strain Gauge pressure sensor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Sensing element: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diaphragm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Transducer: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strain gauge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attached to a diaphragm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Two strain gauges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attached on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opposite sides of a diaphragm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differential pressure measurement</a:t>
            </a:r>
            <a:endParaRPr/>
          </a:p>
        </p:txBody>
      </p:sp>
      <p:pic>
        <p:nvPicPr>
          <p:cNvPr id="147" name="Google Shape;14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5903" y="1414867"/>
            <a:ext cx="3553353" cy="195669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347209" y="4150471"/>
            <a:ext cx="7610248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process works step by step: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Differential Pressure → Diaphragm Deflection → Strain Difference → Electrical Output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pressure is applied, it causes 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diaphragm to bend (deflect)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bending creates a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difference in strain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two strain gauges </a:t>
            </a:r>
            <a:endParaRPr/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strain difference is converted into an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signal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347210" y="3613665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 Principle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Capacitive Pressure Transducers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347210" y="1397675"/>
            <a:ext cx="11376704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Highly accurate pressure sensors of today use capacitive detection technique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Diaphragm – Capacitive pressure sensor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Sensing element: diaphragm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Transducer: Capacitive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Pressure diaphragm movement change in distance between plates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 1: single capacitor design                                           Option 2: Differential capacitor design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264" y="3534009"/>
            <a:ext cx="2463927" cy="2978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244" y="3591161"/>
            <a:ext cx="2063856" cy="2863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Piezoelectric Pressure Transducers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347210" y="1445146"/>
            <a:ext cx="11551701" cy="2139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 primary pressure transducer; </a:t>
            </a:r>
            <a:r>
              <a:rPr lang="en-US" sz="1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force summing device </a:t>
            </a: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needed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Piezoelectric crystal (made from quartz): </a:t>
            </a:r>
            <a:r>
              <a:rPr lang="en-US" sz="1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converts mechanical stress applied to it into voltage.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Pressure</a:t>
            </a: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exerted on the crystal surface is </a:t>
            </a:r>
            <a:r>
              <a:rPr lang="en-US" sz="1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proportional</a:t>
            </a: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lang="en-US" sz="1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voltage produced by the crystal</a:t>
            </a: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No voltage supply is required. It produces voltage.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Suitable for fast-changing pressure measurement.</a:t>
            </a:r>
            <a:endParaRPr/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9963" y="3769251"/>
            <a:ext cx="6426530" cy="2609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Measurement of Flow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347211" y="1448191"/>
            <a:ext cx="115517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Ultrasonic Flowmeter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Various types of ultrasonic flowmeters are there for flow/discharge measurement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Most widely used type is the Transit Time type Transit time type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principle: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makes use of the difference in the time for an ultrasonic pulse to travel a fixed distance, first against the flow and then in the direction of flow.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propagation velocity of an acoustic wave and the flow velocity are summed vectorially.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two transmit times (t12 and t21) of acoustic pulses are given by:</a:t>
            </a:r>
            <a:endParaRPr/>
          </a:p>
        </p:txBody>
      </p:sp>
      <p:pic>
        <p:nvPicPr>
          <p:cNvPr id="174" name="Google Shape;17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211" y="4033514"/>
            <a:ext cx="2679018" cy="1564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7529" y="4156303"/>
            <a:ext cx="5311622" cy="1134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47529" y="5409808"/>
            <a:ext cx="6606075" cy="1134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Measurement of Flow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261257" y="1437305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mean axial fluid flow velocity can be found as:</a:t>
            </a:r>
            <a:endParaRPr/>
          </a:p>
        </p:txBody>
      </p:sp>
      <p:pic>
        <p:nvPicPr>
          <p:cNvPr id="184" name="Google Shape;18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8966" y="1983854"/>
            <a:ext cx="5708245" cy="104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/>
        </p:nvSpPr>
        <p:spPr>
          <a:xfrm>
            <a:off x="347210" y="2967335"/>
            <a:ext cx="7969475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Transmitter and receiver both are made of piezoelectric crystals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Axial metering:</a:t>
            </a:r>
            <a:endParaRPr/>
          </a:p>
        </p:txBody>
      </p:sp>
      <p:pic>
        <p:nvPicPr>
          <p:cNvPr id="186" name="Google Shape;18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0563" y="3768429"/>
            <a:ext cx="4483330" cy="1657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1415" y="5543104"/>
            <a:ext cx="5562886" cy="1028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Measurement of Liquid Levels</a:t>
            </a:r>
            <a:endParaRPr/>
          </a:p>
        </p:txBody>
      </p:sp>
      <p:sp>
        <p:nvSpPr>
          <p:cNvPr id="194" name="Google Shape;194;p11"/>
          <p:cNvSpPr txBox="1"/>
          <p:nvPr/>
        </p:nvSpPr>
        <p:spPr>
          <a:xfrm>
            <a:off x="320149" y="1393763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Time-of-Flight Method</a:t>
            </a:r>
            <a:endParaRPr/>
          </a:p>
        </p:txBody>
      </p:sp>
      <p:pic>
        <p:nvPicPr>
          <p:cNvPr id="195" name="Google Shape;19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149" y="1763095"/>
            <a:ext cx="3522508" cy="2638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6461" y="1845092"/>
            <a:ext cx="4651482" cy="163411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 txBox="1"/>
          <p:nvPr/>
        </p:nvSpPr>
        <p:spPr>
          <a:xfrm>
            <a:off x="4234543" y="3412635"/>
            <a:ext cx="784860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measuring system evaluates the time-of-flight t of the signal: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v is the propagation velocity of the waves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waves can be: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Ultrasonic: longitudinal acoustic waves; same/separate piezoelectric crystals can be used as emitter and receiver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 Electro-magnetic: could be microwave, laser; wave generation and detection are performed by separate modules.</a:t>
            </a:r>
            <a:endParaRPr/>
          </a:p>
        </p:txBody>
      </p:sp>
      <p:pic>
        <p:nvPicPr>
          <p:cNvPr id="198" name="Google Shape;19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7696" y="3806566"/>
            <a:ext cx="1310389" cy="621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Measurement of Liquid Levels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320149" y="1393763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Time-of-Flight Method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320149" y="1777418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ultrasonic method:</a:t>
            </a:r>
            <a:endParaRPr/>
          </a:p>
        </p:txBody>
      </p:sp>
      <p:pic>
        <p:nvPicPr>
          <p:cNvPr id="207" name="Google Shape;20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5433" y="1393763"/>
            <a:ext cx="4114046" cy="315646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2"/>
          <p:cNvSpPr txBox="1"/>
          <p:nvPr/>
        </p:nvSpPr>
        <p:spPr>
          <a:xfrm>
            <a:off x="320149" y="2413337"/>
            <a:ext cx="7724394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Transit time is a measure of distance between top liquid surface and the ultrasonic transducer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is the distance between top surface and transducer, H is fixed distance of transducer from the liquid bottom, h is the liquid height</a:t>
            </a:r>
            <a:endParaRPr/>
          </a:p>
        </p:txBody>
      </p:sp>
      <p:pic>
        <p:nvPicPr>
          <p:cNvPr id="209" name="Google Shape;20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80979" y="3139604"/>
            <a:ext cx="2431791" cy="522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F65C-032D-A994-D209-6CABA0EA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n-BD" dirty="0"/>
              <a:t>দুনিয়াতে মাত্র ১০ ধরণের মানুষ আছে; যারা বাইনারি বোঝে, আর যারা বোঝে না। আমরা হচ্ছি ইঞ্জিনিয়ার কি বুঝি, কি বুঝি না! এটাই বুঝিনা...</a:t>
            </a:r>
            <a:br>
              <a:rPr lang="en-US" dirty="0"/>
            </a:br>
            <a:br>
              <a:rPr lang="bn-BD" dirty="0"/>
            </a:br>
            <a:r>
              <a:rPr lang="bn-BD" dirty="0"/>
              <a:t>তাইতো কবিগুরু বলেছেন</a:t>
            </a:r>
            <a:br>
              <a:rPr lang="en-US" dirty="0"/>
            </a:br>
            <a:br>
              <a:rPr lang="en-US" dirty="0"/>
            </a:br>
            <a:br>
              <a:rPr lang="bn-BD" dirty="0"/>
            </a:br>
            <a:r>
              <a:rPr lang="bn-BD" b="1" u="none" strike="noStrike" dirty="0">
                <a:solidFill>
                  <a:srgbClr val="FF0000"/>
                </a:solidFill>
                <a:effectLst/>
                <a:latin typeface="Google Sans"/>
              </a:rPr>
              <a:t>জানার শেষ যে কোথায়, তা জানা নাই।</a:t>
            </a:r>
            <a:br>
              <a:rPr lang="en-US" b="1" u="none" strike="noStrike" dirty="0">
                <a:solidFill>
                  <a:srgbClr val="FF0000"/>
                </a:solidFill>
                <a:effectLst/>
                <a:latin typeface="Google Sans"/>
              </a:rPr>
            </a:br>
            <a:br>
              <a:rPr lang="en-US" b="1" u="none" strike="noStrike" dirty="0">
                <a:solidFill>
                  <a:srgbClr val="FF0000"/>
                </a:solidFill>
                <a:effectLst/>
                <a:latin typeface="Google Sans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E1D0C-C04E-E75D-E9A3-F7397ED6B2E1}"/>
              </a:ext>
            </a:extLst>
          </p:cNvPr>
          <p:cNvSpPr txBox="1"/>
          <p:nvPr/>
        </p:nvSpPr>
        <p:spPr>
          <a:xfrm>
            <a:off x="5593245" y="4630051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bn-BD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তোমারে যা দিয়েছিনু সে তোমারই দান</a:t>
            </a:r>
            <a:br>
              <a:rPr lang="bn-BD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n-BD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গ্রহণ করেছ যতো ঋণী ততো করেছ আমায়।</a:t>
            </a:r>
            <a:br>
              <a:rPr lang="bn-BD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n-BD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হে বন্ধু, বিদায়</a:t>
            </a:r>
            <a:r>
              <a:rPr lang="en-US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”-</a:t>
            </a:r>
            <a:r>
              <a:rPr lang="en-US" sz="3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কবিগুরু</a:t>
            </a:r>
            <a:endParaRPr lang="en-US" sz="3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833108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954</Words>
  <Application>Microsoft Office PowerPoint</Application>
  <PresentationFormat>Widescreen</PresentationFormat>
  <Paragraphs>145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Google Sans</vt:lpstr>
      <vt:lpstr>Arial</vt:lpstr>
      <vt:lpstr>Gill Sans</vt:lpstr>
      <vt:lpstr>VanillaVTI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দুনিয়াতে মাত্র ১০ ধরণের মানুষ আছে; যারা বাইনারি বোঝে, আর যারা বোঝে না। আমরা হচ্ছি ইঞ্জিনিয়ার কি বুঝি, কি বুঝি না! এটাই বুঝিনা...  তাইতো কবিগুরু বলেছেন   জানার শেষ যে কোথায়, তা জানা নাই।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</dc:creator>
  <cp:lastModifiedBy>Mehedi Hasan Obhi</cp:lastModifiedBy>
  <cp:revision>2</cp:revision>
  <dcterms:created xsi:type="dcterms:W3CDTF">2026-01-09T15:02:13Z</dcterms:created>
  <dcterms:modified xsi:type="dcterms:W3CDTF">2026-08-14T21:02:48Z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