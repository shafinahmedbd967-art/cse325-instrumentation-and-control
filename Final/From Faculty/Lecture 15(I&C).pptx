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6" r:id="rId13"/>
    <p:sldId id="277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embeddedFontLst>
    <p:embeddedFont>
      <p:font typeface="Gill Sans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gIBXGJ+j0677YDz1z7Kl9YQwfx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customschemas.google.com/relationships/presentationmetadata" Target="meta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0b2e07d3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3f0b2e07d3d_0_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3f0b2e07d3d_0_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0b2e07d3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3f0b2e07d3d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f0b2e07d3d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0b2e07d3d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3f0b2e07d3d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f0b2e07d3d_0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0b2e07d3d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3f0b2e07d3d_0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g3f0b2e07d3d_0_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body" idx="1"/>
          </p:nvPr>
        </p:nvSpPr>
        <p:spPr>
          <a:xfrm>
            <a:off x="612648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5"/>
          <p:cNvSpPr txBox="1"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cap="none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2"/>
          </p:nvPr>
        </p:nvSpPr>
        <p:spPr>
          <a:xfrm>
            <a:off x="609600" y="2386894"/>
            <a:ext cx="5157787" cy="37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3"/>
          </p:nvPr>
        </p:nvSpPr>
        <p:spPr>
          <a:xfrm>
            <a:off x="6172200" y="1685735"/>
            <a:ext cx="5183188" cy="559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cap="none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body" idx="4"/>
          </p:nvPr>
        </p:nvSpPr>
        <p:spPr>
          <a:xfrm>
            <a:off x="6172199" y="2386894"/>
            <a:ext cx="5183189" cy="3765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6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6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7"/>
          <p:cNvSpPr txBox="1"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body" idx="1"/>
          </p:nvPr>
        </p:nvSpPr>
        <p:spPr>
          <a:xfrm>
            <a:off x="5134708" y="553616"/>
            <a:ext cx="6279741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body" idx="2"/>
          </p:nvPr>
        </p:nvSpPr>
        <p:spPr>
          <a:xfrm>
            <a:off x="597160" y="2311121"/>
            <a:ext cx="3595634" cy="3728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8"/>
          <p:cNvSpPr txBox="1"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8"/>
          <p:cNvSpPr>
            <a:spLocks noGrp="1"/>
          </p:cNvSpPr>
          <p:nvPr>
            <p:ph type="pic" idx="2"/>
          </p:nvPr>
        </p:nvSpPr>
        <p:spPr>
          <a:xfrm>
            <a:off x="5063319" y="657103"/>
            <a:ext cx="6483687" cy="5555904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>
            <a:off x="609601" y="2826137"/>
            <a:ext cx="3585586" cy="343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9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9"/>
          <p:cNvSpPr txBox="1">
            <a:spLocks noGrp="1"/>
          </p:cNvSpPr>
          <p:nvPr>
            <p:ph type="body" idx="1"/>
          </p:nvPr>
        </p:nvSpPr>
        <p:spPr>
          <a:xfrm rot="5400000">
            <a:off x="3622415" y="-1328869"/>
            <a:ext cx="4496065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9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9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9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0"/>
          <p:cNvSpPr txBox="1">
            <a:spLocks noGrp="1"/>
          </p:cNvSpPr>
          <p:nvPr>
            <p:ph type="title"/>
          </p:nvPr>
        </p:nvSpPr>
        <p:spPr>
          <a:xfrm rot="5400000">
            <a:off x="7859174" y="2354212"/>
            <a:ext cx="5598466" cy="2047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0"/>
          <p:cNvSpPr txBox="1">
            <a:spLocks noGrp="1"/>
          </p:cNvSpPr>
          <p:nvPr>
            <p:ph type="body" idx="1"/>
          </p:nvPr>
        </p:nvSpPr>
        <p:spPr>
          <a:xfrm rot="5400000">
            <a:off x="2437312" y="-1020615"/>
            <a:ext cx="5598465" cy="879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30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0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0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 t="25348" r="9091"/>
          <a:stretch/>
        </p:blipFill>
        <p:spPr>
          <a:xfrm>
            <a:off x="20" y="-1"/>
            <a:ext cx="1219198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196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363537" y="1174860"/>
            <a:ext cx="4948692" cy="1281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400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Instrumentation and Control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6500" b="1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CSE 325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363537" y="3222171"/>
            <a:ext cx="6276749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Mehedi Hasan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Lecturer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Computer Science and Engineering(CSE)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Daffodil International University(DIU)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A34112-05F9-60A8-AE88-2B614F2B7BCE}"/>
              </a:ext>
            </a:extLst>
          </p:cNvPr>
          <p:cNvSpPr txBox="1"/>
          <p:nvPr/>
        </p:nvSpPr>
        <p:spPr>
          <a:xfrm>
            <a:off x="5305244" y="954962"/>
            <a:ext cx="684060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u="none" strike="noStrike" dirty="0">
                <a:effectLst/>
                <a:latin typeface="Google Sans"/>
              </a:rPr>
              <a:t>"Electronics is clearly the winner of the day."</a:t>
            </a:r>
            <a:r>
              <a:rPr lang="en-US" sz="2800" b="1" dirty="0"/>
              <a:t> — John Ford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Change of signal level – getting the level of the signal right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320149" y="1364121"/>
            <a:ext cx="93899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means adjusting the level (magnitude) and bias (zero value) of signal</a:t>
            </a:r>
            <a:endParaRPr/>
          </a:p>
        </p:txBody>
      </p:sp>
      <p:pic>
        <p:nvPicPr>
          <p:cNvPr id="112" name="Google Shape;11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79675" y="1902799"/>
            <a:ext cx="7980754" cy="315259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320148" y="5124548"/>
            <a:ext cx="1155170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signal might be just a few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milivolts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To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feed the signal into an A/D converter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inputting to a microprocessor, it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needs to be made much larger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 volts rather than milivolts.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Operational amplifier circuits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widely used for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amplification.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0b2e07d3d_0_46"/>
          <p:cNvSpPr/>
          <p:nvPr/>
        </p:nvSpPr>
        <p:spPr>
          <a:xfrm>
            <a:off x="320149" y="280374"/>
            <a:ext cx="11551800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>
                <a:solidFill>
                  <a:schemeClr val="dk1"/>
                </a:solidFill>
              </a:rPr>
              <a:t>Introduction </a:t>
            </a:r>
            <a:endParaRPr/>
          </a:p>
        </p:txBody>
      </p:sp>
      <p:sp>
        <p:nvSpPr>
          <p:cNvPr id="120" name="Google Shape;120;g3f0b2e07d3d_0_46"/>
          <p:cNvSpPr txBox="1"/>
          <p:nvPr/>
        </p:nvSpPr>
        <p:spPr>
          <a:xfrm>
            <a:off x="596900" y="1649250"/>
            <a:ext cx="109983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An amplifier is a device that amplifies a signal – almost always a voltage 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The low voltage output of a sensor, say of a thermocouple, may be amplified to a level required by a controller or a display.  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Amplification may be quite large – sometimes of the order of </a:t>
            </a:r>
            <a:r>
              <a:rPr lang="en-US" sz="1700">
                <a:solidFill>
                  <a:schemeClr val="dk1"/>
                </a:solidFill>
              </a:rPr>
              <a:t>10</a:t>
            </a:r>
            <a:r>
              <a:rPr lang="en-US" sz="1700" baseline="30000">
                <a:solidFill>
                  <a:schemeClr val="dk1"/>
                </a:solidFill>
              </a:rPr>
              <a:t>6</a:t>
            </a:r>
            <a:r>
              <a:rPr lang="en-US" sz="2100">
                <a:solidFill>
                  <a:schemeClr val="dk1"/>
                </a:solidFill>
              </a:rPr>
              <a:t> or it may be quite small or even smaller than one, depending on the need of the sensor.  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Amplifiers can also be used for impedance matching purposes even when no amplification is needed. 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Power amplifiers, which usually connect to actuators, provides the power necessary to drive them. 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Amplifiers are sometimes incorporated in the sensor. 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Amplifiers for Instrumentation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320149" y="1328448"/>
            <a:ext cx="10935680" cy="570438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613" t="-641" r="-27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Amplifiers for Instrumentation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320148" y="1466917"/>
            <a:ext cx="11551701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Almost always, operational amplifiers (Op-amp) are used for amplification, as they have almost all the desirable characteristics mentioned earlier.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Very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high gain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more than 10^6, ideally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infinite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Adjustable gain 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achieved by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external circuit element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High input impedance 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ideally infinite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and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low output impedance 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ideally zero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practical values 20-100 Ω)</a:t>
            </a:r>
            <a:endParaRPr dirty="0"/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97381" y="3221243"/>
            <a:ext cx="8322275" cy="2672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Circuit Configurations Using Op-Amps</a:t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320149" y="1469962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Non-Inverting Operational Amplifier (Op-Amp)</a:t>
            </a:r>
            <a:endParaRPr/>
          </a:p>
        </p:txBody>
      </p:sp>
      <p:pic>
        <p:nvPicPr>
          <p:cNvPr id="143" name="Google Shape;14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4563" y="2114481"/>
            <a:ext cx="4183380" cy="148271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 txBox="1"/>
          <p:nvPr/>
        </p:nvSpPr>
        <p:spPr>
          <a:xfrm>
            <a:off x="489857" y="3872385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Inverting Operational Amplifier (Op-Amp)</a:t>
            </a:r>
            <a:endParaRPr/>
          </a:p>
        </p:txBody>
      </p:sp>
      <p:pic>
        <p:nvPicPr>
          <p:cNvPr id="145" name="Google Shape;14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813" y="4516904"/>
            <a:ext cx="4091130" cy="14305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146;p5"/>
          <p:cNvCxnSpPr/>
          <p:nvPr/>
        </p:nvCxnSpPr>
        <p:spPr>
          <a:xfrm>
            <a:off x="6302829" y="1578429"/>
            <a:ext cx="0" cy="4626428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7" name="Google Shape;147;p5"/>
          <p:cNvSpPr txBox="1"/>
          <p:nvPr/>
        </p:nvSpPr>
        <p:spPr>
          <a:xfrm>
            <a:off x="6416149" y="1469961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Voltage Follower (Buffer Amplifier)</a:t>
            </a:r>
            <a:endParaRPr/>
          </a:p>
        </p:txBody>
      </p:sp>
      <p:pic>
        <p:nvPicPr>
          <p:cNvPr id="148" name="Google Shape;148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85857" y="2114480"/>
            <a:ext cx="4164764" cy="152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 txBox="1"/>
          <p:nvPr/>
        </p:nvSpPr>
        <p:spPr>
          <a:xfrm>
            <a:off x="6416149" y="3872385"/>
            <a:ext cx="62538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Voltage Comparator (Op-Amp Comparator)</a:t>
            </a:r>
            <a:endParaRPr/>
          </a:p>
        </p:txBody>
      </p:sp>
      <p:pic>
        <p:nvPicPr>
          <p:cNvPr id="150" name="Google Shape;150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86902" y="4516904"/>
            <a:ext cx="5441212" cy="1568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Circuit Configurations Using Op-Amps</a:t>
            </a:r>
            <a:endParaRPr/>
          </a:p>
        </p:txBody>
      </p:sp>
      <p:cxnSp>
        <p:nvCxnSpPr>
          <p:cNvPr id="157" name="Google Shape;157;p6"/>
          <p:cNvCxnSpPr/>
          <p:nvPr/>
        </p:nvCxnSpPr>
        <p:spPr>
          <a:xfrm>
            <a:off x="6302829" y="1578429"/>
            <a:ext cx="0" cy="4626428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58" name="Google Shape;158;p6"/>
          <p:cNvSpPr txBox="1"/>
          <p:nvPr/>
        </p:nvSpPr>
        <p:spPr>
          <a:xfrm>
            <a:off x="424543" y="1393763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Summing Amplifier</a:t>
            </a:r>
            <a:endParaRPr/>
          </a:p>
        </p:txBody>
      </p:sp>
      <p:pic>
        <p:nvPicPr>
          <p:cNvPr id="159" name="Google Shape;15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4542" y="1871856"/>
            <a:ext cx="5487479" cy="1448287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 txBox="1"/>
          <p:nvPr/>
        </p:nvSpPr>
        <p:spPr>
          <a:xfrm>
            <a:off x="524168" y="3845004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Differential Amplifier</a:t>
            </a:r>
            <a:endParaRPr/>
          </a:p>
        </p:txBody>
      </p:sp>
      <p:pic>
        <p:nvPicPr>
          <p:cNvPr id="161" name="Google Shape;16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7564" y="4788416"/>
            <a:ext cx="1935634" cy="842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4541" y="4251263"/>
            <a:ext cx="3147627" cy="191666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"/>
          <p:cNvSpPr txBox="1"/>
          <p:nvPr/>
        </p:nvSpPr>
        <p:spPr>
          <a:xfrm>
            <a:off x="6520543" y="1412489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Integrating Amplifier (Integrator)</a:t>
            </a:r>
            <a:endParaRPr/>
          </a:p>
        </p:txBody>
      </p:sp>
      <p:pic>
        <p:nvPicPr>
          <p:cNvPr id="164" name="Google Shape;164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06409" y="2026511"/>
            <a:ext cx="2738666" cy="184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5075" y="2792145"/>
            <a:ext cx="2979574" cy="63685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 txBox="1"/>
          <p:nvPr/>
        </p:nvSpPr>
        <p:spPr>
          <a:xfrm>
            <a:off x="6414408" y="3953861"/>
            <a:ext cx="63082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Differentiating Amplifier (Differentiator)</a:t>
            </a:r>
            <a:endParaRPr/>
          </a:p>
        </p:txBody>
      </p:sp>
      <p:pic>
        <p:nvPicPr>
          <p:cNvPr id="167" name="Google Shape;167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20168" y="4399971"/>
            <a:ext cx="2988958" cy="163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09125" y="5042265"/>
            <a:ext cx="2534907" cy="990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Circuit Configurations Using Op-Amps</a:t>
            </a:r>
            <a:endParaRPr/>
          </a:p>
        </p:txBody>
      </p:sp>
      <p:sp>
        <p:nvSpPr>
          <p:cNvPr id="175" name="Google Shape;175;p7"/>
          <p:cNvSpPr txBox="1"/>
          <p:nvPr/>
        </p:nvSpPr>
        <p:spPr>
          <a:xfrm>
            <a:off x="320149" y="1339840"/>
            <a:ext cx="115517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The difference in the emfs of the two junctions of the thermocouple is being amplified. A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temperature difference of 10 °C produces an emf difference of 530 μV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then the values of R1 and R2 can be chosen to give a circuit with an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output of 10 mV.</a:t>
            </a:r>
            <a:endParaRPr/>
          </a:p>
        </p:txBody>
      </p:sp>
      <p:pic>
        <p:nvPicPr>
          <p:cNvPr id="176" name="Google Shape;17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157" y="2692338"/>
            <a:ext cx="5437971" cy="3240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 txBox="1"/>
          <p:nvPr/>
        </p:nvSpPr>
        <p:spPr>
          <a:xfrm>
            <a:off x="7010400" y="3748252"/>
            <a:ext cx="3461658" cy="205107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409" r="-880" b="-386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178" name="Google Shape;178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44026" y="2692338"/>
            <a:ext cx="2696981" cy="1173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0b2e07d3d_0_18"/>
          <p:cNvSpPr/>
          <p:nvPr/>
        </p:nvSpPr>
        <p:spPr>
          <a:xfrm>
            <a:off x="320149" y="280374"/>
            <a:ext cx="11551800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 b="1">
                <a:solidFill>
                  <a:schemeClr val="lt1"/>
                </a:solidFill>
              </a:rPr>
              <a:t>I</a:t>
            </a:r>
            <a:r>
              <a:rPr lang="en-US" sz="3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nstrumentation Amplifier</a:t>
            </a:r>
            <a:endParaRPr/>
          </a:p>
        </p:txBody>
      </p:sp>
      <p:pic>
        <p:nvPicPr>
          <p:cNvPr id="185" name="Google Shape;185;g3f0b2e07d3d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325" y="1351750"/>
            <a:ext cx="8349825" cy="415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f0b2e07d3d_0_18"/>
          <p:cNvSpPr txBox="1"/>
          <p:nvPr/>
        </p:nvSpPr>
        <p:spPr>
          <a:xfrm>
            <a:off x="267950" y="1300200"/>
            <a:ext cx="4371600" cy="3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It is available in single IC and is designed to have: 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Very high input impedance (300 MΩ), very low output impedance 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High common-mode rejection ratio (more than 100 dB) 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High voltage gain 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7" name="Google Shape;187;g3f0b2e07d3d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2425" y="5460300"/>
            <a:ext cx="6389825" cy="100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0b2e07d3d_0_37"/>
          <p:cNvSpPr/>
          <p:nvPr/>
        </p:nvSpPr>
        <p:spPr>
          <a:xfrm>
            <a:off x="320149" y="280374"/>
            <a:ext cx="11551800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 b="1">
                <a:solidFill>
                  <a:schemeClr val="lt1"/>
                </a:solidFill>
              </a:rPr>
              <a:t>Math</a:t>
            </a:r>
            <a:endParaRPr/>
          </a:p>
        </p:txBody>
      </p:sp>
      <p:sp>
        <p:nvSpPr>
          <p:cNvPr id="194" name="Google Shape;194;g3f0b2e07d3d_0_37"/>
          <p:cNvSpPr txBox="1"/>
          <p:nvPr/>
        </p:nvSpPr>
        <p:spPr>
          <a:xfrm>
            <a:off x="267950" y="1300200"/>
            <a:ext cx="437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3f0b2e07d3d_0_37"/>
          <p:cNvSpPr txBox="1"/>
          <p:nvPr/>
        </p:nvSpPr>
        <p:spPr>
          <a:xfrm>
            <a:off x="853450" y="1900400"/>
            <a:ext cx="9248400" cy="4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</a:rPr>
              <a:t>Example &amp; Practice Problem :</a:t>
            </a:r>
            <a:r>
              <a:rPr lang="en-US" sz="2000" dirty="0">
                <a:solidFill>
                  <a:schemeClr val="dk1"/>
                </a:solidFill>
              </a:rPr>
              <a:t> 5.3, 5.5, 5.6, 5.7, 5.8.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</a:rPr>
              <a:t>Book: Fundamentals of Electrical circuits 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</a:rPr>
              <a:t>Charles </a:t>
            </a:r>
            <a:r>
              <a:rPr lang="en-US" sz="2000" dirty="0" err="1">
                <a:solidFill>
                  <a:schemeClr val="dk1"/>
                </a:solidFill>
              </a:rPr>
              <a:t>K.Alexander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</a:rPr>
              <a:t>Matthew N.O. Sadiku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</a:rPr>
              <a:t>Page: 182 to 190</a:t>
            </a:r>
            <a:endParaRPr sz="20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F1D23-FE7B-94E3-2A5D-4DA2B0270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C2CA23-012A-37AF-06E4-99455A525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42" y="1367087"/>
            <a:ext cx="11217612" cy="47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927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2C64B-E019-06FF-8D11-3876B450D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A572D8-CA81-9234-6268-5140BD267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68" y="1680898"/>
            <a:ext cx="10828958" cy="34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87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Operational Amplifier- Properties</a:t>
            </a:r>
            <a:endParaRPr/>
          </a:p>
        </p:txBody>
      </p:sp>
      <p:sp>
        <p:nvSpPr>
          <p:cNvPr id="202" name="Google Shape;202;p8"/>
          <p:cNvSpPr txBox="1"/>
          <p:nvPr/>
        </p:nvSpPr>
        <p:spPr>
          <a:xfrm>
            <a:off x="320149" y="1398457"/>
            <a:ext cx="115517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Differential voltage gain (A</a:t>
            </a:r>
            <a:r>
              <a:rPr lang="en-US" sz="2000" b="1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the amplification of the op-amp of the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difference between the two inputs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also called the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open loop gain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 a good amplifier 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should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be as high as possible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gains of 10^6 or higher are common.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ideal amplifier is said to have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infinite gain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Common-mode voltage gain (</a:t>
            </a: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000" b="1" baseline="-25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By virtue of differential nature of the amplifier, 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this gain should be zero</a:t>
            </a: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Practical amplifiers may have a small common mode gain because of the mismatch between the two channels but this should be small.</a:t>
            </a:r>
            <a:endParaRPr dirty="0"/>
          </a:p>
        </p:txBody>
      </p:sp>
      <p:pic>
        <p:nvPicPr>
          <p:cNvPr id="203" name="Google Shape;20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58407" y="4833794"/>
            <a:ext cx="4096279" cy="1568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Operational Amplifier- Properties</a:t>
            </a:r>
            <a:endParaRPr/>
          </a:p>
        </p:txBody>
      </p:sp>
      <p:sp>
        <p:nvSpPr>
          <p:cNvPr id="210" name="Google Shape;210;p9"/>
          <p:cNvSpPr txBox="1"/>
          <p:nvPr/>
        </p:nvSpPr>
        <p:spPr>
          <a:xfrm>
            <a:off x="320148" y="1421564"/>
            <a:ext cx="89871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CMRR (Common Mode Rejection Ratio (CMRR)) is the ratio between A</a:t>
            </a:r>
            <a:r>
              <a:rPr lang="en-US" sz="18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A</a:t>
            </a:r>
            <a:r>
              <a:rPr lang="en-US" sz="1800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  <p:pic>
        <p:nvPicPr>
          <p:cNvPr id="211" name="Google Shape;21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3716" y="2017686"/>
            <a:ext cx="2349084" cy="90408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9"/>
          <p:cNvSpPr txBox="1"/>
          <p:nvPr/>
        </p:nvSpPr>
        <p:spPr>
          <a:xfrm>
            <a:off x="424543" y="3429000"/>
            <a:ext cx="60960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can also be expressed in dB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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an ideal amplifier this is infinite.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good amplifier will have a CMRR that is very high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</a:pPr>
            <a:r>
              <a:rPr lang="en-US" sz="2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Eliminating or reducing noise – increasing the signal-to-noise ratio (SNR)</a:t>
            </a:r>
            <a:endParaRPr/>
          </a:p>
        </p:txBody>
      </p:sp>
      <p:sp>
        <p:nvSpPr>
          <p:cNvPr id="219" name="Google Shape;219;p10"/>
          <p:cNvSpPr txBox="1"/>
          <p:nvPr/>
        </p:nvSpPr>
        <p:spPr>
          <a:xfrm>
            <a:off x="320148" y="1301153"/>
            <a:ext cx="11551701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Noise may come from: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 Inherent noise (Internal to the sensor)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 Interference (external): main source of noise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Filter or compensation circuits might be used to eliminate or reduce noise from a signal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filters: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low-pass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high-pass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(c) Band-pass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(d) Band-stop (notch filters)</a:t>
            </a:r>
            <a:endParaRPr/>
          </a:p>
        </p:txBody>
      </p:sp>
      <p:pic>
        <p:nvPicPr>
          <p:cNvPr id="220" name="Google Shape;22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77282" y="2870813"/>
            <a:ext cx="5249747" cy="3736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"/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</a:pPr>
            <a:r>
              <a:rPr lang="en-US" sz="2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Noise : Introduction</a:t>
            </a:r>
            <a:endParaRPr/>
          </a:p>
        </p:txBody>
      </p:sp>
      <p:sp>
        <p:nvSpPr>
          <p:cNvPr id="227" name="Google Shape;227;p11"/>
          <p:cNvSpPr txBox="1"/>
          <p:nvPr/>
        </p:nvSpPr>
        <p:spPr>
          <a:xfrm>
            <a:off x="320148" y="1332637"/>
            <a:ext cx="11551701" cy="874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Noise is a variation in the measurement of a variable that does not reflect real changes in the variable.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Noise may come from different sources. Whatever the source,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noise distorts the original signal</a:t>
            </a:r>
            <a:endParaRPr/>
          </a:p>
        </p:txBody>
      </p:sp>
      <p:pic>
        <p:nvPicPr>
          <p:cNvPr id="228" name="Google Shape;22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0992" y="2455546"/>
            <a:ext cx="8227522" cy="3884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"/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</a:pPr>
            <a:r>
              <a:rPr lang="en-US" sz="2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Effects of Noise</a:t>
            </a:r>
            <a:endParaRPr/>
          </a:p>
        </p:txBody>
      </p:sp>
      <p:sp>
        <p:nvSpPr>
          <p:cNvPr id="235" name="Google Shape;235;p12"/>
          <p:cNvSpPr txBox="1"/>
          <p:nvPr/>
        </p:nvSpPr>
        <p:spPr>
          <a:xfrm>
            <a:off x="320149" y="1440321"/>
            <a:ext cx="11142508" cy="3783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Effects of Noise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Reduces precision, accuracy (sometimes) and resolution of the measurement.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Introduces errors in control systems: To a controller, fluctuation in the process variable caused by noise are indistinguishable from fluctuations caused by real variable. Noise in a process variable will be reflected in the output of the controller.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 and Sources of Noise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sources and many types of noise but it can be distinguished between two broad types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INTERNAL: Noise internal to a sensor/amplifier/circuit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EXTERNAL: Interference noise (external).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</a:pPr>
            <a:r>
              <a:rPr lang="en-US" sz="2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Internal Noise</a:t>
            </a:r>
            <a:endParaRPr/>
          </a:p>
        </p:txBody>
      </p:sp>
      <p:sp>
        <p:nvSpPr>
          <p:cNvPr id="242" name="Google Shape;242;p13"/>
          <p:cNvSpPr txBox="1"/>
          <p:nvPr/>
        </p:nvSpPr>
        <p:spPr>
          <a:xfrm>
            <a:off x="320149" y="1371324"/>
            <a:ext cx="11551700" cy="1844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Internal noise is generated due to many effects in the circuit elements. Some of them are avoidable, but some are intrinsic.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a) Thermal or Johnson noise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b) Shot noise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c) Pink noise</a:t>
            </a:r>
            <a:endParaRPr/>
          </a:p>
        </p:txBody>
      </p:sp>
      <p:pic>
        <p:nvPicPr>
          <p:cNvPr id="243" name="Google Shape;24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549" y="5280493"/>
            <a:ext cx="9173731" cy="134731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3"/>
          <p:cNvSpPr txBox="1"/>
          <p:nvPr/>
        </p:nvSpPr>
        <p:spPr>
          <a:xfrm>
            <a:off x="6695693" y="3286883"/>
            <a:ext cx="5011891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reduced by the decrease of R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by limiting of bandwidth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of course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by control of temperature.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Fairly constant over wide range of frequencies. So, it is called a </a:t>
            </a:r>
            <a:r>
              <a:rPr lang="en-US"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WHITE NOISE</a:t>
            </a:r>
            <a:endParaRPr/>
          </a:p>
        </p:txBody>
      </p:sp>
      <p:sp>
        <p:nvSpPr>
          <p:cNvPr id="245" name="Google Shape;245;p13"/>
          <p:cNvSpPr txBox="1"/>
          <p:nvPr/>
        </p:nvSpPr>
        <p:spPr>
          <a:xfrm>
            <a:off x="435429" y="3159078"/>
            <a:ext cx="6096000" cy="2121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Thermal or Johnson noise: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of the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basic sources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the noises is the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resistor R.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Causes: This is generated due to the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chaotic thermal movement of the charges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noise power density is given by: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0b2e07d3d_0_58"/>
          <p:cNvSpPr/>
          <p:nvPr/>
        </p:nvSpPr>
        <p:spPr>
          <a:xfrm>
            <a:off x="320149" y="280374"/>
            <a:ext cx="11551800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</a:pPr>
            <a:r>
              <a:rPr lang="en-US" sz="2500" b="1">
                <a:solidFill>
                  <a:schemeClr val="lt1"/>
                </a:solidFill>
              </a:rPr>
              <a:t>WHITE NOISE</a:t>
            </a:r>
            <a:endParaRPr/>
          </a:p>
        </p:txBody>
      </p:sp>
      <p:sp>
        <p:nvSpPr>
          <p:cNvPr id="252" name="Google Shape;252;g3f0b2e07d3d_0_58"/>
          <p:cNvSpPr txBox="1"/>
          <p:nvPr/>
        </p:nvSpPr>
        <p:spPr>
          <a:xfrm>
            <a:off x="320150" y="1465300"/>
            <a:ext cx="112431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A white noise is a random signal with constant power spectral density over the entire frequency range.</a:t>
            </a:r>
            <a:endParaRPr sz="2300"/>
          </a:p>
        </p:txBody>
      </p:sp>
      <p:pic>
        <p:nvPicPr>
          <p:cNvPr id="253" name="Google Shape;253;g3f0b2e07d3d_0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2975" y="2823675"/>
            <a:ext cx="8034050" cy="264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"/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</a:pPr>
            <a:r>
              <a:rPr lang="en-US" sz="2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Internal Noise</a:t>
            </a:r>
            <a:endParaRPr/>
          </a:p>
        </p:txBody>
      </p:sp>
      <p:sp>
        <p:nvSpPr>
          <p:cNvPr id="260" name="Google Shape;260;p14"/>
          <p:cNvSpPr txBox="1"/>
          <p:nvPr/>
        </p:nvSpPr>
        <p:spPr>
          <a:xfrm>
            <a:off x="320149" y="1295791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Shot noise:</a:t>
            </a:r>
            <a:endParaRPr/>
          </a:p>
        </p:txBody>
      </p:sp>
      <p:sp>
        <p:nvSpPr>
          <p:cNvPr id="261" name="Google Shape;261;p14"/>
          <p:cNvSpPr txBox="1"/>
          <p:nvPr/>
        </p:nvSpPr>
        <p:spPr>
          <a:xfrm>
            <a:off x="320149" y="1665123"/>
            <a:ext cx="115517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type of noise is produced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 electronic/photonic device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with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semiconductor junctions.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Causes: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Produced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semiconductors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when charges flows past the potential barrier by random collisions of electrons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atoms that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causes fluctuations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real signal current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62" name="Google Shape;262;p14"/>
          <p:cNvSpPr txBox="1"/>
          <p:nvPr/>
        </p:nvSpPr>
        <p:spPr>
          <a:xfrm>
            <a:off x="402771" y="2987702"/>
            <a:ext cx="11469077" cy="264373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425" t="-922" b="-253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"/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</a:pPr>
            <a:r>
              <a:rPr lang="en-US" sz="2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Internal Noise</a:t>
            </a:r>
            <a:endParaRPr/>
          </a:p>
        </p:txBody>
      </p:sp>
      <p:sp>
        <p:nvSpPr>
          <p:cNvPr id="269" name="Google Shape;269;p15"/>
          <p:cNvSpPr txBox="1"/>
          <p:nvPr/>
        </p:nvSpPr>
        <p:spPr>
          <a:xfrm>
            <a:off x="320149" y="1402140"/>
            <a:ext cx="11551800" cy="25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Pink noise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are 1/f type noises (sometimes called low frequency noise, flicker noise or excess noise), as they are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inversely proportional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frequency.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So, unlike white noise, this type of noise has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higher energy at low frequencies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 problem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the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sensors that operate at low frequencies.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many sources of these noises, most of them unknown.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"/>
          <p:cNvSpPr/>
          <p:nvPr/>
        </p:nvSpPr>
        <p:spPr>
          <a:xfrm>
            <a:off x="320149" y="280374"/>
            <a:ext cx="11551701" cy="9144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9414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</a:pPr>
            <a:r>
              <a:rPr lang="en-US" sz="25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Noise Evaluation</a:t>
            </a:r>
            <a:endParaRPr/>
          </a:p>
        </p:txBody>
      </p:sp>
      <p:sp>
        <p:nvSpPr>
          <p:cNvPr id="276" name="Google Shape;276;p16"/>
          <p:cNvSpPr txBox="1"/>
          <p:nvPr/>
        </p:nvSpPr>
        <p:spPr>
          <a:xfrm>
            <a:off x="320148" y="1299888"/>
            <a:ext cx="11551701" cy="54997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475" t="-554" b="-88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1136</Words>
  <Application>Microsoft Office PowerPoint</Application>
  <PresentationFormat>Widescreen</PresentationFormat>
  <Paragraphs>143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Gill Sans</vt:lpstr>
      <vt:lpstr>Google Sans</vt:lpstr>
      <vt:lpstr>Arial</vt:lpstr>
      <vt:lpstr>VanillaVTI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</dc:creator>
  <cp:lastModifiedBy>Mehedi Hasan Obhi</cp:lastModifiedBy>
  <cp:revision>4</cp:revision>
  <dcterms:created xsi:type="dcterms:W3CDTF">2026-01-09T15:02:13Z</dcterms:created>
  <dcterms:modified xsi:type="dcterms:W3CDTF">2026-07-31T14:40:58Z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0x010100AF5FC5DD32A6FF4B95C9C6CEDB9E0A49</vt:lpwstr>
  </property>
</Properties>
</file>